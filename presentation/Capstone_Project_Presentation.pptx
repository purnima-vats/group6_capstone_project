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ial Bold" charset="1" panose="020B0704020202020204"/>
      <p:regular r:id="rId24"/>
    </p:embeddedFont>
    <p:embeddedFont>
      <p:font typeface="Arial" charset="1" panose="020B0604020202020204"/>
      <p:regular r:id="rId25"/>
    </p:embeddedFont>
    <p:embeddedFont>
      <p:font typeface="Arial Italics" charset="1" panose="020B0604020202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https://canva.link/j1m0vdglw23sasg" TargetMode="External" Type="http://schemas.openxmlformats.org/officeDocument/2006/relationships/hyperlink"/><Relationship Id="rId2" Target="../media/image3.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https://canva.link/j1m0vdglw23sasg" TargetMode="External" Type="http://schemas.openxmlformats.org/officeDocument/2006/relationships/hyperlink"/><Relationship Id="rId6" Target="../media/image11.jpeg" Type="http://schemas.openxmlformats.org/officeDocument/2006/relationships/image"/><Relationship Id="rId7" Target="https://canva.link/j1m0vdglw23sasg" TargetMode="External" Type="http://schemas.openxmlformats.org/officeDocument/2006/relationships/hyperlink"/><Relationship Id="rId8" Target="https://canva.link/j1m0vdglw23sasg" TargetMode="External" Type="http://schemas.openxmlformats.org/officeDocument/2006/relationships/hyperlink"/><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canva.link/j1m0vdglw23sasg" TargetMode="External" Type="http://schemas.openxmlformats.org/officeDocument/2006/relationships/hyperlink"/><Relationship Id="rId4" Target="../media/image11.jpeg" Type="http://schemas.openxmlformats.org/officeDocument/2006/relationships/image"/><Relationship Id="rId5" Target="https://canva.link/j1m0vdglw23sasg" TargetMode="External" Type="http://schemas.openxmlformats.org/officeDocument/2006/relationships/hyperlink"/><Relationship Id="rId6" Target="https://canva.link/j1m0vdglw23sasg" TargetMode="External" Type="http://schemas.openxmlformats.org/officeDocument/2006/relationships/hyperlink"/><Relationship Id="rId7" Target="../media/image7.png" Type="http://schemas.openxmlformats.org/officeDocument/2006/relationships/image"/><Relationship Id="rId8" Target="../media/image8.svg" Type="http://schemas.openxmlformats.org/officeDocument/2006/relationships/image"/><Relationship Id="rId9" Target="https://canva.link/j1m0vdglw23sas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canva.link/j1m0vdglw23sasg" TargetMode="External" Type="http://schemas.openxmlformats.org/officeDocument/2006/relationships/hyperlink"/><Relationship Id="rId4" Target="../media/image11.jpeg" Type="http://schemas.openxmlformats.org/officeDocument/2006/relationships/image"/><Relationship Id="rId5" Target="https://canva.link/j1m0vdglw23sasg" TargetMode="External" Type="http://schemas.openxmlformats.org/officeDocument/2006/relationships/hyperlink"/><Relationship Id="rId6" Target="https://canva.link/j1m0vdglw23sasg" TargetMode="External" Type="http://schemas.openxmlformats.org/officeDocument/2006/relationships/hyperlink"/><Relationship Id="rId7" Target="../media/image7.png" Type="http://schemas.openxmlformats.org/officeDocument/2006/relationships/image"/><Relationship Id="rId8" Target="../media/image8.svg" Type="http://schemas.openxmlformats.org/officeDocument/2006/relationships/image"/><Relationship Id="rId9" Target="https://canva.link/j1m0vdglw23sasg"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https://canva.link/j1m0vdglw23sasg" TargetMode="External" Type="http://schemas.openxmlformats.org/officeDocument/2006/relationships/hyperlink"/><Relationship Id="rId2" Target="../media/image13.jpeg" Type="http://schemas.openxmlformats.org/officeDocument/2006/relationships/image"/><Relationship Id="rId3" Target="../media/image3.jpeg" Type="http://schemas.openxmlformats.org/officeDocument/2006/relationships/image"/><Relationship Id="rId4" Target="https://github.com/Purnima-Vats/Group6_Capstone_Project" TargetMode="External" Type="http://schemas.openxmlformats.org/officeDocument/2006/relationships/hyperlink"/><Relationship Id="rId5" Target="https://canva.link/j1m0vdglw23sasg" TargetMode="External" Type="http://schemas.openxmlformats.org/officeDocument/2006/relationships/hyperlink"/><Relationship Id="rId6" Target="../media/image11.jpeg" Type="http://schemas.openxmlformats.org/officeDocument/2006/relationships/image"/><Relationship Id="rId7" Target="https://canva.link/j1m0vdglw23sasg" TargetMode="External" Type="http://schemas.openxmlformats.org/officeDocument/2006/relationships/hyperlink"/><Relationship Id="rId8" Target="https://canva.link/j1m0vdglw23sasg" TargetMode="External" Type="http://schemas.openxmlformats.org/officeDocument/2006/relationships/hyperlink"/><Relationship Id="rId9"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https://canva.link/j1m0vdglw23sasg" TargetMode="External" Type="http://schemas.openxmlformats.org/officeDocument/2006/relationships/hyperlink"/><Relationship Id="rId2" Target="../media/image3.jpeg" Type="http://schemas.openxmlformats.org/officeDocument/2006/relationships/image"/><Relationship Id="rId3" Target="../media/image14.png" Type="http://schemas.openxmlformats.org/officeDocument/2006/relationships/image"/><Relationship Id="rId4" Target="https://canva.link/j1m0vdglw23sasg" TargetMode="External" Type="http://schemas.openxmlformats.org/officeDocument/2006/relationships/hyperlink"/><Relationship Id="rId5" Target="../media/image11.jpeg" Type="http://schemas.openxmlformats.org/officeDocument/2006/relationships/image"/><Relationship Id="rId6" Target="https://canva.link/j1m0vdglw23sasg" TargetMode="External" Type="http://schemas.openxmlformats.org/officeDocument/2006/relationships/hyperlink"/><Relationship Id="rId7" Target="https://canva.link/j1m0vdglw23sasg" TargetMode="External" Type="http://schemas.openxmlformats.org/officeDocument/2006/relationships/hyperlink"/><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6.png" Type="http://schemas.openxmlformats.org/officeDocument/2006/relationships/image"/><Relationship Id="rId4"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canva.link/j1m0vdglw23sasg" TargetMode="External" Type="http://schemas.openxmlformats.org/officeDocument/2006/relationships/hyperlink"/><Relationship Id="rId4" Target="../media/image11.jpeg" Type="http://schemas.openxmlformats.org/officeDocument/2006/relationships/image"/><Relationship Id="rId5" Target="https://canva.link/j1m0vdglw23sasg" TargetMode="External" Type="http://schemas.openxmlformats.org/officeDocument/2006/relationships/hyperlink"/><Relationship Id="rId6" Target="https://canva.link/j1m0vdglw23sasg" TargetMode="External" Type="http://schemas.openxmlformats.org/officeDocument/2006/relationships/hyperlink"/><Relationship Id="rId7" Target="../media/image7.png" Type="http://schemas.openxmlformats.org/officeDocument/2006/relationships/image"/><Relationship Id="rId8" Target="../media/image8.svg" Type="http://schemas.openxmlformats.org/officeDocument/2006/relationships/image"/><Relationship Id="rId9" Target="https://canva.link/j1m0vdglw23sasg"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canva.link/j1m0vdglw23sasg" TargetMode="External" Type="http://schemas.openxmlformats.org/officeDocument/2006/relationships/hyperlink"/><Relationship Id="rId4" Target="../media/image11.jpeg" Type="http://schemas.openxmlformats.org/officeDocument/2006/relationships/image"/><Relationship Id="rId5" Target="https://canva.link/j1m0vdglw23sasg" TargetMode="External" Type="http://schemas.openxmlformats.org/officeDocument/2006/relationships/hyperlink"/><Relationship Id="rId6" Target="https://canva.link/j1m0vdglw23sasg" TargetMode="External" Type="http://schemas.openxmlformats.org/officeDocument/2006/relationships/hyperlink"/><Relationship Id="rId7" Target="../media/image7.png" Type="http://schemas.openxmlformats.org/officeDocument/2006/relationships/image"/><Relationship Id="rId8" Target="../media/image8.svg" Type="http://schemas.openxmlformats.org/officeDocument/2006/relationships/image"/><Relationship Id="rId9" Target="https://canva.link/j1m0vdglw23sasg"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canva.link/j1m0vdglw23sasg" TargetMode="External" Type="http://schemas.openxmlformats.org/officeDocument/2006/relationships/hyperlink"/><Relationship Id="rId4" Target="../media/image11.jpeg" Type="http://schemas.openxmlformats.org/officeDocument/2006/relationships/image"/><Relationship Id="rId5" Target="https://canva.link/j1m0vdglw23sasg" TargetMode="External" Type="http://schemas.openxmlformats.org/officeDocument/2006/relationships/hyperlink"/><Relationship Id="rId6" Target="https://canva.link/j1m0vdglw23sasg" TargetMode="External" Type="http://schemas.openxmlformats.org/officeDocument/2006/relationships/hyperlink"/><Relationship Id="rId7" Target="../media/image7.png" Type="http://schemas.openxmlformats.org/officeDocument/2006/relationships/image"/><Relationship Id="rId8" Target="../media/image8.svg" Type="http://schemas.openxmlformats.org/officeDocument/2006/relationships/image"/><Relationship Id="rId9" Target="https://canva.link/j1m0vdglw23sasg"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https://canva.link/j1m0vdglw23sasg" TargetMode="External" Type="http://schemas.openxmlformats.org/officeDocument/2006/relationships/hyperlink"/><Relationship Id="rId12" Target="../media/image20.png" Type="http://schemas.openxmlformats.org/officeDocument/2006/relationships/image"/><Relationship Id="rId13" Target="../media/image21.png" Type="http://schemas.openxmlformats.org/officeDocument/2006/relationships/image"/><Relationship Id="rId14" Target="https://student-course-completion-dashboard.streamlit.app" TargetMode="External" Type="http://schemas.openxmlformats.org/officeDocument/2006/relationships/hyperlink"/><Relationship Id="rId2" Target="../media/image13.jpeg" Type="http://schemas.openxmlformats.org/officeDocument/2006/relationships/image"/><Relationship Id="rId3" Target="../media/image3.jpeg" Type="http://schemas.openxmlformats.org/officeDocument/2006/relationships/image"/><Relationship Id="rId4" Target="https://github.com/Purnima-Vats/Group6_Capstone_Project" TargetMode="External" Type="http://schemas.openxmlformats.org/officeDocument/2006/relationships/hyperlink"/><Relationship Id="rId5" Target="https://canva.link/j1m0vdglw23sasg" TargetMode="External" Type="http://schemas.openxmlformats.org/officeDocument/2006/relationships/hyperlink"/><Relationship Id="rId6" Target="../media/image11.jpeg" Type="http://schemas.openxmlformats.org/officeDocument/2006/relationships/image"/><Relationship Id="rId7" Target="https://canva.link/j1m0vdglw23sasg" TargetMode="External" Type="http://schemas.openxmlformats.org/officeDocument/2006/relationships/hyperlink"/><Relationship Id="rId8" Target="https://canva.link/j1m0vdglw23sasg" TargetMode="External" Type="http://schemas.openxmlformats.org/officeDocument/2006/relationships/hyperlink"/><Relationship Id="rId9"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https://github.com/Purnima-Vats/Group6_Capstone_Project" TargetMode="External" Type="http://schemas.openxmlformats.org/officeDocument/2006/relationships/hyperlink"/><Relationship Id="rId11" Target="../media/image5.png" Type="http://schemas.openxmlformats.org/officeDocument/2006/relationships/image"/><Relationship Id="rId12" Target="../media/image6.svg" Type="http://schemas.openxmlformats.org/officeDocument/2006/relationships/image"/><Relationship Id="rId2" Target="../media/image22.jpeg" Type="http://schemas.openxmlformats.org/officeDocument/2006/relationships/image"/><Relationship Id="rId3" Target="../media/image12.jpeg" Type="http://schemas.openxmlformats.org/officeDocument/2006/relationships/image"/><Relationship Id="rId4" Target="../media/image23.jpeg" Type="http://schemas.openxmlformats.org/officeDocument/2006/relationships/image"/><Relationship Id="rId5" Target="../media/image3.jpe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806940" y="-2057400"/>
            <a:ext cx="11247120" cy="12344400"/>
            <a:chOff x="0" y="0"/>
            <a:chExt cx="14996160" cy="16459200"/>
          </a:xfrm>
        </p:grpSpPr>
        <p:sp>
          <p:nvSpPr>
            <p:cNvPr name="Freeform 4" id="4" descr="logo/watermark.png"/>
            <p:cNvSpPr/>
            <p:nvPr/>
          </p:nvSpPr>
          <p:spPr>
            <a:xfrm flipH="false" flipV="false" rot="0">
              <a:off x="0" y="0"/>
              <a:ext cx="14996161" cy="16459200"/>
            </a:xfrm>
            <a:custGeom>
              <a:avLst/>
              <a:gdLst/>
              <a:ahLst/>
              <a:cxnLst/>
              <a:rect r="r" b="b" t="t" l="l"/>
              <a:pathLst>
                <a:path h="16459200" w="14996161">
                  <a:moveTo>
                    <a:pt x="0" y="0"/>
                  </a:moveTo>
                  <a:lnTo>
                    <a:pt x="14996161" y="0"/>
                  </a:lnTo>
                  <a:lnTo>
                    <a:pt x="14996161" y="16459200"/>
                  </a:lnTo>
                  <a:lnTo>
                    <a:pt x="0" y="16459200"/>
                  </a:lnTo>
                  <a:lnTo>
                    <a:pt x="0" y="0"/>
                  </a:lnTo>
                  <a:close/>
                </a:path>
              </a:pathLst>
            </a:custGeom>
            <a:blipFill>
              <a:blip r:embed="rId3">
                <a:alphaModFix amt="28000"/>
              </a:blip>
              <a:stretch>
                <a:fillRect l="-2" t="0" r="-2" b="0"/>
              </a:stretch>
            </a:blipFill>
          </p:spPr>
        </p:sp>
      </p:grpSp>
      <p:grpSp>
        <p:nvGrpSpPr>
          <p:cNvPr name="Group 5" id="5"/>
          <p:cNvGrpSpPr/>
          <p:nvPr/>
        </p:nvGrpSpPr>
        <p:grpSpPr>
          <a:xfrm rot="0">
            <a:off x="987552" y="2743200"/>
            <a:ext cx="13167360" cy="2606040"/>
            <a:chOff x="0" y="0"/>
            <a:chExt cx="17556480" cy="3474720"/>
          </a:xfrm>
        </p:grpSpPr>
        <p:sp>
          <p:nvSpPr>
            <p:cNvPr name="Freeform 6" id="6"/>
            <p:cNvSpPr/>
            <p:nvPr/>
          </p:nvSpPr>
          <p:spPr>
            <a:xfrm flipH="false" flipV="false" rot="0">
              <a:off x="0" y="0"/>
              <a:ext cx="17556480" cy="3474720"/>
            </a:xfrm>
            <a:custGeom>
              <a:avLst/>
              <a:gdLst/>
              <a:ahLst/>
              <a:cxnLst/>
              <a:rect r="r" b="b" t="t" l="l"/>
              <a:pathLst>
                <a:path h="3474720" w="17556480">
                  <a:moveTo>
                    <a:pt x="0" y="0"/>
                  </a:moveTo>
                  <a:lnTo>
                    <a:pt x="17556480" y="0"/>
                  </a:lnTo>
                  <a:lnTo>
                    <a:pt x="17556480" y="3474720"/>
                  </a:lnTo>
                  <a:lnTo>
                    <a:pt x="0" y="3474720"/>
                  </a:lnTo>
                  <a:close/>
                </a:path>
              </a:pathLst>
            </a:custGeom>
            <a:blipFill>
              <a:blip r:embed="rId4">
                <a:alphaModFix amt="0"/>
              </a:blip>
              <a:stretch>
                <a:fillRect l="0" t="-48450" r="0" b="-48450"/>
              </a:stretch>
            </a:blipFill>
          </p:spPr>
        </p:sp>
        <p:sp>
          <p:nvSpPr>
            <p:cNvPr name="TextBox 7" id="7"/>
            <p:cNvSpPr txBox="true"/>
            <p:nvPr/>
          </p:nvSpPr>
          <p:spPr>
            <a:xfrm>
              <a:off x="0" y="38100"/>
              <a:ext cx="17556480" cy="3436620"/>
            </a:xfrm>
            <a:prstGeom prst="rect">
              <a:avLst/>
            </a:prstGeom>
          </p:spPr>
          <p:txBody>
            <a:bodyPr anchor="ctr" rtlCol="false" tIns="0" lIns="0" bIns="0" rIns="0"/>
            <a:lstStyle/>
            <a:p>
              <a:pPr algn="l">
                <a:lnSpc>
                  <a:spcPts val="8100"/>
                </a:lnSpc>
              </a:pPr>
              <a:r>
                <a:rPr lang="en-US" sz="7500" b="true">
                  <a:solidFill>
                    <a:srgbClr val="FFFFFF"/>
                  </a:solidFill>
                  <a:latin typeface="Arial Bold"/>
                  <a:ea typeface="Arial Bold"/>
                  <a:cs typeface="Arial Bold"/>
                  <a:sym typeface="Arial Bold"/>
                </a:rPr>
                <a:t>Why Half Our Learners</a:t>
              </a:r>
            </a:p>
            <a:p>
              <a:pPr algn="l">
                <a:lnSpc>
                  <a:spcPts val="8100"/>
                </a:lnSpc>
              </a:pPr>
              <a:r>
                <a:rPr lang="en-US" sz="7500" b="true">
                  <a:solidFill>
                    <a:srgbClr val="FFFFFF"/>
                  </a:solidFill>
                  <a:latin typeface="Arial Bold"/>
                  <a:ea typeface="Arial Bold"/>
                  <a:cs typeface="Arial Bold"/>
                  <a:sym typeface="Arial Bold"/>
                </a:rPr>
                <a:t>Never Finish</a:t>
              </a:r>
            </a:p>
          </p:txBody>
        </p:sp>
      </p:grpSp>
      <p:grpSp>
        <p:nvGrpSpPr>
          <p:cNvPr name="Group 8" id="8"/>
          <p:cNvGrpSpPr/>
          <p:nvPr/>
        </p:nvGrpSpPr>
        <p:grpSpPr>
          <a:xfrm rot="0">
            <a:off x="987552" y="5554980"/>
            <a:ext cx="12893040" cy="617220"/>
            <a:chOff x="0" y="0"/>
            <a:chExt cx="17190720" cy="822960"/>
          </a:xfrm>
        </p:grpSpPr>
        <p:sp>
          <p:nvSpPr>
            <p:cNvPr name="Freeform 9" id="9"/>
            <p:cNvSpPr/>
            <p:nvPr/>
          </p:nvSpPr>
          <p:spPr>
            <a:xfrm flipH="false" flipV="false" rot="0">
              <a:off x="0" y="0"/>
              <a:ext cx="17190720" cy="822960"/>
            </a:xfrm>
            <a:custGeom>
              <a:avLst/>
              <a:gdLst/>
              <a:ahLst/>
              <a:cxnLst/>
              <a:rect r="r" b="b" t="t" l="l"/>
              <a:pathLst>
                <a:path h="822960" w="17190720">
                  <a:moveTo>
                    <a:pt x="0" y="0"/>
                  </a:moveTo>
                  <a:lnTo>
                    <a:pt x="17190720" y="0"/>
                  </a:lnTo>
                  <a:lnTo>
                    <a:pt x="17190720" y="822960"/>
                  </a:lnTo>
                  <a:lnTo>
                    <a:pt x="0" y="822960"/>
                  </a:lnTo>
                  <a:close/>
                </a:path>
              </a:pathLst>
            </a:custGeom>
            <a:blipFill>
              <a:blip r:embed="rId4">
                <a:alphaModFix amt="0"/>
              </a:blip>
              <a:stretch>
                <a:fillRect l="0" t="-357020" r="0" b="-357020"/>
              </a:stretch>
            </a:blipFill>
          </p:spPr>
        </p:sp>
        <p:sp>
          <p:nvSpPr>
            <p:cNvPr name="TextBox 10" id="10"/>
            <p:cNvSpPr txBox="true"/>
            <p:nvPr/>
          </p:nvSpPr>
          <p:spPr>
            <a:xfrm>
              <a:off x="0" y="-19050"/>
              <a:ext cx="17190720" cy="842010"/>
            </a:xfrm>
            <a:prstGeom prst="rect">
              <a:avLst/>
            </a:prstGeom>
          </p:spPr>
          <p:txBody>
            <a:bodyPr anchor="ctr" rtlCol="false" tIns="0" lIns="0" bIns="0" rIns="0"/>
            <a:lstStyle/>
            <a:p>
              <a:pPr algn="l">
                <a:lnSpc>
                  <a:spcPts val="3419"/>
                </a:lnSpc>
              </a:pPr>
              <a:r>
                <a:rPr lang="en-US" b="true" sz="2850">
                  <a:solidFill>
                    <a:srgbClr val="38B6FF"/>
                  </a:solidFill>
                  <a:latin typeface="Arial Bold"/>
                  <a:ea typeface="Arial Bold"/>
                  <a:cs typeface="Arial Bold"/>
                  <a:sym typeface="Arial Bold"/>
                </a:rPr>
                <a:t>An engagement-first diagnosis of course drop-off</a:t>
              </a:r>
            </a:p>
          </p:txBody>
        </p:sp>
      </p:grpSp>
      <p:grpSp>
        <p:nvGrpSpPr>
          <p:cNvPr name="Group 11" id="11"/>
          <p:cNvGrpSpPr/>
          <p:nvPr/>
        </p:nvGrpSpPr>
        <p:grpSpPr>
          <a:xfrm rot="0">
            <a:off x="987552" y="6336792"/>
            <a:ext cx="12893040" cy="480060"/>
            <a:chOff x="0" y="0"/>
            <a:chExt cx="17190720" cy="640080"/>
          </a:xfrm>
        </p:grpSpPr>
        <p:sp>
          <p:nvSpPr>
            <p:cNvPr name="Freeform 12" id="12"/>
            <p:cNvSpPr/>
            <p:nvPr/>
          </p:nvSpPr>
          <p:spPr>
            <a:xfrm flipH="false" flipV="false" rot="0">
              <a:off x="0" y="0"/>
              <a:ext cx="17190720" cy="640080"/>
            </a:xfrm>
            <a:custGeom>
              <a:avLst/>
              <a:gdLst/>
              <a:ahLst/>
              <a:cxnLst/>
              <a:rect r="r" b="b" t="t" l="l"/>
              <a:pathLst>
                <a:path h="640080" w="17190720">
                  <a:moveTo>
                    <a:pt x="0" y="0"/>
                  </a:moveTo>
                  <a:lnTo>
                    <a:pt x="17190720" y="0"/>
                  </a:lnTo>
                  <a:lnTo>
                    <a:pt x="17190720" y="640080"/>
                  </a:lnTo>
                  <a:lnTo>
                    <a:pt x="0" y="640080"/>
                  </a:lnTo>
                  <a:close/>
                </a:path>
              </a:pathLst>
            </a:custGeom>
            <a:blipFill>
              <a:blip r:embed="rId4">
                <a:alphaModFix amt="0"/>
              </a:blip>
              <a:stretch>
                <a:fillRect l="0" t="-473312" r="0" b="-473312"/>
              </a:stretch>
            </a:blipFill>
          </p:spPr>
        </p:sp>
        <p:sp>
          <p:nvSpPr>
            <p:cNvPr name="TextBox 13" id="13"/>
            <p:cNvSpPr txBox="true"/>
            <p:nvPr/>
          </p:nvSpPr>
          <p:spPr>
            <a:xfrm>
              <a:off x="0" y="-19050"/>
              <a:ext cx="17190720" cy="659130"/>
            </a:xfrm>
            <a:prstGeom prst="rect">
              <a:avLst/>
            </a:prstGeom>
          </p:spPr>
          <p:txBody>
            <a:bodyPr anchor="ctr" rtlCol="false" tIns="0" lIns="0" bIns="0" rIns="0"/>
            <a:lstStyle/>
            <a:p>
              <a:pPr algn="l">
                <a:lnSpc>
                  <a:spcPts val="2340"/>
                </a:lnSpc>
              </a:pPr>
              <a:r>
                <a:rPr lang="en-US" sz="1950">
                  <a:solidFill>
                    <a:srgbClr val="E6DCFF"/>
                  </a:solidFill>
                  <a:latin typeface="Arial"/>
                  <a:ea typeface="Arial"/>
                  <a:cs typeface="Arial"/>
                  <a:sym typeface="Arial"/>
                </a:rPr>
                <a:t>100,000 enrollments   |   40 fields   |   8 courses   |   5 categories</a:t>
              </a:r>
            </a:p>
          </p:txBody>
        </p:sp>
      </p:grpSp>
      <p:grpSp>
        <p:nvGrpSpPr>
          <p:cNvPr name="Group 14" id="14"/>
          <p:cNvGrpSpPr/>
          <p:nvPr/>
        </p:nvGrpSpPr>
        <p:grpSpPr>
          <a:xfrm rot="0">
            <a:off x="987552" y="8915400"/>
            <a:ext cx="15087600" cy="411480"/>
            <a:chOff x="0" y="0"/>
            <a:chExt cx="20116800" cy="548640"/>
          </a:xfrm>
        </p:grpSpPr>
        <p:sp>
          <p:nvSpPr>
            <p:cNvPr name="Freeform 15" id="15"/>
            <p:cNvSpPr/>
            <p:nvPr/>
          </p:nvSpPr>
          <p:spPr>
            <a:xfrm flipH="false" flipV="false" rot="0">
              <a:off x="0" y="0"/>
              <a:ext cx="20116800" cy="548640"/>
            </a:xfrm>
            <a:custGeom>
              <a:avLst/>
              <a:gdLst/>
              <a:ahLst/>
              <a:cxnLst/>
              <a:rect r="r" b="b" t="t" l="l"/>
              <a:pathLst>
                <a:path h="548640" w="20116800">
                  <a:moveTo>
                    <a:pt x="0" y="0"/>
                  </a:moveTo>
                  <a:lnTo>
                    <a:pt x="20116800" y="0"/>
                  </a:lnTo>
                  <a:lnTo>
                    <a:pt x="20116800" y="548640"/>
                  </a:lnTo>
                  <a:lnTo>
                    <a:pt x="0" y="548640"/>
                  </a:lnTo>
                  <a:close/>
                </a:path>
              </a:pathLst>
            </a:custGeom>
            <a:blipFill>
              <a:blip r:embed="rId4">
                <a:alphaModFix amt="0"/>
              </a:blip>
              <a:stretch>
                <a:fillRect l="0" t="-664451" r="0" b="-664451"/>
              </a:stretch>
            </a:blipFill>
          </p:spPr>
        </p:sp>
        <p:sp>
          <p:nvSpPr>
            <p:cNvPr name="TextBox 16" id="16"/>
            <p:cNvSpPr txBox="true"/>
            <p:nvPr/>
          </p:nvSpPr>
          <p:spPr>
            <a:xfrm>
              <a:off x="0" y="-19050"/>
              <a:ext cx="20116800" cy="567690"/>
            </a:xfrm>
            <a:prstGeom prst="rect">
              <a:avLst/>
            </a:prstGeom>
          </p:spPr>
          <p:txBody>
            <a:bodyPr anchor="ctr" rtlCol="false" tIns="0" lIns="0" bIns="0" rIns="0"/>
            <a:lstStyle/>
            <a:p>
              <a:pPr algn="l">
                <a:lnSpc>
                  <a:spcPts val="2070"/>
                </a:lnSpc>
              </a:pPr>
              <a:r>
                <a:rPr lang="en-US" sz="1725">
                  <a:solidFill>
                    <a:srgbClr val="DCAFFF"/>
                  </a:solidFill>
                  <a:latin typeface="Arial"/>
                  <a:ea typeface="Arial"/>
                  <a:cs typeface="Arial"/>
                  <a:sym typeface="Arial"/>
                </a:rPr>
                <a:t>Group 6   ·   Data Analytics Capstone   ·   Preprocessing, EDA, Visualization &amp; Dashboarding</a:t>
              </a:r>
            </a:p>
          </p:txBody>
        </p:sp>
      </p:grpSp>
      <p:grpSp>
        <p:nvGrpSpPr>
          <p:cNvPr name="Group 17" id="17"/>
          <p:cNvGrpSpPr/>
          <p:nvPr/>
        </p:nvGrpSpPr>
        <p:grpSpPr>
          <a:xfrm rot="0">
            <a:off x="11823192" y="721233"/>
            <a:ext cx="6464808" cy="6787134"/>
            <a:chOff x="0" y="0"/>
            <a:chExt cx="8619744" cy="9049512"/>
          </a:xfrm>
        </p:grpSpPr>
        <p:sp>
          <p:nvSpPr>
            <p:cNvPr name="Freeform 18" id="18"/>
            <p:cNvSpPr/>
            <p:nvPr/>
          </p:nvSpPr>
          <p:spPr>
            <a:xfrm flipH="false" flipV="false" rot="0">
              <a:off x="0" y="0"/>
              <a:ext cx="8619744" cy="9049512"/>
            </a:xfrm>
            <a:custGeom>
              <a:avLst/>
              <a:gdLst/>
              <a:ahLst/>
              <a:cxnLst/>
              <a:rect r="r" b="b" t="t" l="l"/>
              <a:pathLst>
                <a:path h="9049512" w="8619744">
                  <a:moveTo>
                    <a:pt x="0" y="0"/>
                  </a:moveTo>
                  <a:lnTo>
                    <a:pt x="8619744" y="0"/>
                  </a:lnTo>
                  <a:lnTo>
                    <a:pt x="8619744" y="9049512"/>
                  </a:lnTo>
                  <a:lnTo>
                    <a:pt x="0" y="9049512"/>
                  </a:lnTo>
                  <a:lnTo>
                    <a:pt x="0" y="0"/>
                  </a:lnTo>
                  <a:close/>
                </a:path>
              </a:pathLst>
            </a:custGeom>
            <a:blipFill>
              <a:blip r:embed="rId5">
                <a:alphaModFix amt="89000"/>
              </a:blip>
              <a:stretch>
                <a:fillRect l="0" t="-1" r="0" b="-1"/>
              </a:stretch>
            </a:blipFill>
          </p:spPr>
        </p:sp>
      </p:grpSp>
      <p:sp>
        <p:nvSpPr>
          <p:cNvPr name="Freeform 19" id="19"/>
          <p:cNvSpPr/>
          <p:nvPr/>
        </p:nvSpPr>
        <p:spPr>
          <a:xfrm flipH="false" flipV="false" rot="0">
            <a:off x="704074" y="721233"/>
            <a:ext cx="2031304" cy="630226"/>
          </a:xfrm>
          <a:custGeom>
            <a:avLst/>
            <a:gdLst/>
            <a:ahLst/>
            <a:cxnLst/>
            <a:rect r="r" b="b" t="t" l="l"/>
            <a:pathLst>
              <a:path h="630226" w="2031304">
                <a:moveTo>
                  <a:pt x="0" y="0"/>
                </a:moveTo>
                <a:lnTo>
                  <a:pt x="2031304" y="0"/>
                </a:lnTo>
                <a:lnTo>
                  <a:pt x="2031304" y="630226"/>
                </a:lnTo>
                <a:lnTo>
                  <a:pt x="0" y="630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Drop-off is behavioural, not demographic</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The answer up front. The next fifteen slides are the evidence.</a:t>
              </a:r>
            </a:p>
          </p:txBody>
        </p:sp>
      </p:grpSp>
      <p:grpSp>
        <p:nvGrpSpPr>
          <p:cNvPr name="Group 8" id="8"/>
          <p:cNvGrpSpPr/>
          <p:nvPr/>
        </p:nvGrpSpPr>
        <p:grpSpPr>
          <a:xfrm rot="0">
            <a:off x="987552" y="3017520"/>
            <a:ext cx="4800600" cy="4663440"/>
            <a:chOff x="0" y="0"/>
            <a:chExt cx="6400800" cy="6217920"/>
          </a:xfrm>
        </p:grpSpPr>
        <p:sp>
          <p:nvSpPr>
            <p:cNvPr name="Freeform 9" id="9"/>
            <p:cNvSpPr/>
            <p:nvPr/>
          </p:nvSpPr>
          <p:spPr>
            <a:xfrm flipH="false" flipV="false" rot="0">
              <a:off x="0" y="0"/>
              <a:ext cx="6400800" cy="6217920"/>
            </a:xfrm>
            <a:custGeom>
              <a:avLst/>
              <a:gdLst/>
              <a:ahLst/>
              <a:cxnLst/>
              <a:rect r="r" b="b" t="t" l="l"/>
              <a:pathLst>
                <a:path h="6217920" w="6400800">
                  <a:moveTo>
                    <a:pt x="0" y="0"/>
                  </a:moveTo>
                  <a:lnTo>
                    <a:pt x="6400800" y="0"/>
                  </a:lnTo>
                  <a:lnTo>
                    <a:pt x="6400800" y="6217920"/>
                  </a:lnTo>
                  <a:lnTo>
                    <a:pt x="0" y="6217920"/>
                  </a:lnTo>
                  <a:close/>
                </a:path>
              </a:pathLst>
            </a:custGeom>
            <a:solidFill>
              <a:srgbClr val="F1F1F1"/>
            </a:solidFill>
          </p:spPr>
        </p:sp>
      </p:grpSp>
      <p:grpSp>
        <p:nvGrpSpPr>
          <p:cNvPr name="Group 10" id="10"/>
          <p:cNvGrpSpPr/>
          <p:nvPr/>
        </p:nvGrpSpPr>
        <p:grpSpPr>
          <a:xfrm rot="0">
            <a:off x="987552" y="3017520"/>
            <a:ext cx="4800600" cy="137160"/>
            <a:chOff x="0" y="0"/>
            <a:chExt cx="6400800" cy="182880"/>
          </a:xfrm>
        </p:grpSpPr>
        <p:sp>
          <p:nvSpPr>
            <p:cNvPr name="Freeform 11" id="11"/>
            <p:cNvSpPr/>
            <p:nvPr/>
          </p:nvSpPr>
          <p:spPr>
            <a:xfrm flipH="false" flipV="false" rot="0">
              <a:off x="0" y="0"/>
              <a:ext cx="6400800" cy="182880"/>
            </a:xfrm>
            <a:custGeom>
              <a:avLst/>
              <a:gdLst/>
              <a:ahLst/>
              <a:cxnLst/>
              <a:rect r="r" b="b" t="t" l="l"/>
              <a:pathLst>
                <a:path h="182880" w="6400800">
                  <a:moveTo>
                    <a:pt x="0" y="0"/>
                  </a:moveTo>
                  <a:lnTo>
                    <a:pt x="6400800" y="0"/>
                  </a:lnTo>
                  <a:lnTo>
                    <a:pt x="6400800" y="182880"/>
                  </a:lnTo>
                  <a:lnTo>
                    <a:pt x="0" y="182880"/>
                  </a:lnTo>
                  <a:close/>
                </a:path>
              </a:pathLst>
            </a:custGeom>
            <a:solidFill>
              <a:srgbClr val="460073"/>
            </a:solidFill>
          </p:spPr>
        </p:sp>
      </p:grpSp>
      <p:grpSp>
        <p:nvGrpSpPr>
          <p:cNvPr name="Group 12" id="12"/>
          <p:cNvGrpSpPr/>
          <p:nvPr/>
        </p:nvGrpSpPr>
        <p:grpSpPr>
          <a:xfrm rot="0">
            <a:off x="1344168" y="3401568"/>
            <a:ext cx="4114800" cy="1303020"/>
            <a:chOff x="0" y="0"/>
            <a:chExt cx="5486400" cy="1737360"/>
          </a:xfrm>
        </p:grpSpPr>
        <p:sp>
          <p:nvSpPr>
            <p:cNvPr name="Freeform 13" id="13"/>
            <p:cNvSpPr/>
            <p:nvPr/>
          </p:nvSpPr>
          <p:spPr>
            <a:xfrm flipH="false" flipV="false" rot="0">
              <a:off x="0" y="0"/>
              <a:ext cx="5486400" cy="1737360"/>
            </a:xfrm>
            <a:custGeom>
              <a:avLst/>
              <a:gdLst/>
              <a:ahLst/>
              <a:cxnLst/>
              <a:rect r="r" b="b" t="t" l="l"/>
              <a:pathLst>
                <a:path h="1737360" w="5486400">
                  <a:moveTo>
                    <a:pt x="0" y="0"/>
                  </a:moveTo>
                  <a:lnTo>
                    <a:pt x="5486400" y="0"/>
                  </a:lnTo>
                  <a:lnTo>
                    <a:pt x="5486400" y="1737360"/>
                  </a:lnTo>
                  <a:lnTo>
                    <a:pt x="0" y="1737360"/>
                  </a:lnTo>
                  <a:close/>
                </a:path>
              </a:pathLst>
            </a:custGeom>
            <a:blipFill>
              <a:blip r:embed="rId2">
                <a:alphaModFix amt="0"/>
              </a:blip>
              <a:stretch>
                <a:fillRect l="0" t="-11531" r="0" b="-11531"/>
              </a:stretch>
            </a:blipFill>
          </p:spPr>
        </p:sp>
        <p:sp>
          <p:nvSpPr>
            <p:cNvPr name="TextBox 14" id="14"/>
            <p:cNvSpPr txBox="true"/>
            <p:nvPr/>
          </p:nvSpPr>
          <p:spPr>
            <a:xfrm>
              <a:off x="0" y="-28575"/>
              <a:ext cx="5486400" cy="1765935"/>
            </a:xfrm>
            <a:prstGeom prst="rect">
              <a:avLst/>
            </a:prstGeom>
          </p:spPr>
          <p:txBody>
            <a:bodyPr anchor="ctr" rtlCol="false" tIns="0" lIns="0" bIns="0" rIns="0"/>
            <a:lstStyle/>
            <a:p>
              <a:pPr algn="l">
                <a:lnSpc>
                  <a:spcPts val="7200"/>
                </a:lnSpc>
              </a:pPr>
              <a:r>
                <a:rPr lang="en-US" sz="6000" b="true">
                  <a:solidFill>
                    <a:srgbClr val="460073"/>
                  </a:solidFill>
                  <a:latin typeface="Arial Bold"/>
                  <a:ea typeface="Arial Bold"/>
                  <a:cs typeface="Arial Bold"/>
                  <a:sym typeface="Arial Bold"/>
                </a:rPr>
                <a:t>49.0%</a:t>
              </a:r>
            </a:p>
          </p:txBody>
        </p:sp>
      </p:grpSp>
      <p:grpSp>
        <p:nvGrpSpPr>
          <p:cNvPr name="Group 15" id="15"/>
          <p:cNvGrpSpPr/>
          <p:nvPr/>
        </p:nvGrpSpPr>
        <p:grpSpPr>
          <a:xfrm rot="0">
            <a:off x="1344168" y="4745736"/>
            <a:ext cx="4114800" cy="438912"/>
            <a:chOff x="0" y="0"/>
            <a:chExt cx="5486400" cy="585216"/>
          </a:xfrm>
        </p:grpSpPr>
        <p:sp>
          <p:nvSpPr>
            <p:cNvPr name="Freeform 16" id="16"/>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2">
                <a:alphaModFix amt="0"/>
              </a:blip>
              <a:stretch>
                <a:fillRect l="0" t="-132672" r="0" b="-132672"/>
              </a:stretch>
            </a:blipFill>
          </p:spPr>
        </p:sp>
        <p:sp>
          <p:nvSpPr>
            <p:cNvPr name="TextBox 17" id="17"/>
            <p:cNvSpPr txBox="true"/>
            <p:nvPr/>
          </p:nvSpPr>
          <p:spPr>
            <a:xfrm>
              <a:off x="0" y="-19050"/>
              <a:ext cx="5486400" cy="604266"/>
            </a:xfrm>
            <a:prstGeom prst="rect">
              <a:avLst/>
            </a:prstGeom>
          </p:spPr>
          <p:txBody>
            <a:bodyPr anchor="ctr" rtlCol="false" tIns="0" lIns="0" bIns="0" rIns="0"/>
            <a:lstStyle/>
            <a:p>
              <a:pPr algn="l">
                <a:lnSpc>
                  <a:spcPts val="1980"/>
                </a:lnSpc>
              </a:pPr>
              <a:r>
                <a:rPr lang="en-US" b="true" sz="1650" spc="240">
                  <a:solidFill>
                    <a:srgbClr val="585858"/>
                  </a:solidFill>
                  <a:latin typeface="Arial Bold"/>
                  <a:ea typeface="Arial Bold"/>
                  <a:cs typeface="Arial Bold"/>
                  <a:sym typeface="Arial Bold"/>
                </a:rPr>
                <a:t>COMPLETION TODAY</a:t>
              </a:r>
            </a:p>
          </p:txBody>
        </p:sp>
      </p:grpSp>
      <p:grpSp>
        <p:nvGrpSpPr>
          <p:cNvPr name="Group 18" id="18"/>
          <p:cNvGrpSpPr/>
          <p:nvPr/>
        </p:nvGrpSpPr>
        <p:grpSpPr>
          <a:xfrm rot="0">
            <a:off x="1344168" y="5321808"/>
            <a:ext cx="4114800" cy="2057400"/>
            <a:chOff x="0" y="0"/>
            <a:chExt cx="5486400" cy="2743200"/>
          </a:xfrm>
        </p:grpSpPr>
        <p:sp>
          <p:nvSpPr>
            <p:cNvPr name="Freeform 19" id="19"/>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2">
                <a:alphaModFix amt="0"/>
              </a:blip>
              <a:stretch>
                <a:fillRect l="-14151" t="0" r="-14151" b="0"/>
              </a:stretch>
            </a:blipFill>
          </p:spPr>
        </p:sp>
        <p:sp>
          <p:nvSpPr>
            <p:cNvPr name="TextBox 20" id="20"/>
            <p:cNvSpPr txBox="true"/>
            <p:nvPr/>
          </p:nvSpPr>
          <p:spPr>
            <a:xfrm>
              <a:off x="0" y="-19050"/>
              <a:ext cx="5486400" cy="2762250"/>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Just over half of 100,000 enrollments never finish.</a:t>
              </a:r>
            </a:p>
          </p:txBody>
        </p:sp>
      </p:grpSp>
      <p:grpSp>
        <p:nvGrpSpPr>
          <p:cNvPr name="Group 21" id="21"/>
          <p:cNvGrpSpPr/>
          <p:nvPr/>
        </p:nvGrpSpPr>
        <p:grpSpPr>
          <a:xfrm rot="0">
            <a:off x="5952744" y="4869180"/>
            <a:ext cx="713232" cy="850392"/>
            <a:chOff x="0" y="0"/>
            <a:chExt cx="950976" cy="1133856"/>
          </a:xfrm>
        </p:grpSpPr>
        <p:sp>
          <p:nvSpPr>
            <p:cNvPr name="Freeform 22" id="22"/>
            <p:cNvSpPr/>
            <p:nvPr/>
          </p:nvSpPr>
          <p:spPr>
            <a:xfrm flipH="false" flipV="false" rot="0">
              <a:off x="0" y="0"/>
              <a:ext cx="950976" cy="1133856"/>
            </a:xfrm>
            <a:custGeom>
              <a:avLst/>
              <a:gdLst/>
              <a:ahLst/>
              <a:cxnLst/>
              <a:rect r="r" b="b" t="t" l="l"/>
              <a:pathLst>
                <a:path h="1133856" w="950976">
                  <a:moveTo>
                    <a:pt x="0" y="0"/>
                  </a:moveTo>
                  <a:lnTo>
                    <a:pt x="475488" y="0"/>
                  </a:lnTo>
                  <a:lnTo>
                    <a:pt x="950976" y="566928"/>
                  </a:lnTo>
                  <a:lnTo>
                    <a:pt x="475488" y="1133856"/>
                  </a:lnTo>
                  <a:lnTo>
                    <a:pt x="0" y="1133856"/>
                  </a:lnTo>
                  <a:lnTo>
                    <a:pt x="475488" y="566928"/>
                  </a:lnTo>
                  <a:close/>
                </a:path>
              </a:pathLst>
            </a:custGeom>
            <a:solidFill>
              <a:srgbClr val="A100FF"/>
            </a:solidFill>
          </p:spPr>
        </p:sp>
      </p:grpSp>
      <p:grpSp>
        <p:nvGrpSpPr>
          <p:cNvPr name="Group 23" id="23"/>
          <p:cNvGrpSpPr/>
          <p:nvPr/>
        </p:nvGrpSpPr>
        <p:grpSpPr>
          <a:xfrm rot="0">
            <a:off x="6858000" y="3017520"/>
            <a:ext cx="4800600" cy="4663440"/>
            <a:chOff x="0" y="0"/>
            <a:chExt cx="6400800" cy="6217920"/>
          </a:xfrm>
        </p:grpSpPr>
        <p:sp>
          <p:nvSpPr>
            <p:cNvPr name="Freeform 24" id="24"/>
            <p:cNvSpPr/>
            <p:nvPr/>
          </p:nvSpPr>
          <p:spPr>
            <a:xfrm flipH="false" flipV="false" rot="0">
              <a:off x="0" y="0"/>
              <a:ext cx="6400800" cy="6217920"/>
            </a:xfrm>
            <a:custGeom>
              <a:avLst/>
              <a:gdLst/>
              <a:ahLst/>
              <a:cxnLst/>
              <a:rect r="r" b="b" t="t" l="l"/>
              <a:pathLst>
                <a:path h="6217920" w="6400800">
                  <a:moveTo>
                    <a:pt x="0" y="0"/>
                  </a:moveTo>
                  <a:lnTo>
                    <a:pt x="6400800" y="0"/>
                  </a:lnTo>
                  <a:lnTo>
                    <a:pt x="6400800" y="6217920"/>
                  </a:lnTo>
                  <a:lnTo>
                    <a:pt x="0" y="6217920"/>
                  </a:lnTo>
                  <a:close/>
                </a:path>
              </a:pathLst>
            </a:custGeom>
            <a:solidFill>
              <a:srgbClr val="F1F1F1"/>
            </a:solidFill>
          </p:spPr>
        </p:sp>
      </p:grpSp>
      <p:grpSp>
        <p:nvGrpSpPr>
          <p:cNvPr name="Group 25" id="25"/>
          <p:cNvGrpSpPr/>
          <p:nvPr/>
        </p:nvGrpSpPr>
        <p:grpSpPr>
          <a:xfrm rot="0">
            <a:off x="6858000" y="3017520"/>
            <a:ext cx="4800600" cy="137160"/>
            <a:chOff x="0" y="0"/>
            <a:chExt cx="6400800" cy="182880"/>
          </a:xfrm>
        </p:grpSpPr>
        <p:sp>
          <p:nvSpPr>
            <p:cNvPr name="Freeform 26" id="26"/>
            <p:cNvSpPr/>
            <p:nvPr/>
          </p:nvSpPr>
          <p:spPr>
            <a:xfrm flipH="false" flipV="false" rot="0">
              <a:off x="0" y="0"/>
              <a:ext cx="6400800" cy="182880"/>
            </a:xfrm>
            <a:custGeom>
              <a:avLst/>
              <a:gdLst/>
              <a:ahLst/>
              <a:cxnLst/>
              <a:rect r="r" b="b" t="t" l="l"/>
              <a:pathLst>
                <a:path h="182880" w="6400800">
                  <a:moveTo>
                    <a:pt x="0" y="0"/>
                  </a:moveTo>
                  <a:lnTo>
                    <a:pt x="6400800" y="0"/>
                  </a:lnTo>
                  <a:lnTo>
                    <a:pt x="6400800" y="182880"/>
                  </a:lnTo>
                  <a:lnTo>
                    <a:pt x="0" y="182880"/>
                  </a:lnTo>
                  <a:close/>
                </a:path>
              </a:pathLst>
            </a:custGeom>
            <a:solidFill>
              <a:srgbClr val="7500C0"/>
            </a:solidFill>
          </p:spPr>
        </p:sp>
      </p:grpSp>
      <p:grpSp>
        <p:nvGrpSpPr>
          <p:cNvPr name="Group 27" id="27"/>
          <p:cNvGrpSpPr/>
          <p:nvPr/>
        </p:nvGrpSpPr>
        <p:grpSpPr>
          <a:xfrm rot="0">
            <a:off x="7214616" y="3401568"/>
            <a:ext cx="4114800" cy="1303020"/>
            <a:chOff x="0" y="0"/>
            <a:chExt cx="5486400" cy="1737360"/>
          </a:xfrm>
        </p:grpSpPr>
        <p:sp>
          <p:nvSpPr>
            <p:cNvPr name="Freeform 28" id="28"/>
            <p:cNvSpPr/>
            <p:nvPr/>
          </p:nvSpPr>
          <p:spPr>
            <a:xfrm flipH="false" flipV="false" rot="0">
              <a:off x="0" y="0"/>
              <a:ext cx="5486400" cy="1737360"/>
            </a:xfrm>
            <a:custGeom>
              <a:avLst/>
              <a:gdLst/>
              <a:ahLst/>
              <a:cxnLst/>
              <a:rect r="r" b="b" t="t" l="l"/>
              <a:pathLst>
                <a:path h="1737360" w="5486400">
                  <a:moveTo>
                    <a:pt x="0" y="0"/>
                  </a:moveTo>
                  <a:lnTo>
                    <a:pt x="5486400" y="0"/>
                  </a:lnTo>
                  <a:lnTo>
                    <a:pt x="5486400" y="1737360"/>
                  </a:lnTo>
                  <a:lnTo>
                    <a:pt x="0" y="1737360"/>
                  </a:lnTo>
                  <a:close/>
                </a:path>
              </a:pathLst>
            </a:custGeom>
            <a:blipFill>
              <a:blip r:embed="rId2">
                <a:alphaModFix amt="0"/>
              </a:blip>
              <a:stretch>
                <a:fillRect l="0" t="-11531" r="0" b="-11531"/>
              </a:stretch>
            </a:blipFill>
          </p:spPr>
        </p:sp>
        <p:sp>
          <p:nvSpPr>
            <p:cNvPr name="TextBox 29" id="29"/>
            <p:cNvSpPr txBox="true"/>
            <p:nvPr/>
          </p:nvSpPr>
          <p:spPr>
            <a:xfrm>
              <a:off x="0" y="-28575"/>
              <a:ext cx="5486400" cy="1765935"/>
            </a:xfrm>
            <a:prstGeom prst="rect">
              <a:avLst/>
            </a:prstGeom>
          </p:spPr>
          <p:txBody>
            <a:bodyPr anchor="ctr" rtlCol="false" tIns="0" lIns="0" bIns="0" rIns="0"/>
            <a:lstStyle/>
            <a:p>
              <a:pPr algn="l">
                <a:lnSpc>
                  <a:spcPts val="7200"/>
                </a:lnSpc>
              </a:pPr>
              <a:r>
                <a:rPr lang="en-US" sz="6000" b="true">
                  <a:solidFill>
                    <a:srgbClr val="7500C0"/>
                  </a:solidFill>
                  <a:latin typeface="Arial Bold"/>
                  <a:ea typeface="Arial Bold"/>
                  <a:cs typeface="Arial Bold"/>
                  <a:sym typeface="Arial Bold"/>
                </a:rPr>
                <a:t>18.4 pts</a:t>
              </a:r>
            </a:p>
          </p:txBody>
        </p:sp>
      </p:grpSp>
      <p:grpSp>
        <p:nvGrpSpPr>
          <p:cNvPr name="Group 30" id="30"/>
          <p:cNvGrpSpPr/>
          <p:nvPr/>
        </p:nvGrpSpPr>
        <p:grpSpPr>
          <a:xfrm rot="0">
            <a:off x="7214616" y="4745736"/>
            <a:ext cx="4114800" cy="438912"/>
            <a:chOff x="0" y="0"/>
            <a:chExt cx="5486400" cy="585216"/>
          </a:xfrm>
        </p:grpSpPr>
        <p:sp>
          <p:nvSpPr>
            <p:cNvPr name="Freeform 31" id="31"/>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2">
                <a:alphaModFix amt="0"/>
              </a:blip>
              <a:stretch>
                <a:fillRect l="0" t="-132672" r="0" b="-132672"/>
              </a:stretch>
            </a:blipFill>
          </p:spPr>
        </p:sp>
        <p:sp>
          <p:nvSpPr>
            <p:cNvPr name="TextBox 32" id="32"/>
            <p:cNvSpPr txBox="true"/>
            <p:nvPr/>
          </p:nvSpPr>
          <p:spPr>
            <a:xfrm>
              <a:off x="0" y="-19050"/>
              <a:ext cx="5486400" cy="604266"/>
            </a:xfrm>
            <a:prstGeom prst="rect">
              <a:avLst/>
            </a:prstGeom>
          </p:spPr>
          <p:txBody>
            <a:bodyPr anchor="ctr" rtlCol="false" tIns="0" lIns="0" bIns="0" rIns="0"/>
            <a:lstStyle/>
            <a:p>
              <a:pPr algn="l">
                <a:lnSpc>
                  <a:spcPts val="1980"/>
                </a:lnSpc>
              </a:pPr>
              <a:r>
                <a:rPr lang="en-US" b="true" sz="1650" spc="240">
                  <a:solidFill>
                    <a:srgbClr val="585858"/>
                  </a:solidFill>
                  <a:latin typeface="Arial Bold"/>
                  <a:ea typeface="Arial Bold"/>
                  <a:cs typeface="Arial Bold"/>
                  <a:sym typeface="Arial Bold"/>
                </a:rPr>
                <a:t>ENGAGEMENT GAP</a:t>
              </a:r>
            </a:p>
          </p:txBody>
        </p:sp>
      </p:grpSp>
      <p:grpSp>
        <p:nvGrpSpPr>
          <p:cNvPr name="Group 33" id="33"/>
          <p:cNvGrpSpPr/>
          <p:nvPr/>
        </p:nvGrpSpPr>
        <p:grpSpPr>
          <a:xfrm rot="0">
            <a:off x="7214616" y="5321808"/>
            <a:ext cx="4114800" cy="2057400"/>
            <a:chOff x="0" y="0"/>
            <a:chExt cx="5486400" cy="2743200"/>
          </a:xfrm>
        </p:grpSpPr>
        <p:sp>
          <p:nvSpPr>
            <p:cNvPr name="Freeform 34" id="34"/>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2">
                <a:alphaModFix amt="0"/>
              </a:blip>
              <a:stretch>
                <a:fillRect l="-14151" t="0" r="-14151" b="0"/>
              </a:stretch>
            </a:blipFill>
          </p:spPr>
        </p:sp>
        <p:sp>
          <p:nvSpPr>
            <p:cNvPr name="TextBox 35" id="35"/>
            <p:cNvSpPr txBox="true"/>
            <p:nvPr/>
          </p:nvSpPr>
          <p:spPr>
            <a:xfrm>
              <a:off x="0" y="-19050"/>
              <a:ext cx="5486400" cy="2762250"/>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High tier 58.2% against Low tier 39.7%. No demographic variable moves completion more than 3.8 points.</a:t>
              </a:r>
            </a:p>
          </p:txBody>
        </p:sp>
      </p:grpSp>
      <p:grpSp>
        <p:nvGrpSpPr>
          <p:cNvPr name="Group 36" id="36"/>
          <p:cNvGrpSpPr/>
          <p:nvPr/>
        </p:nvGrpSpPr>
        <p:grpSpPr>
          <a:xfrm rot="0">
            <a:off x="11823192" y="4869180"/>
            <a:ext cx="713232" cy="850392"/>
            <a:chOff x="0" y="0"/>
            <a:chExt cx="950976" cy="1133856"/>
          </a:xfrm>
        </p:grpSpPr>
        <p:sp>
          <p:nvSpPr>
            <p:cNvPr name="Freeform 37" id="37"/>
            <p:cNvSpPr/>
            <p:nvPr/>
          </p:nvSpPr>
          <p:spPr>
            <a:xfrm flipH="false" flipV="false" rot="0">
              <a:off x="0" y="0"/>
              <a:ext cx="950976" cy="1133856"/>
            </a:xfrm>
            <a:custGeom>
              <a:avLst/>
              <a:gdLst/>
              <a:ahLst/>
              <a:cxnLst/>
              <a:rect r="r" b="b" t="t" l="l"/>
              <a:pathLst>
                <a:path h="1133856" w="950976">
                  <a:moveTo>
                    <a:pt x="0" y="0"/>
                  </a:moveTo>
                  <a:lnTo>
                    <a:pt x="475488" y="0"/>
                  </a:lnTo>
                  <a:lnTo>
                    <a:pt x="950976" y="566928"/>
                  </a:lnTo>
                  <a:lnTo>
                    <a:pt x="475488" y="1133856"/>
                  </a:lnTo>
                  <a:lnTo>
                    <a:pt x="0" y="1133856"/>
                  </a:lnTo>
                  <a:lnTo>
                    <a:pt x="475488" y="566928"/>
                  </a:lnTo>
                  <a:close/>
                </a:path>
              </a:pathLst>
            </a:custGeom>
            <a:solidFill>
              <a:srgbClr val="A100FF"/>
            </a:solidFill>
          </p:spPr>
        </p:sp>
      </p:grpSp>
      <p:grpSp>
        <p:nvGrpSpPr>
          <p:cNvPr name="Group 38" id="38"/>
          <p:cNvGrpSpPr/>
          <p:nvPr/>
        </p:nvGrpSpPr>
        <p:grpSpPr>
          <a:xfrm rot="0">
            <a:off x="12728448" y="3017520"/>
            <a:ext cx="4800600" cy="4663440"/>
            <a:chOff x="0" y="0"/>
            <a:chExt cx="6400800" cy="6217920"/>
          </a:xfrm>
        </p:grpSpPr>
        <p:sp>
          <p:nvSpPr>
            <p:cNvPr name="Freeform 39" id="39"/>
            <p:cNvSpPr/>
            <p:nvPr/>
          </p:nvSpPr>
          <p:spPr>
            <a:xfrm flipH="false" flipV="false" rot="0">
              <a:off x="0" y="0"/>
              <a:ext cx="6400800" cy="6217920"/>
            </a:xfrm>
            <a:custGeom>
              <a:avLst/>
              <a:gdLst/>
              <a:ahLst/>
              <a:cxnLst/>
              <a:rect r="r" b="b" t="t" l="l"/>
              <a:pathLst>
                <a:path h="6217920" w="6400800">
                  <a:moveTo>
                    <a:pt x="0" y="0"/>
                  </a:moveTo>
                  <a:lnTo>
                    <a:pt x="6400800" y="0"/>
                  </a:lnTo>
                  <a:lnTo>
                    <a:pt x="6400800" y="6217920"/>
                  </a:lnTo>
                  <a:lnTo>
                    <a:pt x="0" y="6217920"/>
                  </a:lnTo>
                  <a:close/>
                </a:path>
              </a:pathLst>
            </a:custGeom>
            <a:solidFill>
              <a:srgbClr val="F1F1F1"/>
            </a:solidFill>
          </p:spPr>
        </p:sp>
      </p:grpSp>
      <p:grpSp>
        <p:nvGrpSpPr>
          <p:cNvPr name="Group 40" id="40"/>
          <p:cNvGrpSpPr/>
          <p:nvPr/>
        </p:nvGrpSpPr>
        <p:grpSpPr>
          <a:xfrm rot="0">
            <a:off x="12728448" y="3017520"/>
            <a:ext cx="4800600" cy="137160"/>
            <a:chOff x="0" y="0"/>
            <a:chExt cx="6400800" cy="182880"/>
          </a:xfrm>
        </p:grpSpPr>
        <p:sp>
          <p:nvSpPr>
            <p:cNvPr name="Freeform 41" id="41"/>
            <p:cNvSpPr/>
            <p:nvPr/>
          </p:nvSpPr>
          <p:spPr>
            <a:xfrm flipH="false" flipV="false" rot="0">
              <a:off x="0" y="0"/>
              <a:ext cx="6400800" cy="182880"/>
            </a:xfrm>
            <a:custGeom>
              <a:avLst/>
              <a:gdLst/>
              <a:ahLst/>
              <a:cxnLst/>
              <a:rect r="r" b="b" t="t" l="l"/>
              <a:pathLst>
                <a:path h="182880" w="6400800">
                  <a:moveTo>
                    <a:pt x="0" y="0"/>
                  </a:moveTo>
                  <a:lnTo>
                    <a:pt x="6400800" y="0"/>
                  </a:lnTo>
                  <a:lnTo>
                    <a:pt x="6400800" y="182880"/>
                  </a:lnTo>
                  <a:lnTo>
                    <a:pt x="0" y="182880"/>
                  </a:lnTo>
                  <a:close/>
                </a:path>
              </a:pathLst>
            </a:custGeom>
            <a:solidFill>
              <a:srgbClr val="A100FF"/>
            </a:solidFill>
          </p:spPr>
        </p:sp>
      </p:grpSp>
      <p:grpSp>
        <p:nvGrpSpPr>
          <p:cNvPr name="Group 42" id="42"/>
          <p:cNvGrpSpPr/>
          <p:nvPr/>
        </p:nvGrpSpPr>
        <p:grpSpPr>
          <a:xfrm rot="0">
            <a:off x="13087350" y="3401568"/>
            <a:ext cx="4114800" cy="1303020"/>
            <a:chOff x="0" y="0"/>
            <a:chExt cx="5486400" cy="1737360"/>
          </a:xfrm>
        </p:grpSpPr>
        <p:sp>
          <p:nvSpPr>
            <p:cNvPr name="Freeform 43" id="43"/>
            <p:cNvSpPr/>
            <p:nvPr/>
          </p:nvSpPr>
          <p:spPr>
            <a:xfrm flipH="false" flipV="false" rot="0">
              <a:off x="0" y="0"/>
              <a:ext cx="5486400" cy="1737360"/>
            </a:xfrm>
            <a:custGeom>
              <a:avLst/>
              <a:gdLst/>
              <a:ahLst/>
              <a:cxnLst/>
              <a:rect r="r" b="b" t="t" l="l"/>
              <a:pathLst>
                <a:path h="1737360" w="5486400">
                  <a:moveTo>
                    <a:pt x="0" y="0"/>
                  </a:moveTo>
                  <a:lnTo>
                    <a:pt x="5486400" y="0"/>
                  </a:lnTo>
                  <a:lnTo>
                    <a:pt x="5486400" y="1737360"/>
                  </a:lnTo>
                  <a:lnTo>
                    <a:pt x="0" y="1737360"/>
                  </a:lnTo>
                  <a:close/>
                </a:path>
              </a:pathLst>
            </a:custGeom>
            <a:blipFill>
              <a:blip r:embed="rId2">
                <a:alphaModFix amt="0"/>
              </a:blip>
              <a:stretch>
                <a:fillRect l="0" t="-11531" r="0" b="-11531"/>
              </a:stretch>
            </a:blipFill>
          </p:spPr>
        </p:sp>
        <p:sp>
          <p:nvSpPr>
            <p:cNvPr name="TextBox 44" id="44"/>
            <p:cNvSpPr txBox="true"/>
            <p:nvPr/>
          </p:nvSpPr>
          <p:spPr>
            <a:xfrm>
              <a:off x="0" y="-28575"/>
              <a:ext cx="5486400" cy="1765935"/>
            </a:xfrm>
            <a:prstGeom prst="rect">
              <a:avLst/>
            </a:prstGeom>
          </p:spPr>
          <p:txBody>
            <a:bodyPr anchor="ctr" rtlCol="false" tIns="0" lIns="0" bIns="0" rIns="0"/>
            <a:lstStyle/>
            <a:p>
              <a:pPr algn="l">
                <a:lnSpc>
                  <a:spcPts val="7200"/>
                </a:lnSpc>
              </a:pPr>
              <a:r>
                <a:rPr lang="en-US" sz="6000" b="true">
                  <a:solidFill>
                    <a:srgbClr val="A100FF"/>
                  </a:solidFill>
                  <a:latin typeface="Arial Bold"/>
                  <a:ea typeface="Arial Bold"/>
                  <a:cs typeface="Arial Bold"/>
                  <a:sym typeface="Arial Bold"/>
                </a:rPr>
                <a:t>+3.1 pts</a:t>
              </a:r>
            </a:p>
          </p:txBody>
        </p:sp>
      </p:grpSp>
      <p:grpSp>
        <p:nvGrpSpPr>
          <p:cNvPr name="Group 45" id="45"/>
          <p:cNvGrpSpPr/>
          <p:nvPr/>
        </p:nvGrpSpPr>
        <p:grpSpPr>
          <a:xfrm rot="0">
            <a:off x="13085064" y="4745736"/>
            <a:ext cx="4114800" cy="438912"/>
            <a:chOff x="0" y="0"/>
            <a:chExt cx="5486400" cy="585216"/>
          </a:xfrm>
        </p:grpSpPr>
        <p:sp>
          <p:nvSpPr>
            <p:cNvPr name="Freeform 46" id="46"/>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2">
                <a:alphaModFix amt="0"/>
              </a:blip>
              <a:stretch>
                <a:fillRect l="0" t="-132672" r="0" b="-132672"/>
              </a:stretch>
            </a:blipFill>
          </p:spPr>
        </p:sp>
        <p:sp>
          <p:nvSpPr>
            <p:cNvPr name="TextBox 47" id="47"/>
            <p:cNvSpPr txBox="true"/>
            <p:nvPr/>
          </p:nvSpPr>
          <p:spPr>
            <a:xfrm>
              <a:off x="0" y="-19050"/>
              <a:ext cx="5486400" cy="604266"/>
            </a:xfrm>
            <a:prstGeom prst="rect">
              <a:avLst/>
            </a:prstGeom>
          </p:spPr>
          <p:txBody>
            <a:bodyPr anchor="ctr" rtlCol="false" tIns="0" lIns="0" bIns="0" rIns="0"/>
            <a:lstStyle/>
            <a:p>
              <a:pPr algn="l">
                <a:lnSpc>
                  <a:spcPts val="1980"/>
                </a:lnSpc>
              </a:pPr>
              <a:r>
                <a:rPr lang="en-US" b="true" sz="1650" spc="240">
                  <a:solidFill>
                    <a:srgbClr val="585858"/>
                  </a:solidFill>
                  <a:latin typeface="Arial Bold"/>
                  <a:ea typeface="Arial Bold"/>
                  <a:cs typeface="Arial Bold"/>
                  <a:sym typeface="Arial Bold"/>
                </a:rPr>
                <a:t>POTENTIAL LIFT</a:t>
              </a:r>
            </a:p>
          </p:txBody>
        </p:sp>
      </p:grpSp>
      <p:grpSp>
        <p:nvGrpSpPr>
          <p:cNvPr name="Group 48" id="48"/>
          <p:cNvGrpSpPr/>
          <p:nvPr/>
        </p:nvGrpSpPr>
        <p:grpSpPr>
          <a:xfrm rot="0">
            <a:off x="13085064" y="5321808"/>
            <a:ext cx="4114800" cy="2057400"/>
            <a:chOff x="0" y="0"/>
            <a:chExt cx="5486400" cy="2743200"/>
          </a:xfrm>
        </p:grpSpPr>
        <p:sp>
          <p:nvSpPr>
            <p:cNvPr name="Freeform 49" id="49"/>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2">
                <a:alphaModFix amt="0"/>
              </a:blip>
              <a:stretch>
                <a:fillRect l="-14151" t="0" r="-14151" b="0"/>
              </a:stretch>
            </a:blipFill>
          </p:spPr>
        </p:sp>
        <p:sp>
          <p:nvSpPr>
            <p:cNvPr name="TextBox 50" id="50"/>
            <p:cNvSpPr txBox="true"/>
            <p:nvPr/>
          </p:nvSpPr>
          <p:spPr>
            <a:xfrm>
              <a:off x="0" y="-19050"/>
              <a:ext cx="5486400" cy="2762250"/>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Roughly 3,070 additional learners completing, from the Low tier alone.</a:t>
              </a:r>
            </a:p>
          </p:txBody>
        </p:sp>
      </p:grpSp>
      <p:grpSp>
        <p:nvGrpSpPr>
          <p:cNvPr name="Group 51" id="51"/>
          <p:cNvGrpSpPr/>
          <p:nvPr/>
        </p:nvGrpSpPr>
        <p:grpSpPr>
          <a:xfrm rot="0">
            <a:off x="987552" y="7845552"/>
            <a:ext cx="16322040" cy="411480"/>
            <a:chOff x="0" y="0"/>
            <a:chExt cx="21762720" cy="548640"/>
          </a:xfrm>
        </p:grpSpPr>
        <p:sp>
          <p:nvSpPr>
            <p:cNvPr name="Freeform 52" id="52"/>
            <p:cNvSpPr/>
            <p:nvPr/>
          </p:nvSpPr>
          <p:spPr>
            <a:xfrm flipH="false" flipV="false" rot="0">
              <a:off x="0" y="0"/>
              <a:ext cx="21762720" cy="548640"/>
            </a:xfrm>
            <a:custGeom>
              <a:avLst/>
              <a:gdLst/>
              <a:ahLst/>
              <a:cxnLst/>
              <a:rect r="r" b="b" t="t" l="l"/>
              <a:pathLst>
                <a:path h="548640" w="21762720">
                  <a:moveTo>
                    <a:pt x="0" y="0"/>
                  </a:moveTo>
                  <a:lnTo>
                    <a:pt x="21762720" y="0"/>
                  </a:lnTo>
                  <a:lnTo>
                    <a:pt x="21762720" y="548640"/>
                  </a:lnTo>
                  <a:lnTo>
                    <a:pt x="0" y="548640"/>
                  </a:lnTo>
                  <a:close/>
                </a:path>
              </a:pathLst>
            </a:custGeom>
            <a:blipFill>
              <a:blip r:embed="rId2">
                <a:alphaModFix amt="0"/>
              </a:blip>
              <a:stretch>
                <a:fillRect l="0" t="-722906" r="0" b="-722906"/>
              </a:stretch>
            </a:blipFill>
          </p:spPr>
        </p:sp>
        <p:sp>
          <p:nvSpPr>
            <p:cNvPr name="TextBox 53" id="53"/>
            <p:cNvSpPr txBox="true"/>
            <p:nvPr/>
          </p:nvSpPr>
          <p:spPr>
            <a:xfrm>
              <a:off x="0" y="-19050"/>
              <a:ext cx="21762720" cy="567690"/>
            </a:xfrm>
            <a:prstGeom prst="rect">
              <a:avLst/>
            </a:prstGeom>
          </p:spPr>
          <p:txBody>
            <a:bodyPr anchor="ctr" rtlCol="false" tIns="0" lIns="0" bIns="0" rIns="0"/>
            <a:lstStyle/>
            <a:p>
              <a:pPr algn="l">
                <a:lnSpc>
                  <a:spcPts val="1709"/>
                </a:lnSpc>
              </a:pPr>
              <a:r>
                <a:rPr lang="en-US" sz="1425">
                  <a:solidFill>
                    <a:srgbClr val="A6A6A6"/>
                  </a:solidFill>
                  <a:latin typeface="Arial"/>
                  <a:ea typeface="Arial"/>
                  <a:cs typeface="Arial"/>
                  <a:sym typeface="Arial"/>
                </a:rPr>
                <a:t>* If half of the gap between the High and Low engagement tiers were closed. Gap computed on unrounded rates (58.15% and 39.72%).</a:t>
              </a:r>
            </a:p>
          </p:txBody>
        </p:sp>
      </p:grpSp>
      <p:grpSp>
        <p:nvGrpSpPr>
          <p:cNvPr name="Group 54" id="54"/>
          <p:cNvGrpSpPr/>
          <p:nvPr/>
        </p:nvGrpSpPr>
        <p:grpSpPr>
          <a:xfrm rot="0">
            <a:off x="987552" y="8366760"/>
            <a:ext cx="16322040" cy="932688"/>
            <a:chOff x="0" y="0"/>
            <a:chExt cx="21762720" cy="1243584"/>
          </a:xfrm>
        </p:grpSpPr>
        <p:sp>
          <p:nvSpPr>
            <p:cNvPr name="Freeform 55" id="55"/>
            <p:cNvSpPr/>
            <p:nvPr/>
          </p:nvSpPr>
          <p:spPr>
            <a:xfrm flipH="false" flipV="false" rot="0">
              <a:off x="0" y="0"/>
              <a:ext cx="21762720" cy="1243584"/>
            </a:xfrm>
            <a:custGeom>
              <a:avLst/>
              <a:gdLst/>
              <a:ahLst/>
              <a:cxnLst/>
              <a:rect r="r" b="b" t="t" l="l"/>
              <a:pathLst>
                <a:path h="1243584" w="21762720">
                  <a:moveTo>
                    <a:pt x="0" y="0"/>
                  </a:moveTo>
                  <a:lnTo>
                    <a:pt x="21762720" y="0"/>
                  </a:lnTo>
                  <a:lnTo>
                    <a:pt x="21762720" y="1243584"/>
                  </a:lnTo>
                  <a:lnTo>
                    <a:pt x="0" y="1243584"/>
                  </a:lnTo>
                  <a:close/>
                </a:path>
              </a:pathLst>
            </a:custGeom>
            <a:solidFill>
              <a:srgbClr val="460073"/>
            </a:solidFill>
          </p:spPr>
        </p:sp>
      </p:grpSp>
      <p:grpSp>
        <p:nvGrpSpPr>
          <p:cNvPr name="Group 56" id="56"/>
          <p:cNvGrpSpPr/>
          <p:nvPr/>
        </p:nvGrpSpPr>
        <p:grpSpPr>
          <a:xfrm rot="0">
            <a:off x="1399032" y="8366760"/>
            <a:ext cx="15499080" cy="932688"/>
            <a:chOff x="0" y="0"/>
            <a:chExt cx="20665440" cy="1243584"/>
          </a:xfrm>
        </p:grpSpPr>
        <p:sp>
          <p:nvSpPr>
            <p:cNvPr name="Freeform 57" id="57"/>
            <p:cNvSpPr/>
            <p:nvPr/>
          </p:nvSpPr>
          <p:spPr>
            <a:xfrm flipH="false" flipV="false" rot="0">
              <a:off x="0" y="0"/>
              <a:ext cx="20665439" cy="1243584"/>
            </a:xfrm>
            <a:custGeom>
              <a:avLst/>
              <a:gdLst/>
              <a:ahLst/>
              <a:cxnLst/>
              <a:rect r="r" b="b" t="t" l="l"/>
              <a:pathLst>
                <a:path h="1243584" w="20665439">
                  <a:moveTo>
                    <a:pt x="0" y="0"/>
                  </a:moveTo>
                  <a:lnTo>
                    <a:pt x="20665439" y="0"/>
                  </a:lnTo>
                  <a:lnTo>
                    <a:pt x="20665439" y="1243584"/>
                  </a:lnTo>
                  <a:lnTo>
                    <a:pt x="0" y="1243584"/>
                  </a:lnTo>
                  <a:close/>
                </a:path>
              </a:pathLst>
            </a:custGeom>
            <a:blipFill>
              <a:blip r:embed="rId2">
                <a:alphaModFix amt="0"/>
              </a:blip>
              <a:stretch>
                <a:fillRect l="0" t="-273795" r="0" b="-273795"/>
              </a:stretch>
            </a:blipFill>
          </p:spPr>
        </p:sp>
        <p:sp>
          <p:nvSpPr>
            <p:cNvPr name="TextBox 58" id="58"/>
            <p:cNvSpPr txBox="true"/>
            <p:nvPr/>
          </p:nvSpPr>
          <p:spPr>
            <a:xfrm>
              <a:off x="0" y="-19050"/>
              <a:ext cx="20665440" cy="1262634"/>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Engagement is the one driver the platform can observe early and change.</a:t>
              </a:r>
            </a:p>
          </p:txBody>
        </p:sp>
      </p:grpSp>
      <p:grpSp>
        <p:nvGrpSpPr>
          <p:cNvPr name="Group 59" id="59"/>
          <p:cNvGrpSpPr/>
          <p:nvPr/>
        </p:nvGrpSpPr>
        <p:grpSpPr>
          <a:xfrm rot="0">
            <a:off x="10424160" y="411480"/>
            <a:ext cx="5966460" cy="342900"/>
            <a:chOff x="0" y="0"/>
            <a:chExt cx="7955280" cy="457200"/>
          </a:xfrm>
        </p:grpSpPr>
        <p:sp>
          <p:nvSpPr>
            <p:cNvPr name="Freeform 60" id="60"/>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61" id="61"/>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62" id="62"/>
          <p:cNvGrpSpPr/>
          <p:nvPr/>
        </p:nvGrpSpPr>
        <p:grpSpPr>
          <a:xfrm rot="0">
            <a:off x="16486632" y="411480"/>
            <a:ext cx="205740" cy="342900"/>
            <a:chOff x="0" y="0"/>
            <a:chExt cx="274320" cy="457200"/>
          </a:xfrm>
        </p:grpSpPr>
        <p:sp>
          <p:nvSpPr>
            <p:cNvPr name="Freeform 63" id="63"/>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64" id="64"/>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65" id="65"/>
          <p:cNvGrpSpPr/>
          <p:nvPr/>
        </p:nvGrpSpPr>
        <p:grpSpPr>
          <a:xfrm rot="0">
            <a:off x="16664940" y="411480"/>
            <a:ext cx="685800" cy="342900"/>
            <a:chOff x="0" y="0"/>
            <a:chExt cx="914400" cy="457200"/>
          </a:xfrm>
        </p:grpSpPr>
        <p:sp>
          <p:nvSpPr>
            <p:cNvPr name="Freeform 66" id="66"/>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67" id="67"/>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2</a:t>
              </a:r>
            </a:p>
          </p:txBody>
        </p:sp>
      </p:grpSp>
      <p:grpSp>
        <p:nvGrpSpPr>
          <p:cNvPr name="Group 68" id="68"/>
          <p:cNvGrpSpPr/>
          <p:nvPr/>
        </p:nvGrpSpPr>
        <p:grpSpPr>
          <a:xfrm rot="0">
            <a:off x="987552" y="9601200"/>
            <a:ext cx="8229600" cy="342900"/>
            <a:chOff x="0" y="0"/>
            <a:chExt cx="10972800" cy="457200"/>
          </a:xfrm>
        </p:grpSpPr>
        <p:sp>
          <p:nvSpPr>
            <p:cNvPr name="Freeform 69" id="69"/>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70" id="70"/>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sp>
        <p:nvSpPr>
          <p:cNvPr name="Freeform 71" id="71"/>
          <p:cNvSpPr/>
          <p:nvPr/>
        </p:nvSpPr>
        <p:spPr>
          <a:xfrm flipH="false" flipV="false" rot="0">
            <a:off x="16011570" y="8626350"/>
            <a:ext cx="379050" cy="413509"/>
          </a:xfrm>
          <a:custGeom>
            <a:avLst/>
            <a:gdLst/>
            <a:ahLst/>
            <a:cxnLst/>
            <a:rect r="r" b="b" t="t" l="l"/>
            <a:pathLst>
              <a:path h="413509" w="379050">
                <a:moveTo>
                  <a:pt x="0" y="0"/>
                </a:moveTo>
                <a:lnTo>
                  <a:pt x="379050" y="0"/>
                </a:lnTo>
                <a:lnTo>
                  <a:pt x="379050" y="413508"/>
                </a:lnTo>
                <a:lnTo>
                  <a:pt x="0" y="4135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51% of enrollments never reach completion</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The platform can measure the problem. It does not yet have a reliable early-warning signal.</a:t>
              </a:r>
            </a:p>
          </p:txBody>
        </p:sp>
      </p:grpSp>
      <p:grpSp>
        <p:nvGrpSpPr>
          <p:cNvPr name="Group 8" id="8"/>
          <p:cNvGrpSpPr/>
          <p:nvPr/>
        </p:nvGrpSpPr>
        <p:grpSpPr>
          <a:xfrm rot="0">
            <a:off x="8778240" y="2948940"/>
            <a:ext cx="4114800" cy="1124712"/>
            <a:chOff x="0" y="0"/>
            <a:chExt cx="5486400" cy="1499616"/>
          </a:xfrm>
        </p:grpSpPr>
        <p:sp>
          <p:nvSpPr>
            <p:cNvPr name="Freeform 9" id="9"/>
            <p:cNvSpPr/>
            <p:nvPr/>
          </p:nvSpPr>
          <p:spPr>
            <a:xfrm flipH="false" flipV="false" rot="0">
              <a:off x="0" y="0"/>
              <a:ext cx="5486400" cy="1499616"/>
            </a:xfrm>
            <a:custGeom>
              <a:avLst/>
              <a:gdLst/>
              <a:ahLst/>
              <a:cxnLst/>
              <a:rect r="r" b="b" t="t" l="l"/>
              <a:pathLst>
                <a:path h="1499616" w="5486400">
                  <a:moveTo>
                    <a:pt x="0" y="0"/>
                  </a:moveTo>
                  <a:lnTo>
                    <a:pt x="5486400" y="0"/>
                  </a:lnTo>
                  <a:lnTo>
                    <a:pt x="5486400" y="1499616"/>
                  </a:lnTo>
                  <a:lnTo>
                    <a:pt x="0" y="1499616"/>
                  </a:lnTo>
                  <a:close/>
                </a:path>
              </a:pathLst>
            </a:custGeom>
            <a:blipFill>
              <a:blip r:embed="rId2">
                <a:alphaModFix amt="0"/>
              </a:blip>
              <a:stretch>
                <a:fillRect l="0" t="-21286" r="0" b="-21286"/>
              </a:stretch>
            </a:blipFill>
          </p:spPr>
        </p:sp>
        <p:sp>
          <p:nvSpPr>
            <p:cNvPr name="TextBox 10" id="10"/>
            <p:cNvSpPr txBox="true"/>
            <p:nvPr/>
          </p:nvSpPr>
          <p:spPr>
            <a:xfrm>
              <a:off x="0" y="-38100"/>
              <a:ext cx="5486400" cy="1537716"/>
            </a:xfrm>
            <a:prstGeom prst="rect">
              <a:avLst/>
            </a:prstGeom>
          </p:spPr>
          <p:txBody>
            <a:bodyPr anchor="ctr" rtlCol="false" tIns="0" lIns="0" bIns="0" rIns="0"/>
            <a:lstStyle/>
            <a:p>
              <a:pPr algn="l">
                <a:lnSpc>
                  <a:spcPts val="7920"/>
                </a:lnSpc>
              </a:pPr>
              <a:r>
                <a:rPr lang="en-US" sz="6600" b="true">
                  <a:solidFill>
                    <a:srgbClr val="A100FF"/>
                  </a:solidFill>
                  <a:latin typeface="Arial Bold"/>
                  <a:ea typeface="Arial Bold"/>
                  <a:cs typeface="Arial Bold"/>
                  <a:sym typeface="Arial Bold"/>
                </a:rPr>
                <a:t>50,970</a:t>
              </a:r>
            </a:p>
          </p:txBody>
        </p:sp>
      </p:grpSp>
      <p:grpSp>
        <p:nvGrpSpPr>
          <p:cNvPr name="Group 11" id="11"/>
          <p:cNvGrpSpPr/>
          <p:nvPr/>
        </p:nvGrpSpPr>
        <p:grpSpPr>
          <a:xfrm rot="0">
            <a:off x="8778240" y="4101084"/>
            <a:ext cx="4114800" cy="1028700"/>
            <a:chOff x="0" y="0"/>
            <a:chExt cx="5486400" cy="1371600"/>
          </a:xfrm>
        </p:grpSpPr>
        <p:sp>
          <p:nvSpPr>
            <p:cNvPr name="Freeform 12" id="12"/>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13" id="13"/>
            <p:cNvSpPr txBox="true"/>
            <p:nvPr/>
          </p:nvSpPr>
          <p:spPr>
            <a:xfrm>
              <a:off x="0" y="-19050"/>
              <a:ext cx="5486400" cy="1390650"/>
            </a:xfrm>
            <a:prstGeom prst="rect">
              <a:avLst/>
            </a:prstGeom>
          </p:spPr>
          <p:txBody>
            <a:bodyPr anchor="ctr" rtlCol="false" tIns="0" lIns="0" bIns="0" rIns="0"/>
            <a:lstStyle/>
            <a:p>
              <a:pPr algn="l">
                <a:lnSpc>
                  <a:spcPts val="2160"/>
                </a:lnSpc>
              </a:pPr>
              <a:r>
                <a:rPr lang="en-US" sz="1800">
                  <a:solidFill>
                    <a:srgbClr val="585858"/>
                  </a:solidFill>
                  <a:latin typeface="Arial"/>
                  <a:ea typeface="Arial"/>
                  <a:cs typeface="Arial"/>
                  <a:sym typeface="Arial"/>
                </a:rPr>
                <a:t>learners who enrolled and did not finish</a:t>
              </a:r>
            </a:p>
          </p:txBody>
        </p:sp>
      </p:grpSp>
      <p:grpSp>
        <p:nvGrpSpPr>
          <p:cNvPr name="Group 14" id="14"/>
          <p:cNvGrpSpPr/>
          <p:nvPr/>
        </p:nvGrpSpPr>
        <p:grpSpPr>
          <a:xfrm rot="0">
            <a:off x="13304520" y="2948940"/>
            <a:ext cx="4114800" cy="1124712"/>
            <a:chOff x="0" y="0"/>
            <a:chExt cx="5486400" cy="1499616"/>
          </a:xfrm>
        </p:grpSpPr>
        <p:sp>
          <p:nvSpPr>
            <p:cNvPr name="Freeform 15" id="15"/>
            <p:cNvSpPr/>
            <p:nvPr/>
          </p:nvSpPr>
          <p:spPr>
            <a:xfrm flipH="false" flipV="false" rot="0">
              <a:off x="0" y="0"/>
              <a:ext cx="5486400" cy="1499616"/>
            </a:xfrm>
            <a:custGeom>
              <a:avLst/>
              <a:gdLst/>
              <a:ahLst/>
              <a:cxnLst/>
              <a:rect r="r" b="b" t="t" l="l"/>
              <a:pathLst>
                <a:path h="1499616" w="5486400">
                  <a:moveTo>
                    <a:pt x="0" y="0"/>
                  </a:moveTo>
                  <a:lnTo>
                    <a:pt x="5486400" y="0"/>
                  </a:lnTo>
                  <a:lnTo>
                    <a:pt x="5486400" y="1499616"/>
                  </a:lnTo>
                  <a:lnTo>
                    <a:pt x="0" y="1499616"/>
                  </a:lnTo>
                  <a:close/>
                </a:path>
              </a:pathLst>
            </a:custGeom>
            <a:blipFill>
              <a:blip r:embed="rId2">
                <a:alphaModFix amt="0"/>
              </a:blip>
              <a:stretch>
                <a:fillRect l="0" t="-21286" r="0" b="-21286"/>
              </a:stretch>
            </a:blipFill>
          </p:spPr>
        </p:sp>
        <p:sp>
          <p:nvSpPr>
            <p:cNvPr name="TextBox 16" id="16"/>
            <p:cNvSpPr txBox="true"/>
            <p:nvPr/>
          </p:nvSpPr>
          <p:spPr>
            <a:xfrm>
              <a:off x="0" y="-38100"/>
              <a:ext cx="5486400" cy="1537716"/>
            </a:xfrm>
            <a:prstGeom prst="rect">
              <a:avLst/>
            </a:prstGeom>
          </p:spPr>
          <p:txBody>
            <a:bodyPr anchor="ctr" rtlCol="false" tIns="0" lIns="0" bIns="0" rIns="0"/>
            <a:lstStyle/>
            <a:p>
              <a:pPr algn="l">
                <a:lnSpc>
                  <a:spcPts val="7920"/>
                </a:lnSpc>
              </a:pPr>
              <a:r>
                <a:rPr lang="en-US" sz="6600" b="true">
                  <a:solidFill>
                    <a:srgbClr val="A100FF"/>
                  </a:solidFill>
                  <a:latin typeface="Arial Bold"/>
                  <a:ea typeface="Arial Bold"/>
                  <a:cs typeface="Arial Bold"/>
                  <a:sym typeface="Arial Bold"/>
                </a:rPr>
                <a:t>49,030</a:t>
              </a:r>
            </a:p>
          </p:txBody>
        </p:sp>
      </p:grpSp>
      <p:grpSp>
        <p:nvGrpSpPr>
          <p:cNvPr name="Group 17" id="17"/>
          <p:cNvGrpSpPr/>
          <p:nvPr/>
        </p:nvGrpSpPr>
        <p:grpSpPr>
          <a:xfrm rot="0">
            <a:off x="13304520" y="4101084"/>
            <a:ext cx="4114800" cy="1028700"/>
            <a:chOff x="0" y="0"/>
            <a:chExt cx="5486400" cy="1371600"/>
          </a:xfrm>
        </p:grpSpPr>
        <p:sp>
          <p:nvSpPr>
            <p:cNvPr name="Freeform 18" id="18"/>
            <p:cNvSpPr/>
            <p:nvPr/>
          </p:nvSpPr>
          <p:spPr>
            <a:xfrm flipH="false" flipV="false" rot="0">
              <a:off x="0" y="0"/>
              <a:ext cx="5486400" cy="1371600"/>
            </a:xfrm>
            <a:custGeom>
              <a:avLst/>
              <a:gdLst/>
              <a:ahLst/>
              <a:cxnLst/>
              <a:rect r="r" b="b" t="t" l="l"/>
              <a:pathLst>
                <a:path h="1371600" w="5486400">
                  <a:moveTo>
                    <a:pt x="0" y="0"/>
                  </a:moveTo>
                  <a:lnTo>
                    <a:pt x="5486400" y="0"/>
                  </a:lnTo>
                  <a:lnTo>
                    <a:pt x="5486400" y="1371600"/>
                  </a:lnTo>
                  <a:lnTo>
                    <a:pt x="0" y="1371600"/>
                  </a:lnTo>
                  <a:close/>
                </a:path>
              </a:pathLst>
            </a:custGeom>
            <a:blipFill>
              <a:blip r:embed="rId2">
                <a:alphaModFix amt="0"/>
              </a:blip>
              <a:stretch>
                <a:fillRect l="0" t="-27940" r="0" b="-27940"/>
              </a:stretch>
            </a:blipFill>
          </p:spPr>
        </p:sp>
        <p:sp>
          <p:nvSpPr>
            <p:cNvPr name="TextBox 19" id="19"/>
            <p:cNvSpPr txBox="true"/>
            <p:nvPr/>
          </p:nvSpPr>
          <p:spPr>
            <a:xfrm>
              <a:off x="0" y="-19050"/>
              <a:ext cx="5486400" cy="1390650"/>
            </a:xfrm>
            <a:prstGeom prst="rect">
              <a:avLst/>
            </a:prstGeom>
          </p:spPr>
          <p:txBody>
            <a:bodyPr anchor="ctr" rtlCol="false" tIns="0" lIns="0" bIns="0" rIns="0"/>
            <a:lstStyle/>
            <a:p>
              <a:pPr algn="l">
                <a:lnSpc>
                  <a:spcPts val="2160"/>
                </a:lnSpc>
              </a:pPr>
              <a:r>
                <a:rPr lang="en-US" sz="1800">
                  <a:solidFill>
                    <a:srgbClr val="585858"/>
                  </a:solidFill>
                  <a:latin typeface="Arial"/>
                  <a:ea typeface="Arial"/>
                  <a:cs typeface="Arial"/>
                  <a:sym typeface="Arial"/>
                </a:rPr>
                <a:t>learners who completed their course</a:t>
              </a:r>
            </a:p>
          </p:txBody>
        </p:sp>
      </p:grpSp>
      <p:grpSp>
        <p:nvGrpSpPr>
          <p:cNvPr name="Group 20" id="20"/>
          <p:cNvGrpSpPr/>
          <p:nvPr/>
        </p:nvGrpSpPr>
        <p:grpSpPr>
          <a:xfrm rot="0">
            <a:off x="8778240" y="5349240"/>
            <a:ext cx="8641080" cy="27432"/>
            <a:chOff x="0" y="0"/>
            <a:chExt cx="11521440" cy="36576"/>
          </a:xfrm>
        </p:grpSpPr>
        <p:sp>
          <p:nvSpPr>
            <p:cNvPr name="Freeform 21" id="21"/>
            <p:cNvSpPr/>
            <p:nvPr/>
          </p:nvSpPr>
          <p:spPr>
            <a:xfrm flipH="false" flipV="false" rot="0">
              <a:off x="0" y="0"/>
              <a:ext cx="11521440" cy="36576"/>
            </a:xfrm>
            <a:custGeom>
              <a:avLst/>
              <a:gdLst/>
              <a:ahLst/>
              <a:cxnLst/>
              <a:rect r="r" b="b" t="t" l="l"/>
              <a:pathLst>
                <a:path h="36576" w="11521440">
                  <a:moveTo>
                    <a:pt x="0" y="0"/>
                  </a:moveTo>
                  <a:lnTo>
                    <a:pt x="11521440" y="0"/>
                  </a:lnTo>
                  <a:lnTo>
                    <a:pt x="11521440" y="36576"/>
                  </a:lnTo>
                  <a:lnTo>
                    <a:pt x="0" y="36576"/>
                  </a:lnTo>
                  <a:close/>
                </a:path>
              </a:pathLst>
            </a:custGeom>
            <a:solidFill>
              <a:srgbClr val="A6A6A6"/>
            </a:solidFill>
          </p:spPr>
        </p:sp>
      </p:grpSp>
      <p:grpSp>
        <p:nvGrpSpPr>
          <p:cNvPr name="Group 22" id="22"/>
          <p:cNvGrpSpPr/>
          <p:nvPr/>
        </p:nvGrpSpPr>
        <p:grpSpPr>
          <a:xfrm rot="0">
            <a:off x="8778240" y="5692140"/>
            <a:ext cx="8641080" cy="2743200"/>
            <a:chOff x="0" y="0"/>
            <a:chExt cx="11521440" cy="3657600"/>
          </a:xfrm>
        </p:grpSpPr>
        <p:sp>
          <p:nvSpPr>
            <p:cNvPr name="Freeform 23" id="23"/>
            <p:cNvSpPr/>
            <p:nvPr/>
          </p:nvSpPr>
          <p:spPr>
            <a:xfrm flipH="false" flipV="false" rot="0">
              <a:off x="0" y="0"/>
              <a:ext cx="11521440" cy="3657600"/>
            </a:xfrm>
            <a:custGeom>
              <a:avLst/>
              <a:gdLst/>
              <a:ahLst/>
              <a:cxnLst/>
              <a:rect r="r" b="b" t="t" l="l"/>
              <a:pathLst>
                <a:path h="3657600" w="11521440">
                  <a:moveTo>
                    <a:pt x="0" y="0"/>
                  </a:moveTo>
                  <a:lnTo>
                    <a:pt x="11521440" y="0"/>
                  </a:lnTo>
                  <a:lnTo>
                    <a:pt x="11521440" y="3657600"/>
                  </a:lnTo>
                  <a:lnTo>
                    <a:pt x="0" y="3657600"/>
                  </a:lnTo>
                  <a:close/>
                </a:path>
              </a:pathLst>
            </a:custGeom>
            <a:blipFill>
              <a:blip r:embed="rId2">
                <a:alphaModFix amt="0"/>
              </a:blip>
              <a:stretch>
                <a:fillRect l="0" t="-11377" r="0" b="-11377"/>
              </a:stretch>
            </a:blipFill>
          </p:spPr>
        </p:sp>
        <p:sp>
          <p:nvSpPr>
            <p:cNvPr name="TextBox 24" id="24"/>
            <p:cNvSpPr txBox="true"/>
            <p:nvPr/>
          </p:nvSpPr>
          <p:spPr>
            <a:xfrm>
              <a:off x="0" y="-9525"/>
              <a:ext cx="11521440" cy="3667125"/>
            </a:xfrm>
            <a:prstGeom prst="rect">
              <a:avLst/>
            </a:prstGeom>
          </p:spPr>
          <p:txBody>
            <a:bodyPr anchor="ctr" rtlCol="false" tIns="0" lIns="0" bIns="0" rIns="0"/>
            <a:lstStyle/>
            <a:p>
              <a:pPr algn="l" marL="366474" indent="-183237" lvl="1">
                <a:lnSpc>
                  <a:spcPts val="2430"/>
                </a:lnSpc>
                <a:buFont typeface="Arial"/>
                <a:buChar char="•"/>
              </a:pPr>
              <a:r>
                <a:rPr lang="en-US" sz="2025">
                  <a:solidFill>
                    <a:srgbClr val="000000"/>
                  </a:solidFill>
                  <a:latin typeface="Arial"/>
                  <a:ea typeface="Arial"/>
                  <a:cs typeface="Arial"/>
                  <a:sym typeface="Arial"/>
                </a:rPr>
                <a:t>Every non-completion is acquisition effort that produced no learning outcome</a:t>
              </a:r>
            </a:p>
            <a:p>
              <a:pPr algn="l" marL="366474" indent="-183237" lvl="1">
                <a:lnSpc>
                  <a:spcPts val="2430"/>
                </a:lnSpc>
                <a:buFont typeface="Arial"/>
                <a:buChar char="•"/>
              </a:pPr>
              <a:r>
                <a:rPr lang="en-US" sz="2025">
                  <a:solidFill>
                    <a:srgbClr val="000000"/>
                  </a:solidFill>
                  <a:latin typeface="Arial"/>
                  <a:ea typeface="Arial"/>
                  <a:cs typeface="Arial"/>
                  <a:sym typeface="Arial"/>
                </a:rPr>
                <a:t>The student success team has no reliable way to flag at-risk learners while there is still time to act</a:t>
              </a:r>
            </a:p>
            <a:p>
              <a:pPr algn="l" marL="366474" indent="-183237" lvl="1">
                <a:lnSpc>
                  <a:spcPts val="2430"/>
                </a:lnSpc>
                <a:buFont typeface="Arial"/>
                <a:buChar char="•"/>
              </a:pPr>
              <a:r>
                <a:rPr lang="en-US" sz="2025">
                  <a:solidFill>
                    <a:srgbClr val="000000"/>
                  </a:solidFill>
                  <a:latin typeface="Arial"/>
                  <a:ea typeface="Arial"/>
                  <a:cs typeface="Arial"/>
                  <a:sym typeface="Arial"/>
                </a:rPr>
                <a:t>Stakeholder: platform student success and academic operations team</a:t>
              </a:r>
            </a:p>
          </p:txBody>
        </p:sp>
      </p:grpSp>
      <p:grpSp>
        <p:nvGrpSpPr>
          <p:cNvPr name="Group 25" id="25"/>
          <p:cNvGrpSpPr/>
          <p:nvPr/>
        </p:nvGrpSpPr>
        <p:grpSpPr>
          <a:xfrm rot="0">
            <a:off x="10424160" y="411480"/>
            <a:ext cx="5966460" cy="342900"/>
            <a:chOff x="0" y="0"/>
            <a:chExt cx="7955280" cy="457200"/>
          </a:xfrm>
        </p:grpSpPr>
        <p:sp>
          <p:nvSpPr>
            <p:cNvPr name="Freeform 26" id="26"/>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27" id="27"/>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28" id="28"/>
          <p:cNvGrpSpPr/>
          <p:nvPr/>
        </p:nvGrpSpPr>
        <p:grpSpPr>
          <a:xfrm rot="0">
            <a:off x="16486632" y="411480"/>
            <a:ext cx="205740" cy="342900"/>
            <a:chOff x="0" y="0"/>
            <a:chExt cx="274320" cy="457200"/>
          </a:xfrm>
        </p:grpSpPr>
        <p:sp>
          <p:nvSpPr>
            <p:cNvPr name="Freeform 29" id="29"/>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30" id="30"/>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31" id="31"/>
          <p:cNvGrpSpPr/>
          <p:nvPr/>
        </p:nvGrpSpPr>
        <p:grpSpPr>
          <a:xfrm rot="0">
            <a:off x="16664940" y="411480"/>
            <a:ext cx="685800" cy="342900"/>
            <a:chOff x="0" y="0"/>
            <a:chExt cx="914400" cy="457200"/>
          </a:xfrm>
        </p:grpSpPr>
        <p:sp>
          <p:nvSpPr>
            <p:cNvPr name="Freeform 32" id="32"/>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33" id="33"/>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3</a:t>
              </a:r>
            </a:p>
          </p:txBody>
        </p:sp>
      </p:grpSp>
      <p:grpSp>
        <p:nvGrpSpPr>
          <p:cNvPr name="Group 34" id="34"/>
          <p:cNvGrpSpPr/>
          <p:nvPr/>
        </p:nvGrpSpPr>
        <p:grpSpPr>
          <a:xfrm rot="0">
            <a:off x="1575054" y="2883408"/>
            <a:ext cx="5353812" cy="5780532"/>
            <a:chOff x="0" y="0"/>
            <a:chExt cx="7138416" cy="7707376"/>
          </a:xfrm>
        </p:grpSpPr>
        <p:pic>
          <p:nvPicPr>
            <p:cNvPr name="Picture 35" id="35"/>
            <p:cNvPicPr>
              <a:picLocks noChangeAspect="true"/>
            </p:cNvPicPr>
            <p:nvPr/>
          </p:nvPicPr>
          <p:blipFill>
            <a:blip r:embed="rId3"/>
            <a:stretch>
              <a:fillRect/>
            </a:stretch>
          </p:blipFill>
          <p:spPr>
            <a:xfrm rot="0">
              <a:off x="-770738" y="-770738"/>
              <a:ext cx="8679891" cy="9248851"/>
            </a:xfrm>
            <a:prstGeom prst="rect">
              <a:avLst/>
            </a:prstGeom>
          </p:spPr>
        </p:pic>
        <p:grpSp>
          <p:nvGrpSpPr>
            <p:cNvPr name="Group 36" id="36"/>
            <p:cNvGrpSpPr/>
            <p:nvPr/>
          </p:nvGrpSpPr>
          <p:grpSpPr>
            <a:xfrm rot="0">
              <a:off x="2537460" y="3013456"/>
              <a:ext cx="2063496" cy="2063496"/>
              <a:chOff x="0" y="0"/>
              <a:chExt cx="2063496" cy="2063496"/>
            </a:xfrm>
          </p:grpSpPr>
          <p:sp>
            <p:nvSpPr>
              <p:cNvPr name="Freeform 37" id="37"/>
              <p:cNvSpPr/>
              <p:nvPr/>
            </p:nvSpPr>
            <p:spPr>
              <a:xfrm flipH="false" flipV="false" rot="0">
                <a:off x="0" y="0"/>
                <a:ext cx="2063496" cy="2063496"/>
              </a:xfrm>
              <a:custGeom>
                <a:avLst/>
                <a:gdLst/>
                <a:ahLst/>
                <a:cxnLst/>
                <a:rect r="r" b="b" t="t" l="l"/>
                <a:pathLst>
                  <a:path h="2063496" w="2063496">
                    <a:moveTo>
                      <a:pt x="0" y="0"/>
                    </a:moveTo>
                    <a:lnTo>
                      <a:pt x="2063496" y="0"/>
                    </a:lnTo>
                    <a:lnTo>
                      <a:pt x="2063496" y="2063496"/>
                    </a:lnTo>
                    <a:lnTo>
                      <a:pt x="0" y="2063496"/>
                    </a:lnTo>
                    <a:lnTo>
                      <a:pt x="0" y="0"/>
                    </a:lnTo>
                    <a:close/>
                  </a:path>
                </a:pathLst>
              </a:custGeom>
              <a:blipFill>
                <a:blip r:embed="rId4"/>
                <a:stretch>
                  <a:fillRect l="0" t="0" r="0" b="0"/>
                </a:stretch>
              </a:blipFill>
            </p:spPr>
          </p:sp>
        </p:grpSp>
      </p:grpSp>
      <p:grpSp>
        <p:nvGrpSpPr>
          <p:cNvPr name="Group 38" id="38"/>
          <p:cNvGrpSpPr/>
          <p:nvPr/>
        </p:nvGrpSpPr>
        <p:grpSpPr>
          <a:xfrm rot="0">
            <a:off x="0" y="9464040"/>
            <a:ext cx="18288000" cy="822960"/>
            <a:chOff x="0" y="0"/>
            <a:chExt cx="24384000" cy="1097280"/>
          </a:xfrm>
        </p:grpSpPr>
        <p:grpSp>
          <p:nvGrpSpPr>
            <p:cNvPr name="Group 39" id="39"/>
            <p:cNvGrpSpPr/>
            <p:nvPr/>
          </p:nvGrpSpPr>
          <p:grpSpPr>
            <a:xfrm rot="0">
              <a:off x="0" y="0"/>
              <a:ext cx="24384000" cy="1097280"/>
              <a:chOff x="0" y="0"/>
              <a:chExt cx="16256000" cy="731520"/>
            </a:xfrm>
          </p:grpSpPr>
          <p:sp>
            <p:nvSpPr>
              <p:cNvPr name="Freeform 40" id="40">
                <a:hlinkClick r:id="rId5"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6"/>
                <a:stretch>
                  <a:fillRect l="0" t="0" r="-45" b="-609"/>
                </a:stretch>
              </a:blipFill>
            </p:spPr>
          </p:sp>
        </p:grpSp>
        <p:grpSp>
          <p:nvGrpSpPr>
            <p:cNvPr name="Group 41" id="41"/>
            <p:cNvGrpSpPr/>
            <p:nvPr/>
          </p:nvGrpSpPr>
          <p:grpSpPr>
            <a:xfrm rot="0">
              <a:off x="1316736" y="260819"/>
              <a:ext cx="9102269" cy="563494"/>
              <a:chOff x="0" y="0"/>
              <a:chExt cx="10972800" cy="679293"/>
            </a:xfrm>
          </p:grpSpPr>
          <p:sp>
            <p:nvSpPr>
              <p:cNvPr name="Freeform 42" id="42">
                <a:hlinkClick r:id="rId7" tooltip="https://canva.link/j1m0vdglw23sasg"/>
              </p:cNvPr>
              <p:cNvSpPr/>
              <p:nvPr/>
            </p:nvSpPr>
            <p:spPr>
              <a:xfrm flipH="false" flipV="false" rot="0">
                <a:off x="0" y="0"/>
                <a:ext cx="10972800" cy="679293"/>
              </a:xfrm>
              <a:custGeom>
                <a:avLst/>
                <a:gdLst/>
                <a:ahLst/>
                <a:cxnLst/>
                <a:rect r="r" b="b" t="t" l="l"/>
                <a:pathLst>
                  <a:path h="679293" w="10972800">
                    <a:moveTo>
                      <a:pt x="0" y="0"/>
                    </a:moveTo>
                    <a:lnTo>
                      <a:pt x="10972800" y="0"/>
                    </a:lnTo>
                    <a:lnTo>
                      <a:pt x="10972800" y="679293"/>
                    </a:lnTo>
                    <a:lnTo>
                      <a:pt x="0" y="679293"/>
                    </a:lnTo>
                    <a:close/>
                  </a:path>
                </a:pathLst>
              </a:custGeom>
              <a:blipFill>
                <a:blip r:embed="rId2">
                  <a:alphaModFix amt="0"/>
                </a:blip>
                <a:stretch>
                  <a:fillRect l="0" t="-281094" r="0" b="-248399"/>
                </a:stretch>
              </a:blipFill>
            </p:spPr>
          </p:sp>
          <p:sp>
            <p:nvSpPr>
              <p:cNvPr name="TextBox 43" id="43"/>
              <p:cNvSpPr txBox="true"/>
              <p:nvPr/>
            </p:nvSpPr>
            <p:spPr>
              <a:xfrm>
                <a:off x="0" y="-19050"/>
                <a:ext cx="10972800" cy="698343"/>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8" tooltip="https://canva.link/j1m0vdglw23sasg"/>
                  </a:rPr>
                  <a:t>Group 6  |  Data Analytics Capstone</a:t>
                </a:r>
              </a:p>
            </p:txBody>
          </p:sp>
        </p:grpSp>
        <p:sp>
          <p:nvSpPr>
            <p:cNvPr name="Freeform 44" id="44">
              <a:hlinkClick r:id="rId11"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Three questions the business needs answered</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Objectives framed as decisions, not as analytical tasks.</a:t>
              </a:r>
            </a:p>
          </p:txBody>
        </p:sp>
      </p:grpSp>
      <p:grpSp>
        <p:nvGrpSpPr>
          <p:cNvPr name="Group 8" id="8"/>
          <p:cNvGrpSpPr/>
          <p:nvPr/>
        </p:nvGrpSpPr>
        <p:grpSpPr>
          <a:xfrm rot="0">
            <a:off x="987552" y="2948940"/>
            <a:ext cx="987552" cy="987552"/>
            <a:chOff x="0" y="0"/>
            <a:chExt cx="1316736" cy="1316736"/>
          </a:xfrm>
        </p:grpSpPr>
        <p:sp>
          <p:nvSpPr>
            <p:cNvPr name="Freeform 9" id="9"/>
            <p:cNvSpPr/>
            <p:nvPr/>
          </p:nvSpPr>
          <p:spPr>
            <a:xfrm flipH="false" flipV="false" rot="0">
              <a:off x="0" y="0"/>
              <a:ext cx="1316736" cy="1316736"/>
            </a:xfrm>
            <a:custGeom>
              <a:avLst/>
              <a:gdLst/>
              <a:ahLst/>
              <a:cxnLst/>
              <a:rect r="r" b="b" t="t" l="l"/>
              <a:pathLst>
                <a:path h="1316736" w="1316736">
                  <a:moveTo>
                    <a:pt x="0" y="658368"/>
                  </a:moveTo>
                  <a:cubicBezTo>
                    <a:pt x="0" y="294767"/>
                    <a:pt x="294767" y="0"/>
                    <a:pt x="658368" y="0"/>
                  </a:cubicBezTo>
                  <a:cubicBezTo>
                    <a:pt x="1021969" y="0"/>
                    <a:pt x="1316736" y="294767"/>
                    <a:pt x="1316736" y="658368"/>
                  </a:cubicBezTo>
                  <a:cubicBezTo>
                    <a:pt x="1316736" y="1021969"/>
                    <a:pt x="1021969" y="1316736"/>
                    <a:pt x="658368" y="1316736"/>
                  </a:cubicBezTo>
                  <a:cubicBezTo>
                    <a:pt x="294767" y="1316736"/>
                    <a:pt x="0" y="1021969"/>
                    <a:pt x="0" y="658368"/>
                  </a:cubicBezTo>
                  <a:close/>
                </a:path>
              </a:pathLst>
            </a:custGeom>
            <a:solidFill>
              <a:srgbClr val="A100FF"/>
            </a:solidFill>
          </p:spPr>
        </p:sp>
      </p:grpSp>
      <p:grpSp>
        <p:nvGrpSpPr>
          <p:cNvPr name="Group 10" id="10"/>
          <p:cNvGrpSpPr/>
          <p:nvPr/>
        </p:nvGrpSpPr>
        <p:grpSpPr>
          <a:xfrm rot="0">
            <a:off x="987552" y="2948940"/>
            <a:ext cx="987552" cy="987552"/>
            <a:chOff x="0" y="0"/>
            <a:chExt cx="1316736" cy="1316736"/>
          </a:xfrm>
        </p:grpSpPr>
        <p:sp>
          <p:nvSpPr>
            <p:cNvPr name="Freeform 11" id="1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2">
                <a:alphaModFix amt="0"/>
              </a:blip>
              <a:stretch>
                <a:fillRect l="-78303" t="0" r="-78303" b="0"/>
              </a:stretch>
            </a:blipFill>
          </p:spPr>
        </p:sp>
        <p:sp>
          <p:nvSpPr>
            <p:cNvPr name="TextBox 12" id="12"/>
            <p:cNvSpPr txBox="true"/>
            <p:nvPr/>
          </p:nvSpPr>
          <p:spPr>
            <a:xfrm>
              <a:off x="0" y="-9525"/>
              <a:ext cx="1316736" cy="1326261"/>
            </a:xfrm>
            <a:prstGeom prst="rect">
              <a:avLst/>
            </a:prstGeom>
          </p:spPr>
          <p:txBody>
            <a:bodyPr anchor="ctr" rtlCol="false" tIns="0" lIns="0" bIns="0" rIns="0"/>
            <a:lstStyle/>
            <a:p>
              <a:pPr algn="ctr">
                <a:lnSpc>
                  <a:spcPts val="3060"/>
                </a:lnSpc>
              </a:pPr>
              <a:r>
                <a:rPr lang="en-US" sz="2550" b="true">
                  <a:solidFill>
                    <a:srgbClr val="FFFFFF"/>
                  </a:solidFill>
                  <a:latin typeface="Arial Bold"/>
                  <a:ea typeface="Arial Bold"/>
                  <a:cs typeface="Arial Bold"/>
                  <a:sym typeface="Arial Bold"/>
                </a:rPr>
                <a:t>01</a:t>
              </a:r>
            </a:p>
          </p:txBody>
        </p:sp>
      </p:grpSp>
      <p:grpSp>
        <p:nvGrpSpPr>
          <p:cNvPr name="Group 13" id="13"/>
          <p:cNvGrpSpPr/>
          <p:nvPr/>
        </p:nvGrpSpPr>
        <p:grpSpPr>
          <a:xfrm rot="0">
            <a:off x="2427732" y="2976372"/>
            <a:ext cx="14538960" cy="576072"/>
            <a:chOff x="0" y="0"/>
            <a:chExt cx="19385280" cy="768096"/>
          </a:xfrm>
        </p:grpSpPr>
        <p:sp>
          <p:nvSpPr>
            <p:cNvPr name="Freeform 14" id="14"/>
            <p:cNvSpPr/>
            <p:nvPr/>
          </p:nvSpPr>
          <p:spPr>
            <a:xfrm flipH="false" flipV="false" rot="0">
              <a:off x="0" y="0"/>
              <a:ext cx="19385280" cy="768096"/>
            </a:xfrm>
            <a:custGeom>
              <a:avLst/>
              <a:gdLst/>
              <a:ahLst/>
              <a:cxnLst/>
              <a:rect r="r" b="b" t="t" l="l"/>
              <a:pathLst>
                <a:path h="768096" w="19385280">
                  <a:moveTo>
                    <a:pt x="0" y="0"/>
                  </a:moveTo>
                  <a:lnTo>
                    <a:pt x="19385280" y="0"/>
                  </a:lnTo>
                  <a:lnTo>
                    <a:pt x="19385280" y="768096"/>
                  </a:lnTo>
                  <a:lnTo>
                    <a:pt x="0" y="768096"/>
                  </a:lnTo>
                  <a:close/>
                </a:path>
              </a:pathLst>
            </a:custGeom>
            <a:blipFill>
              <a:blip r:embed="rId2">
                <a:alphaModFix amt="0"/>
              </a:blip>
              <a:stretch>
                <a:fillRect l="0" t="-441765" r="0" b="-441765"/>
              </a:stretch>
            </a:blipFill>
          </p:spPr>
        </p:sp>
        <p:sp>
          <p:nvSpPr>
            <p:cNvPr name="TextBox 15" id="15"/>
            <p:cNvSpPr txBox="true"/>
            <p:nvPr/>
          </p:nvSpPr>
          <p:spPr>
            <a:xfrm>
              <a:off x="0" y="-9525"/>
              <a:ext cx="19385280" cy="777621"/>
            </a:xfrm>
            <a:prstGeom prst="rect">
              <a:avLst/>
            </a:prstGeom>
          </p:spPr>
          <p:txBody>
            <a:bodyPr anchor="ctr" rtlCol="false" tIns="0" lIns="0" bIns="0" rIns="0"/>
            <a:lstStyle/>
            <a:p>
              <a:pPr algn="l">
                <a:lnSpc>
                  <a:spcPts val="3060"/>
                </a:lnSpc>
              </a:pPr>
              <a:r>
                <a:rPr lang="en-US" sz="2550" b="true">
                  <a:solidFill>
                    <a:srgbClr val="000000"/>
                  </a:solidFill>
                  <a:latin typeface="Arial Bold"/>
                  <a:ea typeface="Arial Bold"/>
                  <a:cs typeface="Arial Bold"/>
                  <a:sym typeface="Arial Bold"/>
                </a:rPr>
                <a:t>Who is least likely to complete - and how early can we see it?</a:t>
              </a:r>
            </a:p>
          </p:txBody>
        </p:sp>
      </p:grpSp>
      <p:grpSp>
        <p:nvGrpSpPr>
          <p:cNvPr name="Group 16" id="16"/>
          <p:cNvGrpSpPr/>
          <p:nvPr/>
        </p:nvGrpSpPr>
        <p:grpSpPr>
          <a:xfrm rot="0">
            <a:off x="2427732" y="3607308"/>
            <a:ext cx="14538960" cy="822960"/>
            <a:chOff x="0" y="0"/>
            <a:chExt cx="19385280" cy="1097280"/>
          </a:xfrm>
        </p:grpSpPr>
        <p:sp>
          <p:nvSpPr>
            <p:cNvPr name="Freeform 17" id="17"/>
            <p:cNvSpPr/>
            <p:nvPr/>
          </p:nvSpPr>
          <p:spPr>
            <a:xfrm flipH="false" flipV="false" rot="0">
              <a:off x="0" y="0"/>
              <a:ext cx="19385280" cy="1097280"/>
            </a:xfrm>
            <a:custGeom>
              <a:avLst/>
              <a:gdLst/>
              <a:ahLst/>
              <a:cxnLst/>
              <a:rect r="r" b="b" t="t" l="l"/>
              <a:pathLst>
                <a:path h="1097280" w="19385280">
                  <a:moveTo>
                    <a:pt x="0" y="0"/>
                  </a:moveTo>
                  <a:lnTo>
                    <a:pt x="19385280" y="0"/>
                  </a:lnTo>
                  <a:lnTo>
                    <a:pt x="19385280" y="1097280"/>
                  </a:lnTo>
                  <a:lnTo>
                    <a:pt x="0" y="1097280"/>
                  </a:lnTo>
                  <a:close/>
                </a:path>
              </a:pathLst>
            </a:custGeom>
            <a:blipFill>
              <a:blip r:embed="rId2">
                <a:alphaModFix amt="0"/>
              </a:blip>
              <a:stretch>
                <a:fillRect l="0" t="-294235" r="0" b="-294235"/>
              </a:stretch>
            </a:blipFill>
          </p:spPr>
        </p:sp>
        <p:sp>
          <p:nvSpPr>
            <p:cNvPr name="TextBox 18" id="18"/>
            <p:cNvSpPr txBox="true"/>
            <p:nvPr/>
          </p:nvSpPr>
          <p:spPr>
            <a:xfrm>
              <a:off x="0" y="-28575"/>
              <a:ext cx="19385280" cy="1125855"/>
            </a:xfrm>
            <a:prstGeom prst="rect">
              <a:avLst/>
            </a:prstGeom>
          </p:spPr>
          <p:txBody>
            <a:bodyPr anchor="ctr" rtlCol="false" tIns="0" lIns="0" bIns="0" rIns="0"/>
            <a:lstStyle/>
            <a:p>
              <a:pPr algn="l">
                <a:lnSpc>
                  <a:spcPts val="2250"/>
                </a:lnSpc>
              </a:pPr>
              <a:r>
                <a:rPr lang="en-US" sz="1875">
                  <a:solidFill>
                    <a:srgbClr val="585858"/>
                  </a:solidFill>
                  <a:latin typeface="Arial"/>
                  <a:ea typeface="Arial"/>
                  <a:cs typeface="Arial"/>
                  <a:sym typeface="Arial"/>
                </a:rPr>
                <a:t>Requires a signal observable during the course, not after it.</a:t>
              </a:r>
            </a:p>
          </p:txBody>
        </p:sp>
      </p:grpSp>
      <p:grpSp>
        <p:nvGrpSpPr>
          <p:cNvPr name="Group 19" id="19"/>
          <p:cNvGrpSpPr/>
          <p:nvPr/>
        </p:nvGrpSpPr>
        <p:grpSpPr>
          <a:xfrm rot="0">
            <a:off x="987552" y="4896612"/>
            <a:ext cx="987552" cy="987552"/>
            <a:chOff x="0" y="0"/>
            <a:chExt cx="1316736" cy="1316736"/>
          </a:xfrm>
        </p:grpSpPr>
        <p:sp>
          <p:nvSpPr>
            <p:cNvPr name="Freeform 20" id="20"/>
            <p:cNvSpPr/>
            <p:nvPr/>
          </p:nvSpPr>
          <p:spPr>
            <a:xfrm flipH="false" flipV="false" rot="0">
              <a:off x="0" y="0"/>
              <a:ext cx="1316736" cy="1316736"/>
            </a:xfrm>
            <a:custGeom>
              <a:avLst/>
              <a:gdLst/>
              <a:ahLst/>
              <a:cxnLst/>
              <a:rect r="r" b="b" t="t" l="l"/>
              <a:pathLst>
                <a:path h="1316736" w="1316736">
                  <a:moveTo>
                    <a:pt x="0" y="658368"/>
                  </a:moveTo>
                  <a:cubicBezTo>
                    <a:pt x="0" y="294767"/>
                    <a:pt x="294767" y="0"/>
                    <a:pt x="658368" y="0"/>
                  </a:cubicBezTo>
                  <a:cubicBezTo>
                    <a:pt x="1021969" y="0"/>
                    <a:pt x="1316736" y="294767"/>
                    <a:pt x="1316736" y="658368"/>
                  </a:cubicBezTo>
                  <a:cubicBezTo>
                    <a:pt x="1316736" y="1021969"/>
                    <a:pt x="1021969" y="1316736"/>
                    <a:pt x="658368" y="1316736"/>
                  </a:cubicBezTo>
                  <a:cubicBezTo>
                    <a:pt x="294767" y="1316736"/>
                    <a:pt x="0" y="1021969"/>
                    <a:pt x="0" y="658368"/>
                  </a:cubicBezTo>
                  <a:close/>
                </a:path>
              </a:pathLst>
            </a:custGeom>
            <a:solidFill>
              <a:srgbClr val="A100FF"/>
            </a:solidFill>
          </p:spPr>
        </p:sp>
      </p:grpSp>
      <p:grpSp>
        <p:nvGrpSpPr>
          <p:cNvPr name="Group 21" id="21"/>
          <p:cNvGrpSpPr/>
          <p:nvPr/>
        </p:nvGrpSpPr>
        <p:grpSpPr>
          <a:xfrm rot="0">
            <a:off x="987552" y="4896612"/>
            <a:ext cx="987552" cy="987552"/>
            <a:chOff x="0" y="0"/>
            <a:chExt cx="1316736" cy="1316736"/>
          </a:xfrm>
        </p:grpSpPr>
        <p:sp>
          <p:nvSpPr>
            <p:cNvPr name="Freeform 22" id="22"/>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2">
                <a:alphaModFix amt="0"/>
              </a:blip>
              <a:stretch>
                <a:fillRect l="-78303" t="0" r="-78303" b="0"/>
              </a:stretch>
            </a:blipFill>
          </p:spPr>
        </p:sp>
        <p:sp>
          <p:nvSpPr>
            <p:cNvPr name="TextBox 23" id="23"/>
            <p:cNvSpPr txBox="true"/>
            <p:nvPr/>
          </p:nvSpPr>
          <p:spPr>
            <a:xfrm>
              <a:off x="0" y="-9525"/>
              <a:ext cx="1316736" cy="1326261"/>
            </a:xfrm>
            <a:prstGeom prst="rect">
              <a:avLst/>
            </a:prstGeom>
          </p:spPr>
          <p:txBody>
            <a:bodyPr anchor="ctr" rtlCol="false" tIns="0" lIns="0" bIns="0" rIns="0"/>
            <a:lstStyle/>
            <a:p>
              <a:pPr algn="ctr">
                <a:lnSpc>
                  <a:spcPts val="3060"/>
                </a:lnSpc>
              </a:pPr>
              <a:r>
                <a:rPr lang="en-US" sz="2550" b="true">
                  <a:solidFill>
                    <a:srgbClr val="FFFFFF"/>
                  </a:solidFill>
                  <a:latin typeface="Arial Bold"/>
                  <a:ea typeface="Arial Bold"/>
                  <a:cs typeface="Arial Bold"/>
                  <a:sym typeface="Arial Bold"/>
                </a:rPr>
                <a:t>02</a:t>
              </a:r>
            </a:p>
          </p:txBody>
        </p:sp>
      </p:grpSp>
      <p:grpSp>
        <p:nvGrpSpPr>
          <p:cNvPr name="Group 24" id="24"/>
          <p:cNvGrpSpPr/>
          <p:nvPr/>
        </p:nvGrpSpPr>
        <p:grpSpPr>
          <a:xfrm rot="0">
            <a:off x="2427732" y="4924044"/>
            <a:ext cx="14538960" cy="576072"/>
            <a:chOff x="0" y="0"/>
            <a:chExt cx="19385280" cy="768096"/>
          </a:xfrm>
        </p:grpSpPr>
        <p:sp>
          <p:nvSpPr>
            <p:cNvPr name="Freeform 25" id="25"/>
            <p:cNvSpPr/>
            <p:nvPr/>
          </p:nvSpPr>
          <p:spPr>
            <a:xfrm flipH="false" flipV="false" rot="0">
              <a:off x="0" y="0"/>
              <a:ext cx="19385280" cy="768096"/>
            </a:xfrm>
            <a:custGeom>
              <a:avLst/>
              <a:gdLst/>
              <a:ahLst/>
              <a:cxnLst/>
              <a:rect r="r" b="b" t="t" l="l"/>
              <a:pathLst>
                <a:path h="768096" w="19385280">
                  <a:moveTo>
                    <a:pt x="0" y="0"/>
                  </a:moveTo>
                  <a:lnTo>
                    <a:pt x="19385280" y="0"/>
                  </a:lnTo>
                  <a:lnTo>
                    <a:pt x="19385280" y="768096"/>
                  </a:lnTo>
                  <a:lnTo>
                    <a:pt x="0" y="768096"/>
                  </a:lnTo>
                  <a:close/>
                </a:path>
              </a:pathLst>
            </a:custGeom>
            <a:blipFill>
              <a:blip r:embed="rId2">
                <a:alphaModFix amt="0"/>
              </a:blip>
              <a:stretch>
                <a:fillRect l="0" t="-441765" r="0" b="-441765"/>
              </a:stretch>
            </a:blipFill>
          </p:spPr>
        </p:sp>
        <p:sp>
          <p:nvSpPr>
            <p:cNvPr name="TextBox 26" id="26"/>
            <p:cNvSpPr txBox="true"/>
            <p:nvPr/>
          </p:nvSpPr>
          <p:spPr>
            <a:xfrm>
              <a:off x="0" y="-9525"/>
              <a:ext cx="19385280" cy="777621"/>
            </a:xfrm>
            <a:prstGeom prst="rect">
              <a:avLst/>
            </a:prstGeom>
          </p:spPr>
          <p:txBody>
            <a:bodyPr anchor="ctr" rtlCol="false" tIns="0" lIns="0" bIns="0" rIns="0"/>
            <a:lstStyle/>
            <a:p>
              <a:pPr algn="l">
                <a:lnSpc>
                  <a:spcPts val="3060"/>
                </a:lnSpc>
              </a:pPr>
              <a:r>
                <a:rPr lang="en-US" sz="2550" b="true">
                  <a:solidFill>
                    <a:srgbClr val="000000"/>
                  </a:solidFill>
                  <a:latin typeface="Arial Bold"/>
                  <a:ea typeface="Arial Bold"/>
                  <a:cs typeface="Arial Bold"/>
                  <a:sym typeface="Arial Bold"/>
                </a:rPr>
                <a:t>What separates completers from non-completers?</a:t>
              </a:r>
            </a:p>
          </p:txBody>
        </p:sp>
      </p:grpSp>
      <p:grpSp>
        <p:nvGrpSpPr>
          <p:cNvPr name="Group 27" id="27"/>
          <p:cNvGrpSpPr/>
          <p:nvPr/>
        </p:nvGrpSpPr>
        <p:grpSpPr>
          <a:xfrm rot="0">
            <a:off x="2427732" y="5554980"/>
            <a:ext cx="14538960" cy="822960"/>
            <a:chOff x="0" y="0"/>
            <a:chExt cx="19385280" cy="1097280"/>
          </a:xfrm>
        </p:grpSpPr>
        <p:sp>
          <p:nvSpPr>
            <p:cNvPr name="Freeform 28" id="28"/>
            <p:cNvSpPr/>
            <p:nvPr/>
          </p:nvSpPr>
          <p:spPr>
            <a:xfrm flipH="false" flipV="false" rot="0">
              <a:off x="0" y="0"/>
              <a:ext cx="19385280" cy="1097280"/>
            </a:xfrm>
            <a:custGeom>
              <a:avLst/>
              <a:gdLst/>
              <a:ahLst/>
              <a:cxnLst/>
              <a:rect r="r" b="b" t="t" l="l"/>
              <a:pathLst>
                <a:path h="1097280" w="19385280">
                  <a:moveTo>
                    <a:pt x="0" y="0"/>
                  </a:moveTo>
                  <a:lnTo>
                    <a:pt x="19385280" y="0"/>
                  </a:lnTo>
                  <a:lnTo>
                    <a:pt x="19385280" y="1097280"/>
                  </a:lnTo>
                  <a:lnTo>
                    <a:pt x="0" y="1097280"/>
                  </a:lnTo>
                  <a:close/>
                </a:path>
              </a:pathLst>
            </a:custGeom>
            <a:blipFill>
              <a:blip r:embed="rId2">
                <a:alphaModFix amt="0"/>
              </a:blip>
              <a:stretch>
                <a:fillRect l="0" t="-294235" r="0" b="-294235"/>
              </a:stretch>
            </a:blipFill>
          </p:spPr>
        </p:sp>
        <p:sp>
          <p:nvSpPr>
            <p:cNvPr name="TextBox 29" id="29"/>
            <p:cNvSpPr txBox="true"/>
            <p:nvPr/>
          </p:nvSpPr>
          <p:spPr>
            <a:xfrm>
              <a:off x="0" y="-28575"/>
              <a:ext cx="19385280" cy="1125855"/>
            </a:xfrm>
            <a:prstGeom prst="rect">
              <a:avLst/>
            </a:prstGeom>
          </p:spPr>
          <p:txBody>
            <a:bodyPr anchor="ctr" rtlCol="false" tIns="0" lIns="0" bIns="0" rIns="0"/>
            <a:lstStyle/>
            <a:p>
              <a:pPr algn="l">
                <a:lnSpc>
                  <a:spcPts val="2250"/>
                </a:lnSpc>
              </a:pPr>
              <a:r>
                <a:rPr lang="en-US" sz="1875">
                  <a:solidFill>
                    <a:srgbClr val="585858"/>
                  </a:solidFill>
                  <a:latin typeface="Arial"/>
                  <a:ea typeface="Arial"/>
                  <a:cs typeface="Arial"/>
                  <a:sym typeface="Arial"/>
                </a:rPr>
                <a:t>Three competing explanations tested against each other: who they are, what they study, how they behave.</a:t>
              </a:r>
            </a:p>
          </p:txBody>
        </p:sp>
      </p:grpSp>
      <p:grpSp>
        <p:nvGrpSpPr>
          <p:cNvPr name="Group 30" id="30"/>
          <p:cNvGrpSpPr/>
          <p:nvPr/>
        </p:nvGrpSpPr>
        <p:grpSpPr>
          <a:xfrm rot="0">
            <a:off x="987552" y="6844284"/>
            <a:ext cx="987552" cy="987552"/>
            <a:chOff x="0" y="0"/>
            <a:chExt cx="1316736" cy="1316736"/>
          </a:xfrm>
        </p:grpSpPr>
        <p:sp>
          <p:nvSpPr>
            <p:cNvPr name="Freeform 31" id="31"/>
            <p:cNvSpPr/>
            <p:nvPr/>
          </p:nvSpPr>
          <p:spPr>
            <a:xfrm flipH="false" flipV="false" rot="0">
              <a:off x="0" y="0"/>
              <a:ext cx="1316736" cy="1316736"/>
            </a:xfrm>
            <a:custGeom>
              <a:avLst/>
              <a:gdLst/>
              <a:ahLst/>
              <a:cxnLst/>
              <a:rect r="r" b="b" t="t" l="l"/>
              <a:pathLst>
                <a:path h="1316736" w="1316736">
                  <a:moveTo>
                    <a:pt x="0" y="658368"/>
                  </a:moveTo>
                  <a:cubicBezTo>
                    <a:pt x="0" y="294767"/>
                    <a:pt x="294767" y="0"/>
                    <a:pt x="658368" y="0"/>
                  </a:cubicBezTo>
                  <a:cubicBezTo>
                    <a:pt x="1021969" y="0"/>
                    <a:pt x="1316736" y="294767"/>
                    <a:pt x="1316736" y="658368"/>
                  </a:cubicBezTo>
                  <a:cubicBezTo>
                    <a:pt x="1316736" y="1021969"/>
                    <a:pt x="1021969" y="1316736"/>
                    <a:pt x="658368" y="1316736"/>
                  </a:cubicBezTo>
                  <a:cubicBezTo>
                    <a:pt x="294767" y="1316736"/>
                    <a:pt x="0" y="1021969"/>
                    <a:pt x="0" y="658368"/>
                  </a:cubicBezTo>
                  <a:close/>
                </a:path>
              </a:pathLst>
            </a:custGeom>
            <a:solidFill>
              <a:srgbClr val="A100FF"/>
            </a:solidFill>
          </p:spPr>
        </p:sp>
      </p:grpSp>
      <p:grpSp>
        <p:nvGrpSpPr>
          <p:cNvPr name="Group 32" id="32"/>
          <p:cNvGrpSpPr/>
          <p:nvPr/>
        </p:nvGrpSpPr>
        <p:grpSpPr>
          <a:xfrm rot="0">
            <a:off x="987552" y="6844284"/>
            <a:ext cx="987552" cy="987552"/>
            <a:chOff x="0" y="0"/>
            <a:chExt cx="1316736" cy="1316736"/>
          </a:xfrm>
        </p:grpSpPr>
        <p:sp>
          <p:nvSpPr>
            <p:cNvPr name="Freeform 33" id="33"/>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2">
                <a:alphaModFix amt="0"/>
              </a:blip>
              <a:stretch>
                <a:fillRect l="-78303" t="0" r="-78303" b="0"/>
              </a:stretch>
            </a:blipFill>
          </p:spPr>
        </p:sp>
        <p:sp>
          <p:nvSpPr>
            <p:cNvPr name="TextBox 34" id="34"/>
            <p:cNvSpPr txBox="true"/>
            <p:nvPr/>
          </p:nvSpPr>
          <p:spPr>
            <a:xfrm>
              <a:off x="0" y="-9525"/>
              <a:ext cx="1316736" cy="1326261"/>
            </a:xfrm>
            <a:prstGeom prst="rect">
              <a:avLst/>
            </a:prstGeom>
          </p:spPr>
          <p:txBody>
            <a:bodyPr anchor="ctr" rtlCol="false" tIns="0" lIns="0" bIns="0" rIns="0"/>
            <a:lstStyle/>
            <a:p>
              <a:pPr algn="ctr">
                <a:lnSpc>
                  <a:spcPts val="3060"/>
                </a:lnSpc>
              </a:pPr>
              <a:r>
                <a:rPr lang="en-US" sz="2550" b="true">
                  <a:solidFill>
                    <a:srgbClr val="FFFFFF"/>
                  </a:solidFill>
                  <a:latin typeface="Arial Bold"/>
                  <a:ea typeface="Arial Bold"/>
                  <a:cs typeface="Arial Bold"/>
                  <a:sym typeface="Arial Bold"/>
                </a:rPr>
                <a:t>03</a:t>
              </a:r>
            </a:p>
          </p:txBody>
        </p:sp>
      </p:grpSp>
      <p:grpSp>
        <p:nvGrpSpPr>
          <p:cNvPr name="Group 35" id="35"/>
          <p:cNvGrpSpPr/>
          <p:nvPr/>
        </p:nvGrpSpPr>
        <p:grpSpPr>
          <a:xfrm rot="0">
            <a:off x="2427732" y="6871716"/>
            <a:ext cx="14538960" cy="576072"/>
            <a:chOff x="0" y="0"/>
            <a:chExt cx="19385280" cy="768096"/>
          </a:xfrm>
        </p:grpSpPr>
        <p:sp>
          <p:nvSpPr>
            <p:cNvPr name="Freeform 36" id="36"/>
            <p:cNvSpPr/>
            <p:nvPr/>
          </p:nvSpPr>
          <p:spPr>
            <a:xfrm flipH="false" flipV="false" rot="0">
              <a:off x="0" y="0"/>
              <a:ext cx="19385280" cy="768096"/>
            </a:xfrm>
            <a:custGeom>
              <a:avLst/>
              <a:gdLst/>
              <a:ahLst/>
              <a:cxnLst/>
              <a:rect r="r" b="b" t="t" l="l"/>
              <a:pathLst>
                <a:path h="768096" w="19385280">
                  <a:moveTo>
                    <a:pt x="0" y="0"/>
                  </a:moveTo>
                  <a:lnTo>
                    <a:pt x="19385280" y="0"/>
                  </a:lnTo>
                  <a:lnTo>
                    <a:pt x="19385280" y="768096"/>
                  </a:lnTo>
                  <a:lnTo>
                    <a:pt x="0" y="768096"/>
                  </a:lnTo>
                  <a:close/>
                </a:path>
              </a:pathLst>
            </a:custGeom>
            <a:blipFill>
              <a:blip r:embed="rId2">
                <a:alphaModFix amt="0"/>
              </a:blip>
              <a:stretch>
                <a:fillRect l="0" t="-441765" r="0" b="-441765"/>
              </a:stretch>
            </a:blipFill>
          </p:spPr>
        </p:sp>
        <p:sp>
          <p:nvSpPr>
            <p:cNvPr name="TextBox 37" id="37"/>
            <p:cNvSpPr txBox="true"/>
            <p:nvPr/>
          </p:nvSpPr>
          <p:spPr>
            <a:xfrm>
              <a:off x="0" y="-9525"/>
              <a:ext cx="19385280" cy="777621"/>
            </a:xfrm>
            <a:prstGeom prst="rect">
              <a:avLst/>
            </a:prstGeom>
          </p:spPr>
          <p:txBody>
            <a:bodyPr anchor="ctr" rtlCol="false" tIns="0" lIns="0" bIns="0" rIns="0"/>
            <a:lstStyle/>
            <a:p>
              <a:pPr algn="l">
                <a:lnSpc>
                  <a:spcPts val="3060"/>
                </a:lnSpc>
              </a:pPr>
              <a:r>
                <a:rPr lang="en-US" sz="2550" b="true">
                  <a:solidFill>
                    <a:srgbClr val="000000"/>
                  </a:solidFill>
                  <a:latin typeface="Arial Bold"/>
                  <a:ea typeface="Arial Bold"/>
                  <a:cs typeface="Arial Bold"/>
                  <a:sym typeface="Arial Bold"/>
                </a:rPr>
                <a:t>What should the platform fund first?</a:t>
              </a:r>
            </a:p>
          </p:txBody>
        </p:sp>
      </p:grpSp>
      <p:grpSp>
        <p:nvGrpSpPr>
          <p:cNvPr name="Group 38" id="38"/>
          <p:cNvGrpSpPr/>
          <p:nvPr/>
        </p:nvGrpSpPr>
        <p:grpSpPr>
          <a:xfrm rot="0">
            <a:off x="2427732" y="7502652"/>
            <a:ext cx="14538960" cy="822960"/>
            <a:chOff x="0" y="0"/>
            <a:chExt cx="19385280" cy="1097280"/>
          </a:xfrm>
        </p:grpSpPr>
        <p:sp>
          <p:nvSpPr>
            <p:cNvPr name="Freeform 39" id="39"/>
            <p:cNvSpPr/>
            <p:nvPr/>
          </p:nvSpPr>
          <p:spPr>
            <a:xfrm flipH="false" flipV="false" rot="0">
              <a:off x="0" y="0"/>
              <a:ext cx="19385280" cy="1097280"/>
            </a:xfrm>
            <a:custGeom>
              <a:avLst/>
              <a:gdLst/>
              <a:ahLst/>
              <a:cxnLst/>
              <a:rect r="r" b="b" t="t" l="l"/>
              <a:pathLst>
                <a:path h="1097280" w="19385280">
                  <a:moveTo>
                    <a:pt x="0" y="0"/>
                  </a:moveTo>
                  <a:lnTo>
                    <a:pt x="19385280" y="0"/>
                  </a:lnTo>
                  <a:lnTo>
                    <a:pt x="19385280" y="1097280"/>
                  </a:lnTo>
                  <a:lnTo>
                    <a:pt x="0" y="1097280"/>
                  </a:lnTo>
                  <a:close/>
                </a:path>
              </a:pathLst>
            </a:custGeom>
            <a:blipFill>
              <a:blip r:embed="rId2">
                <a:alphaModFix amt="0"/>
              </a:blip>
              <a:stretch>
                <a:fillRect l="0" t="-294235" r="0" b="-294235"/>
              </a:stretch>
            </a:blipFill>
          </p:spPr>
        </p:sp>
        <p:sp>
          <p:nvSpPr>
            <p:cNvPr name="TextBox 40" id="40"/>
            <p:cNvSpPr txBox="true"/>
            <p:nvPr/>
          </p:nvSpPr>
          <p:spPr>
            <a:xfrm>
              <a:off x="0" y="-28575"/>
              <a:ext cx="19385280" cy="1125855"/>
            </a:xfrm>
            <a:prstGeom prst="rect">
              <a:avLst/>
            </a:prstGeom>
          </p:spPr>
          <p:txBody>
            <a:bodyPr anchor="ctr" rtlCol="false" tIns="0" lIns="0" bIns="0" rIns="0"/>
            <a:lstStyle/>
            <a:p>
              <a:pPr algn="l">
                <a:lnSpc>
                  <a:spcPts val="2250"/>
                </a:lnSpc>
              </a:pPr>
              <a:r>
                <a:rPr lang="en-US" sz="1875">
                  <a:solidFill>
                    <a:srgbClr val="585858"/>
                  </a:solidFill>
                  <a:latin typeface="Arial"/>
                  <a:ea typeface="Arial"/>
                  <a:cs typeface="Arial"/>
                  <a:sym typeface="Arial"/>
                </a:rPr>
                <a:t>Findings ranked by size of gap and by how directly the platform can act on them.</a:t>
              </a:r>
            </a:p>
          </p:txBody>
        </p:sp>
      </p:grpSp>
      <p:grpSp>
        <p:nvGrpSpPr>
          <p:cNvPr name="Group 41" id="41"/>
          <p:cNvGrpSpPr/>
          <p:nvPr/>
        </p:nvGrpSpPr>
        <p:grpSpPr>
          <a:xfrm rot="0">
            <a:off x="987552" y="8805672"/>
            <a:ext cx="14915729" cy="685800"/>
            <a:chOff x="0" y="0"/>
            <a:chExt cx="19887638" cy="914400"/>
          </a:xfrm>
        </p:grpSpPr>
        <p:sp>
          <p:nvSpPr>
            <p:cNvPr name="Freeform 42" id="42"/>
            <p:cNvSpPr/>
            <p:nvPr/>
          </p:nvSpPr>
          <p:spPr>
            <a:xfrm flipH="false" flipV="false" rot="0">
              <a:off x="0" y="0"/>
              <a:ext cx="19887637" cy="914400"/>
            </a:xfrm>
            <a:custGeom>
              <a:avLst/>
              <a:gdLst/>
              <a:ahLst/>
              <a:cxnLst/>
              <a:rect r="r" b="b" t="t" l="l"/>
              <a:pathLst>
                <a:path h="914400" w="19887637">
                  <a:moveTo>
                    <a:pt x="0" y="0"/>
                  </a:moveTo>
                  <a:lnTo>
                    <a:pt x="19887637" y="0"/>
                  </a:lnTo>
                  <a:lnTo>
                    <a:pt x="19887637" y="914400"/>
                  </a:lnTo>
                  <a:lnTo>
                    <a:pt x="0" y="914400"/>
                  </a:lnTo>
                  <a:close/>
                </a:path>
              </a:pathLst>
            </a:custGeom>
            <a:solidFill>
              <a:srgbClr val="F1F1F1"/>
            </a:solidFill>
          </p:spPr>
        </p:sp>
      </p:grpSp>
      <p:grpSp>
        <p:nvGrpSpPr>
          <p:cNvPr name="Group 43" id="43"/>
          <p:cNvGrpSpPr/>
          <p:nvPr/>
        </p:nvGrpSpPr>
        <p:grpSpPr>
          <a:xfrm rot="0">
            <a:off x="1330452" y="8462772"/>
            <a:ext cx="15636240" cy="685800"/>
            <a:chOff x="0" y="0"/>
            <a:chExt cx="20848320" cy="914400"/>
          </a:xfrm>
        </p:grpSpPr>
        <p:sp>
          <p:nvSpPr>
            <p:cNvPr name="Freeform 44" id="44"/>
            <p:cNvSpPr/>
            <p:nvPr/>
          </p:nvSpPr>
          <p:spPr>
            <a:xfrm flipH="false" flipV="false" rot="0">
              <a:off x="0" y="0"/>
              <a:ext cx="20848320" cy="914400"/>
            </a:xfrm>
            <a:custGeom>
              <a:avLst/>
              <a:gdLst/>
              <a:ahLst/>
              <a:cxnLst/>
              <a:rect r="r" b="b" t="t" l="l"/>
              <a:pathLst>
                <a:path h="914400" w="20848320">
                  <a:moveTo>
                    <a:pt x="0" y="0"/>
                  </a:moveTo>
                  <a:lnTo>
                    <a:pt x="20848320" y="0"/>
                  </a:lnTo>
                  <a:lnTo>
                    <a:pt x="20848320" y="914400"/>
                  </a:lnTo>
                  <a:lnTo>
                    <a:pt x="0" y="914400"/>
                  </a:lnTo>
                  <a:close/>
                </a:path>
              </a:pathLst>
            </a:custGeom>
            <a:blipFill>
              <a:blip r:embed="rId2">
                <a:alphaModFix amt="0"/>
              </a:blip>
              <a:stretch>
                <a:fillRect l="0" t="-394258" r="0" b="-394258"/>
              </a:stretch>
            </a:blipFill>
          </p:spPr>
        </p:sp>
        <p:sp>
          <p:nvSpPr>
            <p:cNvPr name="TextBox 45" id="45"/>
            <p:cNvSpPr txBox="true"/>
            <p:nvPr/>
          </p:nvSpPr>
          <p:spPr>
            <a:xfrm>
              <a:off x="0" y="-19050"/>
              <a:ext cx="20848320" cy="933450"/>
            </a:xfrm>
            <a:prstGeom prst="rect">
              <a:avLst/>
            </a:prstGeom>
          </p:spPr>
          <p:txBody>
            <a:bodyPr anchor="ctr" rtlCol="false" tIns="0" lIns="0" bIns="0" rIns="0"/>
            <a:lstStyle/>
            <a:p>
              <a:pPr algn="l">
                <a:lnSpc>
                  <a:spcPts val="2070"/>
                </a:lnSpc>
              </a:pPr>
              <a:r>
                <a:rPr lang="en-US" sz="1725">
                  <a:solidFill>
                    <a:srgbClr val="585858"/>
                  </a:solidFill>
                  <a:latin typeface="Arial"/>
                  <a:ea typeface="Arial"/>
                  <a:cs typeface="Arial"/>
                  <a:sym typeface="Arial"/>
                </a:rPr>
                <a:t>Scope   |   This dataset only. No external data, no deployed model. An analysis and reporting deliverable.</a:t>
              </a:r>
            </a:p>
          </p:txBody>
        </p:sp>
      </p:grpSp>
      <p:grpSp>
        <p:nvGrpSpPr>
          <p:cNvPr name="Group 46" id="46"/>
          <p:cNvGrpSpPr/>
          <p:nvPr/>
        </p:nvGrpSpPr>
        <p:grpSpPr>
          <a:xfrm rot="0">
            <a:off x="10424160" y="411480"/>
            <a:ext cx="5966460" cy="342900"/>
            <a:chOff x="0" y="0"/>
            <a:chExt cx="7955280" cy="457200"/>
          </a:xfrm>
        </p:grpSpPr>
        <p:sp>
          <p:nvSpPr>
            <p:cNvPr name="Freeform 47" id="47"/>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48" id="48"/>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49" id="49"/>
          <p:cNvGrpSpPr/>
          <p:nvPr/>
        </p:nvGrpSpPr>
        <p:grpSpPr>
          <a:xfrm rot="0">
            <a:off x="16486632" y="411480"/>
            <a:ext cx="205740" cy="342900"/>
            <a:chOff x="0" y="0"/>
            <a:chExt cx="274320" cy="457200"/>
          </a:xfrm>
        </p:grpSpPr>
        <p:sp>
          <p:nvSpPr>
            <p:cNvPr name="Freeform 50" id="50"/>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51" id="51"/>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52" id="52"/>
          <p:cNvGrpSpPr/>
          <p:nvPr/>
        </p:nvGrpSpPr>
        <p:grpSpPr>
          <a:xfrm rot="0">
            <a:off x="16664940" y="411480"/>
            <a:ext cx="685800" cy="342900"/>
            <a:chOff x="0" y="0"/>
            <a:chExt cx="914400" cy="457200"/>
          </a:xfrm>
        </p:grpSpPr>
        <p:sp>
          <p:nvSpPr>
            <p:cNvPr name="Freeform 53" id="53"/>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54" id="54"/>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4</a:t>
              </a:r>
            </a:p>
          </p:txBody>
        </p:sp>
      </p:grpSp>
      <p:grpSp>
        <p:nvGrpSpPr>
          <p:cNvPr name="Group 55" id="55"/>
          <p:cNvGrpSpPr/>
          <p:nvPr/>
        </p:nvGrpSpPr>
        <p:grpSpPr>
          <a:xfrm rot="0">
            <a:off x="987552" y="9601200"/>
            <a:ext cx="8229600" cy="342900"/>
            <a:chOff x="0" y="0"/>
            <a:chExt cx="10972800" cy="457200"/>
          </a:xfrm>
        </p:grpSpPr>
        <p:sp>
          <p:nvSpPr>
            <p:cNvPr name="Freeform 56" id="56"/>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57" id="57"/>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58" id="58"/>
          <p:cNvGrpSpPr/>
          <p:nvPr/>
        </p:nvGrpSpPr>
        <p:grpSpPr>
          <a:xfrm rot="0">
            <a:off x="0" y="9464040"/>
            <a:ext cx="18288000" cy="822960"/>
            <a:chOff x="0" y="0"/>
            <a:chExt cx="24384000" cy="1097280"/>
          </a:xfrm>
        </p:grpSpPr>
        <p:grpSp>
          <p:nvGrpSpPr>
            <p:cNvPr name="Group 59" id="59"/>
            <p:cNvGrpSpPr/>
            <p:nvPr/>
          </p:nvGrpSpPr>
          <p:grpSpPr>
            <a:xfrm rot="0">
              <a:off x="0" y="0"/>
              <a:ext cx="24384000" cy="1097280"/>
              <a:chOff x="0" y="0"/>
              <a:chExt cx="16256000" cy="731520"/>
            </a:xfrm>
          </p:grpSpPr>
          <p:sp>
            <p:nvSpPr>
              <p:cNvPr name="Freeform 60" id="60">
                <a:hlinkClick r:id="rId3"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4"/>
                <a:stretch>
                  <a:fillRect l="0" t="0" r="-45" b="-609"/>
                </a:stretch>
              </a:blipFill>
            </p:spPr>
          </p:sp>
        </p:grpSp>
        <p:grpSp>
          <p:nvGrpSpPr>
            <p:cNvPr name="Group 61" id="61"/>
            <p:cNvGrpSpPr/>
            <p:nvPr/>
          </p:nvGrpSpPr>
          <p:grpSpPr>
            <a:xfrm rot="0">
              <a:off x="1316736" y="182880"/>
              <a:ext cx="10972800" cy="457200"/>
              <a:chOff x="0" y="0"/>
              <a:chExt cx="10972800" cy="457200"/>
            </a:xfrm>
          </p:grpSpPr>
          <p:sp>
            <p:nvSpPr>
              <p:cNvPr name="Freeform 62" id="62">
                <a:hlinkClick r:id="rId5" tooltip="https://canva.link/j1m0vdglw23sasg"/>
              </p:cNvPr>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63" id="63"/>
              <p:cNvSpPr txBox="true"/>
              <p:nvPr/>
            </p:nvSpPr>
            <p:spPr>
              <a:xfrm>
                <a:off x="0" y="-19050"/>
                <a:ext cx="10972800" cy="476250"/>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6" tooltip="https://canva.link/j1m0vdglw23sasg"/>
                  </a:rPr>
                  <a:t>Group 6  |  Data Analytics Capstone</a:t>
                </a:r>
              </a:p>
            </p:txBody>
          </p:sp>
        </p:grpSp>
        <p:sp>
          <p:nvSpPr>
            <p:cNvPr name="Freeform 64" id="64">
              <a:hlinkClick r:id="rId9"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From a raw enrollment table to a decision system</a:t>
              </a:r>
            </a:p>
          </p:txBody>
        </p:sp>
      </p:grpSp>
      <p:grpSp>
        <p:nvGrpSpPr>
          <p:cNvPr name="Group 5" id="5"/>
          <p:cNvGrpSpPr/>
          <p:nvPr/>
        </p:nvGrpSpPr>
        <p:grpSpPr>
          <a:xfrm rot="0">
            <a:off x="10424160" y="411480"/>
            <a:ext cx="5966460" cy="342900"/>
            <a:chOff x="0" y="0"/>
            <a:chExt cx="7955280" cy="457200"/>
          </a:xfrm>
        </p:grpSpPr>
        <p:sp>
          <p:nvSpPr>
            <p:cNvPr name="Freeform 6" id="6"/>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7" id="7"/>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8" id="8"/>
          <p:cNvGrpSpPr/>
          <p:nvPr/>
        </p:nvGrpSpPr>
        <p:grpSpPr>
          <a:xfrm rot="0">
            <a:off x="16486632" y="411480"/>
            <a:ext cx="205740" cy="342900"/>
            <a:chOff x="0" y="0"/>
            <a:chExt cx="274320" cy="457200"/>
          </a:xfrm>
        </p:grpSpPr>
        <p:sp>
          <p:nvSpPr>
            <p:cNvPr name="Freeform 9" id="9"/>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10" id="10"/>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11" id="11"/>
          <p:cNvGrpSpPr/>
          <p:nvPr/>
        </p:nvGrpSpPr>
        <p:grpSpPr>
          <a:xfrm rot="0">
            <a:off x="16664940" y="411480"/>
            <a:ext cx="685800" cy="342900"/>
            <a:chOff x="0" y="0"/>
            <a:chExt cx="914400" cy="457200"/>
          </a:xfrm>
        </p:grpSpPr>
        <p:sp>
          <p:nvSpPr>
            <p:cNvPr name="Freeform 12" id="12"/>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13" id="13"/>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5</a:t>
              </a:r>
            </a:p>
          </p:txBody>
        </p:sp>
      </p:grpSp>
      <p:grpSp>
        <p:nvGrpSpPr>
          <p:cNvPr name="Group 14" id="14"/>
          <p:cNvGrpSpPr/>
          <p:nvPr/>
        </p:nvGrpSpPr>
        <p:grpSpPr>
          <a:xfrm rot="0">
            <a:off x="987552" y="1865376"/>
            <a:ext cx="16312439" cy="576072"/>
            <a:chOff x="0" y="0"/>
            <a:chExt cx="21749918" cy="768096"/>
          </a:xfrm>
        </p:grpSpPr>
        <p:sp>
          <p:nvSpPr>
            <p:cNvPr name="Freeform 15" id="15"/>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16" id="16"/>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Four moves, each one feeding the next.</a:t>
              </a:r>
            </a:p>
          </p:txBody>
        </p:sp>
      </p:grpSp>
      <p:grpSp>
        <p:nvGrpSpPr>
          <p:cNvPr name="Group 17" id="17"/>
          <p:cNvGrpSpPr/>
          <p:nvPr/>
        </p:nvGrpSpPr>
        <p:grpSpPr>
          <a:xfrm rot="0">
            <a:off x="987552" y="3223260"/>
            <a:ext cx="3730752" cy="3771900"/>
            <a:chOff x="0" y="0"/>
            <a:chExt cx="4974336" cy="5029200"/>
          </a:xfrm>
        </p:grpSpPr>
        <p:grpSp>
          <p:nvGrpSpPr>
            <p:cNvPr name="Group 18" id="18"/>
            <p:cNvGrpSpPr/>
            <p:nvPr/>
          </p:nvGrpSpPr>
          <p:grpSpPr>
            <a:xfrm rot="0">
              <a:off x="0" y="0"/>
              <a:ext cx="4974336" cy="5029200"/>
              <a:chOff x="0" y="0"/>
              <a:chExt cx="4974336" cy="5029200"/>
            </a:xfrm>
          </p:grpSpPr>
          <p:sp>
            <p:nvSpPr>
              <p:cNvPr name="Freeform 19" id="19"/>
              <p:cNvSpPr/>
              <p:nvPr/>
            </p:nvSpPr>
            <p:spPr>
              <a:xfrm flipH="false" flipV="false" rot="0">
                <a:off x="0" y="0"/>
                <a:ext cx="4974336" cy="5029200"/>
              </a:xfrm>
              <a:custGeom>
                <a:avLst/>
                <a:gdLst/>
                <a:ahLst/>
                <a:cxnLst/>
                <a:rect r="r" b="b" t="t" l="l"/>
                <a:pathLst>
                  <a:path h="5029200" w="4974336">
                    <a:moveTo>
                      <a:pt x="0" y="0"/>
                    </a:moveTo>
                    <a:lnTo>
                      <a:pt x="4974336" y="0"/>
                    </a:lnTo>
                    <a:lnTo>
                      <a:pt x="4974336" y="5029200"/>
                    </a:lnTo>
                    <a:lnTo>
                      <a:pt x="0" y="5029200"/>
                    </a:lnTo>
                    <a:close/>
                  </a:path>
                </a:pathLst>
              </a:custGeom>
              <a:solidFill>
                <a:srgbClr val="460073"/>
              </a:solidFill>
            </p:spPr>
          </p:sp>
        </p:grpSp>
        <p:grpSp>
          <p:nvGrpSpPr>
            <p:cNvPr name="Group 20" id="20"/>
            <p:cNvGrpSpPr/>
            <p:nvPr/>
          </p:nvGrpSpPr>
          <p:grpSpPr>
            <a:xfrm rot="0">
              <a:off x="475488" y="274320"/>
              <a:ext cx="4023360" cy="914400"/>
              <a:chOff x="0" y="0"/>
              <a:chExt cx="4023360" cy="914400"/>
            </a:xfrm>
          </p:grpSpPr>
          <p:sp>
            <p:nvSpPr>
              <p:cNvPr name="Freeform 21" id="21"/>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22" id="22"/>
              <p:cNvSpPr txBox="true"/>
              <p:nvPr/>
            </p:nvSpPr>
            <p:spPr>
              <a:xfrm>
                <a:off x="0" y="-19050"/>
                <a:ext cx="4023360" cy="933450"/>
              </a:xfrm>
              <a:prstGeom prst="rect">
                <a:avLst/>
              </a:prstGeom>
            </p:spPr>
            <p:txBody>
              <a:bodyPr anchor="ctr" rtlCol="false" tIns="0" lIns="0" bIns="0" rIns="0"/>
              <a:lstStyle/>
              <a:p>
                <a:pPr algn="l">
                  <a:lnSpc>
                    <a:spcPts val="2700"/>
                  </a:lnSpc>
                </a:pPr>
                <a:r>
                  <a:rPr lang="en-US" sz="2250" b="true">
                    <a:solidFill>
                      <a:srgbClr val="E6DCFF"/>
                    </a:solidFill>
                    <a:latin typeface="Arial Bold"/>
                    <a:ea typeface="Arial Bold"/>
                    <a:cs typeface="Arial Bold"/>
                    <a:sym typeface="Arial Bold"/>
                  </a:rPr>
                  <a:t>01</a:t>
                </a:r>
              </a:p>
            </p:txBody>
          </p:sp>
        </p:grpSp>
        <p:grpSp>
          <p:nvGrpSpPr>
            <p:cNvPr name="Group 23" id="23"/>
            <p:cNvGrpSpPr/>
            <p:nvPr/>
          </p:nvGrpSpPr>
          <p:grpSpPr>
            <a:xfrm rot="0">
              <a:off x="475488" y="1152144"/>
              <a:ext cx="4023360" cy="822960"/>
              <a:chOff x="0" y="0"/>
              <a:chExt cx="4023360" cy="822960"/>
            </a:xfrm>
          </p:grpSpPr>
          <p:sp>
            <p:nvSpPr>
              <p:cNvPr name="Freeform 24" id="2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2">
                  <a:alphaModFix amt="0"/>
                </a:blip>
                <a:stretch>
                  <a:fillRect l="0" t="-45260" r="0" b="-45260"/>
                </a:stretch>
              </a:blipFill>
            </p:spPr>
          </p:sp>
          <p:sp>
            <p:nvSpPr>
              <p:cNvPr name="TextBox 25" id="25"/>
              <p:cNvSpPr txBox="true"/>
              <p:nvPr/>
            </p:nvSpPr>
            <p:spPr>
              <a:xfrm>
                <a:off x="0" y="-9525"/>
                <a:ext cx="4023360" cy="83248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DIAGNOSE</a:t>
                </a:r>
              </a:p>
            </p:txBody>
          </p:sp>
        </p:grpSp>
        <p:grpSp>
          <p:nvGrpSpPr>
            <p:cNvPr name="Group 26" id="26"/>
            <p:cNvGrpSpPr/>
            <p:nvPr/>
          </p:nvGrpSpPr>
          <p:grpSpPr>
            <a:xfrm rot="0">
              <a:off x="475488" y="2103120"/>
              <a:ext cx="4096512" cy="2743200"/>
              <a:chOff x="0" y="0"/>
              <a:chExt cx="4096512" cy="2743200"/>
            </a:xfrm>
          </p:grpSpPr>
          <p:sp>
            <p:nvSpPr>
              <p:cNvPr name="Freeform 27" id="27"/>
              <p:cNvSpPr/>
              <p:nvPr/>
            </p:nvSpPr>
            <p:spPr>
              <a:xfrm flipH="false" flipV="false" rot="0">
                <a:off x="0" y="0"/>
                <a:ext cx="4096512" cy="2743200"/>
              </a:xfrm>
              <a:custGeom>
                <a:avLst/>
                <a:gdLst/>
                <a:ahLst/>
                <a:cxnLst/>
                <a:rect r="r" b="b" t="t" l="l"/>
                <a:pathLst>
                  <a:path h="2743200" w="4096512">
                    <a:moveTo>
                      <a:pt x="0" y="0"/>
                    </a:moveTo>
                    <a:lnTo>
                      <a:pt x="4096512" y="0"/>
                    </a:lnTo>
                    <a:lnTo>
                      <a:pt x="4096512" y="2743200"/>
                    </a:lnTo>
                    <a:lnTo>
                      <a:pt x="0" y="2743200"/>
                    </a:lnTo>
                    <a:close/>
                  </a:path>
                </a:pathLst>
              </a:custGeom>
              <a:blipFill>
                <a:blip r:embed="rId2">
                  <a:alphaModFix amt="0"/>
                </a:blip>
                <a:stretch>
                  <a:fillRect l="-35917" t="0" r="-35917" b="0"/>
                </a:stretch>
              </a:blipFill>
            </p:spPr>
          </p:sp>
          <p:sp>
            <p:nvSpPr>
              <p:cNvPr name="TextBox 28" id="28"/>
              <p:cNvSpPr txBox="true"/>
              <p:nvPr/>
            </p:nvSpPr>
            <p:spPr>
              <a:xfrm>
                <a:off x="0" y="-19050"/>
                <a:ext cx="4096512" cy="2762250"/>
              </a:xfrm>
              <a:prstGeom prst="rect">
                <a:avLst/>
              </a:prstGeom>
            </p:spPr>
            <p:txBody>
              <a:bodyPr anchor="ctr" rtlCol="false" tIns="0" lIns="0" bIns="0" rIns="0"/>
              <a:lstStyle/>
              <a:p>
                <a:pPr algn="l">
                  <a:lnSpc>
                    <a:spcPts val="2070"/>
                  </a:lnSpc>
                </a:pPr>
                <a:r>
                  <a:rPr lang="en-US" sz="1725">
                    <a:solidFill>
                      <a:srgbClr val="FFFFFF"/>
                    </a:solidFill>
                    <a:latin typeface="Arial"/>
                    <a:ea typeface="Arial"/>
                    <a:cs typeface="Arial"/>
                    <a:sym typeface="Arial"/>
                  </a:rPr>
                  <a:t>Profile 100,000 rows and test every field for logical consistency - not just for missing values</a:t>
                </a:r>
              </a:p>
            </p:txBody>
          </p:sp>
        </p:grpSp>
      </p:grpSp>
      <p:grpSp>
        <p:nvGrpSpPr>
          <p:cNvPr name="Group 29" id="29"/>
          <p:cNvGrpSpPr/>
          <p:nvPr/>
        </p:nvGrpSpPr>
        <p:grpSpPr>
          <a:xfrm rot="0">
            <a:off x="4773168" y="4663440"/>
            <a:ext cx="411480" cy="685800"/>
            <a:chOff x="0" y="0"/>
            <a:chExt cx="548640" cy="914400"/>
          </a:xfrm>
        </p:grpSpPr>
        <p:sp>
          <p:nvSpPr>
            <p:cNvPr name="Freeform 30" id="30"/>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2">
                <a:alphaModFix amt="0"/>
              </a:blip>
              <a:stretch>
                <a:fillRect l="-163839" t="0" r="-163839" b="0"/>
              </a:stretch>
            </a:blipFill>
          </p:spPr>
        </p:sp>
        <p:sp>
          <p:nvSpPr>
            <p:cNvPr name="TextBox 31" id="31"/>
            <p:cNvSpPr txBox="true"/>
            <p:nvPr/>
          </p:nvSpPr>
          <p:spPr>
            <a:xfrm>
              <a:off x="0" y="-28575"/>
              <a:ext cx="548640" cy="942975"/>
            </a:xfrm>
            <a:prstGeom prst="rect">
              <a:avLst/>
            </a:prstGeom>
          </p:spPr>
          <p:txBody>
            <a:bodyPr anchor="ctr" rtlCol="false" tIns="0" lIns="0" bIns="0" rIns="0"/>
            <a:lstStyle/>
            <a:p>
              <a:pPr algn="ctr">
                <a:lnSpc>
                  <a:spcPts val="3960"/>
                </a:lnSpc>
              </a:pPr>
              <a:r>
                <a:rPr lang="en-US" sz="3300" b="true">
                  <a:solidFill>
                    <a:srgbClr val="A100FF"/>
                  </a:solidFill>
                  <a:latin typeface="Arial Bold"/>
                  <a:ea typeface="Arial Bold"/>
                  <a:cs typeface="Arial Bold"/>
                  <a:sym typeface="Arial Bold"/>
                </a:rPr>
                <a:t>&gt;</a:t>
              </a:r>
            </a:p>
          </p:txBody>
        </p:sp>
      </p:grpSp>
      <p:grpSp>
        <p:nvGrpSpPr>
          <p:cNvPr name="Group 32" id="32"/>
          <p:cNvGrpSpPr/>
          <p:nvPr/>
        </p:nvGrpSpPr>
        <p:grpSpPr>
          <a:xfrm rot="0">
            <a:off x="5184648" y="3223260"/>
            <a:ext cx="3730752" cy="3771900"/>
            <a:chOff x="0" y="0"/>
            <a:chExt cx="4974336" cy="5029200"/>
          </a:xfrm>
        </p:grpSpPr>
        <p:grpSp>
          <p:nvGrpSpPr>
            <p:cNvPr name="Group 33" id="33"/>
            <p:cNvGrpSpPr/>
            <p:nvPr/>
          </p:nvGrpSpPr>
          <p:grpSpPr>
            <a:xfrm rot="0">
              <a:off x="0" y="0"/>
              <a:ext cx="4974336" cy="5029200"/>
              <a:chOff x="0" y="0"/>
              <a:chExt cx="4974336" cy="5029200"/>
            </a:xfrm>
          </p:grpSpPr>
          <p:sp>
            <p:nvSpPr>
              <p:cNvPr name="Freeform 34" id="34"/>
              <p:cNvSpPr/>
              <p:nvPr/>
            </p:nvSpPr>
            <p:spPr>
              <a:xfrm flipH="false" flipV="false" rot="0">
                <a:off x="0" y="0"/>
                <a:ext cx="4974336" cy="5029200"/>
              </a:xfrm>
              <a:custGeom>
                <a:avLst/>
                <a:gdLst/>
                <a:ahLst/>
                <a:cxnLst/>
                <a:rect r="r" b="b" t="t" l="l"/>
                <a:pathLst>
                  <a:path h="5029200" w="4974336">
                    <a:moveTo>
                      <a:pt x="0" y="0"/>
                    </a:moveTo>
                    <a:lnTo>
                      <a:pt x="4974336" y="0"/>
                    </a:lnTo>
                    <a:lnTo>
                      <a:pt x="4974336" y="5029200"/>
                    </a:lnTo>
                    <a:lnTo>
                      <a:pt x="0" y="5029200"/>
                    </a:lnTo>
                    <a:close/>
                  </a:path>
                </a:pathLst>
              </a:custGeom>
              <a:solidFill>
                <a:srgbClr val="7500C0"/>
              </a:solidFill>
            </p:spPr>
          </p:sp>
        </p:grpSp>
        <p:grpSp>
          <p:nvGrpSpPr>
            <p:cNvPr name="Group 35" id="35"/>
            <p:cNvGrpSpPr/>
            <p:nvPr/>
          </p:nvGrpSpPr>
          <p:grpSpPr>
            <a:xfrm rot="0">
              <a:off x="475488" y="274320"/>
              <a:ext cx="4023360" cy="914400"/>
              <a:chOff x="0" y="0"/>
              <a:chExt cx="4023360" cy="914400"/>
            </a:xfrm>
          </p:grpSpPr>
          <p:sp>
            <p:nvSpPr>
              <p:cNvPr name="Freeform 36" id="36"/>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37" id="37"/>
              <p:cNvSpPr txBox="true"/>
              <p:nvPr/>
            </p:nvSpPr>
            <p:spPr>
              <a:xfrm>
                <a:off x="0" y="-19050"/>
                <a:ext cx="4023360" cy="933450"/>
              </a:xfrm>
              <a:prstGeom prst="rect">
                <a:avLst/>
              </a:prstGeom>
            </p:spPr>
            <p:txBody>
              <a:bodyPr anchor="ctr" rtlCol="false" tIns="0" lIns="0" bIns="0" rIns="0"/>
              <a:lstStyle/>
              <a:p>
                <a:pPr algn="l">
                  <a:lnSpc>
                    <a:spcPts val="2700"/>
                  </a:lnSpc>
                </a:pPr>
                <a:r>
                  <a:rPr lang="en-US" sz="2250" b="true">
                    <a:solidFill>
                      <a:srgbClr val="E6DCFF"/>
                    </a:solidFill>
                    <a:latin typeface="Arial Bold"/>
                    <a:ea typeface="Arial Bold"/>
                    <a:cs typeface="Arial Bold"/>
                    <a:sym typeface="Arial Bold"/>
                  </a:rPr>
                  <a:t>02</a:t>
                </a:r>
              </a:p>
            </p:txBody>
          </p:sp>
        </p:grpSp>
        <p:grpSp>
          <p:nvGrpSpPr>
            <p:cNvPr name="Group 38" id="38"/>
            <p:cNvGrpSpPr/>
            <p:nvPr/>
          </p:nvGrpSpPr>
          <p:grpSpPr>
            <a:xfrm rot="0">
              <a:off x="475488" y="1152144"/>
              <a:ext cx="4023360" cy="822960"/>
              <a:chOff x="0" y="0"/>
              <a:chExt cx="4023360" cy="822960"/>
            </a:xfrm>
          </p:grpSpPr>
          <p:sp>
            <p:nvSpPr>
              <p:cNvPr name="Freeform 39" id="39"/>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2">
                  <a:alphaModFix amt="0"/>
                </a:blip>
                <a:stretch>
                  <a:fillRect l="0" t="-45260" r="0" b="-45260"/>
                </a:stretch>
              </a:blipFill>
            </p:spPr>
          </p:sp>
          <p:sp>
            <p:nvSpPr>
              <p:cNvPr name="TextBox 40" id="40"/>
              <p:cNvSpPr txBox="true"/>
              <p:nvPr/>
            </p:nvSpPr>
            <p:spPr>
              <a:xfrm>
                <a:off x="0" y="-9525"/>
                <a:ext cx="4023360" cy="83248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ENGINEER</a:t>
                </a:r>
              </a:p>
            </p:txBody>
          </p:sp>
        </p:grpSp>
        <p:grpSp>
          <p:nvGrpSpPr>
            <p:cNvPr name="Group 41" id="41"/>
            <p:cNvGrpSpPr/>
            <p:nvPr/>
          </p:nvGrpSpPr>
          <p:grpSpPr>
            <a:xfrm rot="0">
              <a:off x="475488" y="2103120"/>
              <a:ext cx="4096512" cy="2743200"/>
              <a:chOff x="0" y="0"/>
              <a:chExt cx="4096512" cy="2743200"/>
            </a:xfrm>
          </p:grpSpPr>
          <p:sp>
            <p:nvSpPr>
              <p:cNvPr name="Freeform 42" id="42"/>
              <p:cNvSpPr/>
              <p:nvPr/>
            </p:nvSpPr>
            <p:spPr>
              <a:xfrm flipH="false" flipV="false" rot="0">
                <a:off x="0" y="0"/>
                <a:ext cx="4096512" cy="2743200"/>
              </a:xfrm>
              <a:custGeom>
                <a:avLst/>
                <a:gdLst/>
                <a:ahLst/>
                <a:cxnLst/>
                <a:rect r="r" b="b" t="t" l="l"/>
                <a:pathLst>
                  <a:path h="2743200" w="4096512">
                    <a:moveTo>
                      <a:pt x="0" y="0"/>
                    </a:moveTo>
                    <a:lnTo>
                      <a:pt x="4096512" y="0"/>
                    </a:lnTo>
                    <a:lnTo>
                      <a:pt x="4096512" y="2743200"/>
                    </a:lnTo>
                    <a:lnTo>
                      <a:pt x="0" y="2743200"/>
                    </a:lnTo>
                    <a:close/>
                  </a:path>
                </a:pathLst>
              </a:custGeom>
              <a:blipFill>
                <a:blip r:embed="rId2">
                  <a:alphaModFix amt="0"/>
                </a:blip>
                <a:stretch>
                  <a:fillRect l="-35917" t="0" r="-35917" b="0"/>
                </a:stretch>
              </a:blipFill>
            </p:spPr>
          </p:sp>
          <p:sp>
            <p:nvSpPr>
              <p:cNvPr name="TextBox 43" id="43"/>
              <p:cNvSpPr txBox="true"/>
              <p:nvPr/>
            </p:nvSpPr>
            <p:spPr>
              <a:xfrm>
                <a:off x="0" y="-19050"/>
                <a:ext cx="4096512" cy="2762250"/>
              </a:xfrm>
              <a:prstGeom prst="rect">
                <a:avLst/>
              </a:prstGeom>
            </p:spPr>
            <p:txBody>
              <a:bodyPr anchor="ctr" rtlCol="false" tIns="0" lIns="0" bIns="0" rIns="0"/>
              <a:lstStyle/>
              <a:p>
                <a:pPr algn="l">
                  <a:lnSpc>
                    <a:spcPts val="2070"/>
                  </a:lnSpc>
                </a:pPr>
                <a:r>
                  <a:rPr lang="en-US" sz="1725">
                    <a:solidFill>
                      <a:srgbClr val="FFFFFF"/>
                    </a:solidFill>
                    <a:latin typeface="Arial"/>
                    <a:ea typeface="Arial"/>
                    <a:cs typeface="Arial"/>
                    <a:sym typeface="Arial"/>
                  </a:rPr>
                  <a:t>Expand 40 fields to 48, adding a composite engagement score and Low / Medium / High tiers</a:t>
                </a:r>
              </a:p>
            </p:txBody>
          </p:sp>
        </p:grpSp>
      </p:grpSp>
      <p:grpSp>
        <p:nvGrpSpPr>
          <p:cNvPr name="Group 44" id="44"/>
          <p:cNvGrpSpPr/>
          <p:nvPr/>
        </p:nvGrpSpPr>
        <p:grpSpPr>
          <a:xfrm rot="0">
            <a:off x="8970264" y="4663440"/>
            <a:ext cx="411480" cy="685800"/>
            <a:chOff x="0" y="0"/>
            <a:chExt cx="548640" cy="914400"/>
          </a:xfrm>
        </p:grpSpPr>
        <p:sp>
          <p:nvSpPr>
            <p:cNvPr name="Freeform 45" id="45"/>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2">
                <a:alphaModFix amt="0"/>
              </a:blip>
              <a:stretch>
                <a:fillRect l="-163839" t="0" r="-163839" b="0"/>
              </a:stretch>
            </a:blipFill>
          </p:spPr>
        </p:sp>
        <p:sp>
          <p:nvSpPr>
            <p:cNvPr name="TextBox 46" id="46"/>
            <p:cNvSpPr txBox="true"/>
            <p:nvPr/>
          </p:nvSpPr>
          <p:spPr>
            <a:xfrm>
              <a:off x="0" y="-28575"/>
              <a:ext cx="548640" cy="942975"/>
            </a:xfrm>
            <a:prstGeom prst="rect">
              <a:avLst/>
            </a:prstGeom>
          </p:spPr>
          <p:txBody>
            <a:bodyPr anchor="ctr" rtlCol="false" tIns="0" lIns="0" bIns="0" rIns="0"/>
            <a:lstStyle/>
            <a:p>
              <a:pPr algn="ctr">
                <a:lnSpc>
                  <a:spcPts val="3960"/>
                </a:lnSpc>
              </a:pPr>
              <a:r>
                <a:rPr lang="en-US" sz="3300" b="true">
                  <a:solidFill>
                    <a:srgbClr val="A100FF"/>
                  </a:solidFill>
                  <a:latin typeface="Arial Bold"/>
                  <a:ea typeface="Arial Bold"/>
                  <a:cs typeface="Arial Bold"/>
                  <a:sym typeface="Arial Bold"/>
                </a:rPr>
                <a:t>&gt;</a:t>
              </a:r>
            </a:p>
          </p:txBody>
        </p:sp>
      </p:grpSp>
      <p:grpSp>
        <p:nvGrpSpPr>
          <p:cNvPr name="Group 47" id="47"/>
          <p:cNvGrpSpPr/>
          <p:nvPr/>
        </p:nvGrpSpPr>
        <p:grpSpPr>
          <a:xfrm rot="0">
            <a:off x="9381744" y="3223260"/>
            <a:ext cx="3730752" cy="3771900"/>
            <a:chOff x="0" y="0"/>
            <a:chExt cx="4974336" cy="5029200"/>
          </a:xfrm>
        </p:grpSpPr>
        <p:grpSp>
          <p:nvGrpSpPr>
            <p:cNvPr name="Group 48" id="48"/>
            <p:cNvGrpSpPr/>
            <p:nvPr/>
          </p:nvGrpSpPr>
          <p:grpSpPr>
            <a:xfrm rot="0">
              <a:off x="0" y="0"/>
              <a:ext cx="4974336" cy="5029200"/>
              <a:chOff x="0" y="0"/>
              <a:chExt cx="4974336" cy="5029200"/>
            </a:xfrm>
          </p:grpSpPr>
          <p:sp>
            <p:nvSpPr>
              <p:cNvPr name="Freeform 49" id="49"/>
              <p:cNvSpPr/>
              <p:nvPr/>
            </p:nvSpPr>
            <p:spPr>
              <a:xfrm flipH="false" flipV="false" rot="0">
                <a:off x="0" y="0"/>
                <a:ext cx="4974336" cy="5029200"/>
              </a:xfrm>
              <a:custGeom>
                <a:avLst/>
                <a:gdLst/>
                <a:ahLst/>
                <a:cxnLst/>
                <a:rect r="r" b="b" t="t" l="l"/>
                <a:pathLst>
                  <a:path h="5029200" w="4974336">
                    <a:moveTo>
                      <a:pt x="0" y="0"/>
                    </a:moveTo>
                    <a:lnTo>
                      <a:pt x="4974336" y="0"/>
                    </a:lnTo>
                    <a:lnTo>
                      <a:pt x="4974336" y="5029200"/>
                    </a:lnTo>
                    <a:lnTo>
                      <a:pt x="0" y="5029200"/>
                    </a:lnTo>
                    <a:close/>
                  </a:path>
                </a:pathLst>
              </a:custGeom>
              <a:solidFill>
                <a:srgbClr val="A100FF"/>
              </a:solidFill>
            </p:spPr>
          </p:sp>
        </p:grpSp>
        <p:grpSp>
          <p:nvGrpSpPr>
            <p:cNvPr name="Group 50" id="50"/>
            <p:cNvGrpSpPr/>
            <p:nvPr/>
          </p:nvGrpSpPr>
          <p:grpSpPr>
            <a:xfrm rot="0">
              <a:off x="475488" y="274320"/>
              <a:ext cx="4023360" cy="914400"/>
              <a:chOff x="0" y="0"/>
              <a:chExt cx="4023360" cy="914400"/>
            </a:xfrm>
          </p:grpSpPr>
          <p:sp>
            <p:nvSpPr>
              <p:cNvPr name="Freeform 51" id="51"/>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52" id="52"/>
              <p:cNvSpPr txBox="true"/>
              <p:nvPr/>
            </p:nvSpPr>
            <p:spPr>
              <a:xfrm>
                <a:off x="0" y="-19050"/>
                <a:ext cx="4023360" cy="933450"/>
              </a:xfrm>
              <a:prstGeom prst="rect">
                <a:avLst/>
              </a:prstGeom>
            </p:spPr>
            <p:txBody>
              <a:bodyPr anchor="ctr" rtlCol="false" tIns="0" lIns="0" bIns="0" rIns="0"/>
              <a:lstStyle/>
              <a:p>
                <a:pPr algn="l">
                  <a:lnSpc>
                    <a:spcPts val="2700"/>
                  </a:lnSpc>
                </a:pPr>
                <a:r>
                  <a:rPr lang="en-US" sz="2250" b="true">
                    <a:solidFill>
                      <a:srgbClr val="E6DCFF"/>
                    </a:solidFill>
                    <a:latin typeface="Arial Bold"/>
                    <a:ea typeface="Arial Bold"/>
                    <a:cs typeface="Arial Bold"/>
                    <a:sym typeface="Arial Bold"/>
                  </a:rPr>
                  <a:t>03</a:t>
                </a:r>
              </a:p>
            </p:txBody>
          </p:sp>
        </p:grpSp>
        <p:grpSp>
          <p:nvGrpSpPr>
            <p:cNvPr name="Group 53" id="53"/>
            <p:cNvGrpSpPr/>
            <p:nvPr/>
          </p:nvGrpSpPr>
          <p:grpSpPr>
            <a:xfrm rot="0">
              <a:off x="475488" y="1152144"/>
              <a:ext cx="4023360" cy="822960"/>
              <a:chOff x="0" y="0"/>
              <a:chExt cx="4023360" cy="822960"/>
            </a:xfrm>
          </p:grpSpPr>
          <p:sp>
            <p:nvSpPr>
              <p:cNvPr name="Freeform 54" id="5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2">
                  <a:alphaModFix amt="0"/>
                </a:blip>
                <a:stretch>
                  <a:fillRect l="0" t="-45260" r="0" b="-45260"/>
                </a:stretch>
              </a:blipFill>
            </p:spPr>
          </p:sp>
          <p:sp>
            <p:nvSpPr>
              <p:cNvPr name="TextBox 55" id="55"/>
              <p:cNvSpPr txBox="true"/>
              <p:nvPr/>
            </p:nvSpPr>
            <p:spPr>
              <a:xfrm>
                <a:off x="0" y="-9525"/>
                <a:ext cx="4023360" cy="83248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SEGMENT</a:t>
                </a:r>
              </a:p>
            </p:txBody>
          </p:sp>
        </p:grpSp>
        <p:grpSp>
          <p:nvGrpSpPr>
            <p:cNvPr name="Group 56" id="56"/>
            <p:cNvGrpSpPr/>
            <p:nvPr/>
          </p:nvGrpSpPr>
          <p:grpSpPr>
            <a:xfrm rot="0">
              <a:off x="475488" y="2103120"/>
              <a:ext cx="4096512" cy="2743200"/>
              <a:chOff x="0" y="0"/>
              <a:chExt cx="4096512" cy="2743200"/>
            </a:xfrm>
          </p:grpSpPr>
          <p:sp>
            <p:nvSpPr>
              <p:cNvPr name="Freeform 57" id="57"/>
              <p:cNvSpPr/>
              <p:nvPr/>
            </p:nvSpPr>
            <p:spPr>
              <a:xfrm flipH="false" flipV="false" rot="0">
                <a:off x="0" y="0"/>
                <a:ext cx="4096512" cy="2743200"/>
              </a:xfrm>
              <a:custGeom>
                <a:avLst/>
                <a:gdLst/>
                <a:ahLst/>
                <a:cxnLst/>
                <a:rect r="r" b="b" t="t" l="l"/>
                <a:pathLst>
                  <a:path h="2743200" w="4096512">
                    <a:moveTo>
                      <a:pt x="0" y="0"/>
                    </a:moveTo>
                    <a:lnTo>
                      <a:pt x="4096512" y="0"/>
                    </a:lnTo>
                    <a:lnTo>
                      <a:pt x="4096512" y="2743200"/>
                    </a:lnTo>
                    <a:lnTo>
                      <a:pt x="0" y="2743200"/>
                    </a:lnTo>
                    <a:close/>
                  </a:path>
                </a:pathLst>
              </a:custGeom>
              <a:blipFill>
                <a:blip r:embed="rId2">
                  <a:alphaModFix amt="0"/>
                </a:blip>
                <a:stretch>
                  <a:fillRect l="-35917" t="0" r="-35917" b="0"/>
                </a:stretch>
              </a:blipFill>
            </p:spPr>
          </p:sp>
          <p:sp>
            <p:nvSpPr>
              <p:cNvPr name="TextBox 58" id="58"/>
              <p:cNvSpPr txBox="true"/>
              <p:nvPr/>
            </p:nvSpPr>
            <p:spPr>
              <a:xfrm>
                <a:off x="0" y="-19050"/>
                <a:ext cx="4096512" cy="2762250"/>
              </a:xfrm>
              <a:prstGeom prst="rect">
                <a:avLst/>
              </a:prstGeom>
            </p:spPr>
            <p:txBody>
              <a:bodyPr anchor="ctr" rtlCol="false" tIns="0" lIns="0" bIns="0" rIns="0"/>
              <a:lstStyle/>
              <a:p>
                <a:pPr algn="l">
                  <a:lnSpc>
                    <a:spcPts val="2070"/>
                  </a:lnSpc>
                </a:pPr>
                <a:r>
                  <a:rPr lang="en-US" sz="1725">
                    <a:solidFill>
                      <a:srgbClr val="FFFFFF"/>
                    </a:solidFill>
                    <a:latin typeface="Arial"/>
                    <a:ea typeface="Arial"/>
                    <a:cs typeface="Arial"/>
                    <a:sym typeface="Arial"/>
                  </a:rPr>
                  <a:t>Test demographic, course and behavioural explanations against each other</a:t>
                </a:r>
              </a:p>
            </p:txBody>
          </p:sp>
        </p:grpSp>
      </p:grpSp>
      <p:grpSp>
        <p:nvGrpSpPr>
          <p:cNvPr name="Group 59" id="59"/>
          <p:cNvGrpSpPr/>
          <p:nvPr/>
        </p:nvGrpSpPr>
        <p:grpSpPr>
          <a:xfrm rot="0">
            <a:off x="13167360" y="4663440"/>
            <a:ext cx="411480" cy="685800"/>
            <a:chOff x="0" y="0"/>
            <a:chExt cx="548640" cy="914400"/>
          </a:xfrm>
        </p:grpSpPr>
        <p:sp>
          <p:nvSpPr>
            <p:cNvPr name="Freeform 60" id="60"/>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2">
                <a:alphaModFix amt="0"/>
              </a:blip>
              <a:stretch>
                <a:fillRect l="-163839" t="0" r="-163839" b="0"/>
              </a:stretch>
            </a:blipFill>
          </p:spPr>
        </p:sp>
        <p:sp>
          <p:nvSpPr>
            <p:cNvPr name="TextBox 61" id="61"/>
            <p:cNvSpPr txBox="true"/>
            <p:nvPr/>
          </p:nvSpPr>
          <p:spPr>
            <a:xfrm>
              <a:off x="0" y="-28575"/>
              <a:ext cx="548640" cy="942975"/>
            </a:xfrm>
            <a:prstGeom prst="rect">
              <a:avLst/>
            </a:prstGeom>
          </p:spPr>
          <p:txBody>
            <a:bodyPr anchor="ctr" rtlCol="false" tIns="0" lIns="0" bIns="0" rIns="0"/>
            <a:lstStyle/>
            <a:p>
              <a:pPr algn="ctr">
                <a:lnSpc>
                  <a:spcPts val="3960"/>
                </a:lnSpc>
              </a:pPr>
              <a:r>
                <a:rPr lang="en-US" sz="3300" b="true">
                  <a:solidFill>
                    <a:srgbClr val="A100FF"/>
                  </a:solidFill>
                  <a:latin typeface="Arial Bold"/>
                  <a:ea typeface="Arial Bold"/>
                  <a:cs typeface="Arial Bold"/>
                  <a:sym typeface="Arial Bold"/>
                </a:rPr>
                <a:t>&gt;</a:t>
              </a:r>
            </a:p>
          </p:txBody>
        </p:sp>
      </p:grpSp>
      <p:grpSp>
        <p:nvGrpSpPr>
          <p:cNvPr name="Group 62" id="62"/>
          <p:cNvGrpSpPr/>
          <p:nvPr/>
        </p:nvGrpSpPr>
        <p:grpSpPr>
          <a:xfrm rot="0">
            <a:off x="13578840" y="3223260"/>
            <a:ext cx="3730752" cy="3771900"/>
            <a:chOff x="0" y="0"/>
            <a:chExt cx="4974336" cy="5029200"/>
          </a:xfrm>
        </p:grpSpPr>
        <p:grpSp>
          <p:nvGrpSpPr>
            <p:cNvPr name="Group 63" id="63"/>
            <p:cNvGrpSpPr/>
            <p:nvPr/>
          </p:nvGrpSpPr>
          <p:grpSpPr>
            <a:xfrm rot="0">
              <a:off x="0" y="0"/>
              <a:ext cx="4974336" cy="5029200"/>
              <a:chOff x="0" y="0"/>
              <a:chExt cx="4974336" cy="5029200"/>
            </a:xfrm>
          </p:grpSpPr>
          <p:sp>
            <p:nvSpPr>
              <p:cNvPr name="Freeform 64" id="64"/>
              <p:cNvSpPr/>
              <p:nvPr/>
            </p:nvSpPr>
            <p:spPr>
              <a:xfrm flipH="false" flipV="false" rot="0">
                <a:off x="0" y="0"/>
                <a:ext cx="4974336" cy="5029200"/>
              </a:xfrm>
              <a:custGeom>
                <a:avLst/>
                <a:gdLst/>
                <a:ahLst/>
                <a:cxnLst/>
                <a:rect r="r" b="b" t="t" l="l"/>
                <a:pathLst>
                  <a:path h="5029200" w="4974336">
                    <a:moveTo>
                      <a:pt x="0" y="0"/>
                    </a:moveTo>
                    <a:lnTo>
                      <a:pt x="4974336" y="0"/>
                    </a:lnTo>
                    <a:lnTo>
                      <a:pt x="4974336" y="5029200"/>
                    </a:lnTo>
                    <a:lnTo>
                      <a:pt x="0" y="5029200"/>
                    </a:lnTo>
                    <a:close/>
                  </a:path>
                </a:pathLst>
              </a:custGeom>
              <a:solidFill>
                <a:srgbClr val="BE82FF"/>
              </a:solidFill>
            </p:spPr>
          </p:sp>
        </p:grpSp>
        <p:grpSp>
          <p:nvGrpSpPr>
            <p:cNvPr name="Group 65" id="65"/>
            <p:cNvGrpSpPr/>
            <p:nvPr/>
          </p:nvGrpSpPr>
          <p:grpSpPr>
            <a:xfrm rot="0">
              <a:off x="475488" y="274320"/>
              <a:ext cx="4023360" cy="914400"/>
              <a:chOff x="0" y="0"/>
              <a:chExt cx="4023360" cy="914400"/>
            </a:xfrm>
          </p:grpSpPr>
          <p:sp>
            <p:nvSpPr>
              <p:cNvPr name="Freeform 66" id="66"/>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67" id="67"/>
              <p:cNvSpPr txBox="true"/>
              <p:nvPr/>
            </p:nvSpPr>
            <p:spPr>
              <a:xfrm>
                <a:off x="0" y="-19050"/>
                <a:ext cx="4023360" cy="933450"/>
              </a:xfrm>
              <a:prstGeom prst="rect">
                <a:avLst/>
              </a:prstGeom>
            </p:spPr>
            <p:txBody>
              <a:bodyPr anchor="ctr" rtlCol="false" tIns="0" lIns="0" bIns="0" rIns="0"/>
              <a:lstStyle/>
              <a:p>
                <a:pPr algn="l">
                  <a:lnSpc>
                    <a:spcPts val="2700"/>
                  </a:lnSpc>
                </a:pPr>
                <a:r>
                  <a:rPr lang="en-US" sz="2250" b="true">
                    <a:solidFill>
                      <a:srgbClr val="E6DCFF"/>
                    </a:solidFill>
                    <a:latin typeface="Arial Bold"/>
                    <a:ea typeface="Arial Bold"/>
                    <a:cs typeface="Arial Bold"/>
                    <a:sym typeface="Arial Bold"/>
                  </a:rPr>
                  <a:t>04</a:t>
                </a:r>
              </a:p>
            </p:txBody>
          </p:sp>
        </p:grpSp>
        <p:grpSp>
          <p:nvGrpSpPr>
            <p:cNvPr name="Group 68" id="68"/>
            <p:cNvGrpSpPr/>
            <p:nvPr/>
          </p:nvGrpSpPr>
          <p:grpSpPr>
            <a:xfrm rot="0">
              <a:off x="475488" y="1152144"/>
              <a:ext cx="4023360" cy="822960"/>
              <a:chOff x="0" y="0"/>
              <a:chExt cx="4023360" cy="822960"/>
            </a:xfrm>
          </p:grpSpPr>
          <p:sp>
            <p:nvSpPr>
              <p:cNvPr name="Freeform 69" id="69"/>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2">
                  <a:alphaModFix amt="0"/>
                </a:blip>
                <a:stretch>
                  <a:fillRect l="0" t="-45260" r="0" b="-45260"/>
                </a:stretch>
              </a:blipFill>
            </p:spPr>
          </p:sp>
          <p:sp>
            <p:nvSpPr>
              <p:cNvPr name="TextBox 70" id="70"/>
              <p:cNvSpPr txBox="true"/>
              <p:nvPr/>
            </p:nvSpPr>
            <p:spPr>
              <a:xfrm>
                <a:off x="0" y="-9525"/>
                <a:ext cx="4023360" cy="832485"/>
              </a:xfrm>
              <a:prstGeom prst="rect">
                <a:avLst/>
              </a:prstGeom>
            </p:spPr>
            <p:txBody>
              <a:bodyPr anchor="ctr" rtlCol="false" tIns="0" lIns="0" bIns="0" rIns="0"/>
              <a:lstStyle/>
              <a:p>
                <a:pPr algn="l">
                  <a:lnSpc>
                    <a:spcPts val="3060"/>
                  </a:lnSpc>
                </a:pPr>
                <a:r>
                  <a:rPr lang="en-US" sz="2550" b="true">
                    <a:solidFill>
                      <a:srgbClr val="FFFFFF"/>
                    </a:solidFill>
                    <a:latin typeface="Arial Bold"/>
                    <a:ea typeface="Arial Bold"/>
                    <a:cs typeface="Arial Bold"/>
                    <a:sym typeface="Arial Bold"/>
                  </a:rPr>
                  <a:t>ACT</a:t>
                </a:r>
              </a:p>
            </p:txBody>
          </p:sp>
        </p:grpSp>
        <p:grpSp>
          <p:nvGrpSpPr>
            <p:cNvPr name="Group 71" id="71"/>
            <p:cNvGrpSpPr/>
            <p:nvPr/>
          </p:nvGrpSpPr>
          <p:grpSpPr>
            <a:xfrm rot="0">
              <a:off x="475488" y="2103120"/>
              <a:ext cx="4096512" cy="2743200"/>
              <a:chOff x="0" y="0"/>
              <a:chExt cx="4096512" cy="2743200"/>
            </a:xfrm>
          </p:grpSpPr>
          <p:sp>
            <p:nvSpPr>
              <p:cNvPr name="Freeform 72" id="72"/>
              <p:cNvSpPr/>
              <p:nvPr/>
            </p:nvSpPr>
            <p:spPr>
              <a:xfrm flipH="false" flipV="false" rot="0">
                <a:off x="0" y="0"/>
                <a:ext cx="4096512" cy="2743200"/>
              </a:xfrm>
              <a:custGeom>
                <a:avLst/>
                <a:gdLst/>
                <a:ahLst/>
                <a:cxnLst/>
                <a:rect r="r" b="b" t="t" l="l"/>
                <a:pathLst>
                  <a:path h="2743200" w="4096512">
                    <a:moveTo>
                      <a:pt x="0" y="0"/>
                    </a:moveTo>
                    <a:lnTo>
                      <a:pt x="4096512" y="0"/>
                    </a:lnTo>
                    <a:lnTo>
                      <a:pt x="4096512" y="2743200"/>
                    </a:lnTo>
                    <a:lnTo>
                      <a:pt x="0" y="2743200"/>
                    </a:lnTo>
                    <a:close/>
                  </a:path>
                </a:pathLst>
              </a:custGeom>
              <a:blipFill>
                <a:blip r:embed="rId2">
                  <a:alphaModFix amt="0"/>
                </a:blip>
                <a:stretch>
                  <a:fillRect l="-35917" t="0" r="-35917" b="0"/>
                </a:stretch>
              </a:blipFill>
            </p:spPr>
          </p:sp>
          <p:sp>
            <p:nvSpPr>
              <p:cNvPr name="TextBox 73" id="73"/>
              <p:cNvSpPr txBox="true"/>
              <p:nvPr/>
            </p:nvSpPr>
            <p:spPr>
              <a:xfrm>
                <a:off x="0" y="-19050"/>
                <a:ext cx="4096512" cy="2762250"/>
              </a:xfrm>
              <a:prstGeom prst="rect">
                <a:avLst/>
              </a:prstGeom>
            </p:spPr>
            <p:txBody>
              <a:bodyPr anchor="ctr" rtlCol="false" tIns="0" lIns="0" bIns="0" rIns="0"/>
              <a:lstStyle/>
              <a:p>
                <a:pPr algn="l">
                  <a:lnSpc>
                    <a:spcPts val="2070"/>
                  </a:lnSpc>
                </a:pPr>
                <a:r>
                  <a:rPr lang="en-US" sz="1725">
                    <a:solidFill>
                      <a:srgbClr val="FFFFFF"/>
                    </a:solidFill>
                    <a:latin typeface="Arial"/>
                    <a:ea typeface="Arial"/>
                    <a:cs typeface="Arial"/>
                    <a:sym typeface="Arial"/>
                  </a:rPr>
                  <a:t>Convert the surviving driver into a live early-warning dashboard</a:t>
                </a:r>
              </a:p>
            </p:txBody>
          </p:sp>
        </p:grpSp>
      </p:grpSp>
      <p:grpSp>
        <p:nvGrpSpPr>
          <p:cNvPr name="Group 74" id="74"/>
          <p:cNvGrpSpPr/>
          <p:nvPr/>
        </p:nvGrpSpPr>
        <p:grpSpPr>
          <a:xfrm rot="0">
            <a:off x="987552" y="7543800"/>
            <a:ext cx="16322040" cy="960120"/>
            <a:chOff x="0" y="0"/>
            <a:chExt cx="21762720" cy="1280160"/>
          </a:xfrm>
        </p:grpSpPr>
        <p:sp>
          <p:nvSpPr>
            <p:cNvPr name="Freeform 75" id="75"/>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2">
                <a:alphaModFix amt="0"/>
              </a:blip>
              <a:stretch>
                <a:fillRect l="0" t="-281245" r="0" b="-281245"/>
              </a:stretch>
            </a:blipFill>
          </p:spPr>
        </p:sp>
        <p:sp>
          <p:nvSpPr>
            <p:cNvPr name="TextBox 76" id="76"/>
            <p:cNvSpPr txBox="true"/>
            <p:nvPr/>
          </p:nvSpPr>
          <p:spPr>
            <a:xfrm>
              <a:off x="0" y="-19050"/>
              <a:ext cx="21762720" cy="1299210"/>
            </a:xfrm>
            <a:prstGeom prst="rect">
              <a:avLst/>
            </a:prstGeom>
          </p:spPr>
          <p:txBody>
            <a:bodyPr anchor="ctr" rtlCol="false" tIns="0" lIns="0" bIns="0" rIns="0"/>
            <a:lstStyle/>
            <a:p>
              <a:pPr algn="l">
                <a:lnSpc>
                  <a:spcPts val="2340"/>
                </a:lnSpc>
              </a:pPr>
              <a:r>
                <a:rPr lang="en-US" sz="1950">
                  <a:solidFill>
                    <a:srgbClr val="000000"/>
                  </a:solidFill>
                  <a:latin typeface="Arial"/>
                  <a:ea typeface="Arial"/>
                  <a:cs typeface="Arial"/>
                  <a:sym typeface="Arial"/>
                </a:rPr>
                <a:t>The order matters: we only engineered an engagement score after the quality checks told us the behavioural fields were trustworthy, and we only built the dashboard after the segmentation told us which driver was worth tracking.</a:t>
              </a:r>
            </a:p>
          </p:txBody>
        </p:sp>
      </p:grpSp>
      <p:grpSp>
        <p:nvGrpSpPr>
          <p:cNvPr name="Group 77" id="77"/>
          <p:cNvGrpSpPr/>
          <p:nvPr/>
        </p:nvGrpSpPr>
        <p:grpSpPr>
          <a:xfrm rot="0">
            <a:off x="-229" y="9494520"/>
            <a:ext cx="18288229" cy="901099"/>
            <a:chOff x="0" y="0"/>
            <a:chExt cx="24384305" cy="1201465"/>
          </a:xfrm>
        </p:grpSpPr>
        <p:grpSp>
          <p:nvGrpSpPr>
            <p:cNvPr name="Group 78" id="78"/>
            <p:cNvGrpSpPr/>
            <p:nvPr/>
          </p:nvGrpSpPr>
          <p:grpSpPr>
            <a:xfrm rot="0">
              <a:off x="0" y="0"/>
              <a:ext cx="24384305" cy="1201465"/>
              <a:chOff x="0" y="0"/>
              <a:chExt cx="16256000" cy="800967"/>
            </a:xfrm>
          </p:grpSpPr>
          <p:sp>
            <p:nvSpPr>
              <p:cNvPr name="Freeform 79" id="79">
                <a:hlinkClick r:id="rId3" tooltip="https://canva.link/j1m0vdglw23sasg"/>
              </p:cNvPr>
              <p:cNvSpPr/>
              <p:nvPr/>
            </p:nvSpPr>
            <p:spPr>
              <a:xfrm flipH="false" flipV="false" rot="0">
                <a:off x="0" y="0"/>
                <a:ext cx="16256000" cy="800967"/>
              </a:xfrm>
              <a:custGeom>
                <a:avLst/>
                <a:gdLst/>
                <a:ahLst/>
                <a:cxnLst/>
                <a:rect r="r" b="b" t="t" l="l"/>
                <a:pathLst>
                  <a:path h="800967" w="16256000">
                    <a:moveTo>
                      <a:pt x="0" y="0"/>
                    </a:moveTo>
                    <a:lnTo>
                      <a:pt x="16256000" y="0"/>
                    </a:lnTo>
                    <a:lnTo>
                      <a:pt x="16256000" y="800967"/>
                    </a:lnTo>
                    <a:lnTo>
                      <a:pt x="0" y="800967"/>
                    </a:lnTo>
                    <a:lnTo>
                      <a:pt x="0" y="0"/>
                    </a:lnTo>
                    <a:close/>
                  </a:path>
                </a:pathLst>
              </a:custGeom>
              <a:blipFill>
                <a:blip r:embed="rId4"/>
                <a:stretch>
                  <a:fillRect l="-4746" t="0" r="-4795" b="-609"/>
                </a:stretch>
              </a:blipFill>
            </p:spPr>
          </p:sp>
        </p:grpSp>
        <p:grpSp>
          <p:nvGrpSpPr>
            <p:cNvPr name="Group 80" id="80"/>
            <p:cNvGrpSpPr/>
            <p:nvPr/>
          </p:nvGrpSpPr>
          <p:grpSpPr>
            <a:xfrm rot="0">
              <a:off x="1316752" y="272971"/>
              <a:ext cx="10972937" cy="367117"/>
              <a:chOff x="0" y="0"/>
              <a:chExt cx="10972800" cy="367113"/>
            </a:xfrm>
          </p:grpSpPr>
          <p:sp>
            <p:nvSpPr>
              <p:cNvPr name="Freeform 81" id="81">
                <a:hlinkClick r:id="rId5" tooltip="https://canva.link/j1m0vdglw23sasg"/>
              </p:cNvPr>
              <p:cNvSpPr/>
              <p:nvPr/>
            </p:nvSpPr>
            <p:spPr>
              <a:xfrm flipH="false" flipV="false" rot="0">
                <a:off x="0" y="0"/>
                <a:ext cx="10972800" cy="367113"/>
              </a:xfrm>
              <a:custGeom>
                <a:avLst/>
                <a:gdLst/>
                <a:ahLst/>
                <a:cxnLst/>
                <a:rect r="r" b="b" t="t" l="l"/>
                <a:pathLst>
                  <a:path h="367113" w="10972800">
                    <a:moveTo>
                      <a:pt x="0" y="0"/>
                    </a:moveTo>
                    <a:lnTo>
                      <a:pt x="10972800" y="0"/>
                    </a:lnTo>
                    <a:lnTo>
                      <a:pt x="10972800" y="367113"/>
                    </a:lnTo>
                    <a:lnTo>
                      <a:pt x="0" y="367113"/>
                    </a:lnTo>
                    <a:close/>
                  </a:path>
                </a:pathLst>
              </a:custGeom>
              <a:blipFill>
                <a:blip r:embed="rId2">
                  <a:alphaModFix amt="0"/>
                </a:blip>
                <a:stretch>
                  <a:fillRect l="0" t="-520127" r="0" b="-544667"/>
                </a:stretch>
              </a:blipFill>
            </p:spPr>
          </p:sp>
          <p:sp>
            <p:nvSpPr>
              <p:cNvPr name="TextBox 82" id="82"/>
              <p:cNvSpPr txBox="true"/>
              <p:nvPr/>
            </p:nvSpPr>
            <p:spPr>
              <a:xfrm>
                <a:off x="0" y="-19050"/>
                <a:ext cx="10972800" cy="386163"/>
              </a:xfrm>
              <a:prstGeom prst="rect">
                <a:avLst/>
              </a:prstGeom>
            </p:spPr>
            <p:txBody>
              <a:bodyPr anchor="ctr" rtlCol="false" tIns="0" lIns="0" bIns="0" rIns="0"/>
              <a:lstStyle/>
              <a:p>
                <a:pPr algn="l">
                  <a:lnSpc>
                    <a:spcPts val="1619"/>
                  </a:lnSpc>
                </a:pPr>
                <a:r>
                  <a:rPr lang="en-US" sz="1349" u="sng">
                    <a:solidFill>
                      <a:srgbClr val="E3E3E3"/>
                    </a:solidFill>
                    <a:latin typeface="Arial"/>
                    <a:ea typeface="Arial"/>
                    <a:cs typeface="Arial"/>
                    <a:sym typeface="Arial"/>
                    <a:hlinkClick r:id="rId6" tooltip="https://canva.link/j1m0vdglw23sasg"/>
                  </a:rPr>
                  <a:t>Group 6  |  Data Analytics Capstone</a:t>
                </a:r>
              </a:p>
            </p:txBody>
          </p:sp>
        </p:grpSp>
        <p:sp>
          <p:nvSpPr>
            <p:cNvPr name="Freeform 83" id="83">
              <a:hlinkClick r:id="rId9" tooltip="https://canva.link/j1m0vdglw23sasg"/>
            </p:cNvPr>
            <p:cNvSpPr/>
            <p:nvPr/>
          </p:nvSpPr>
          <p:spPr>
            <a:xfrm flipH="false" flipV="false" rot="0">
              <a:off x="22759985" y="272971"/>
              <a:ext cx="505406" cy="551352"/>
            </a:xfrm>
            <a:custGeom>
              <a:avLst/>
              <a:gdLst/>
              <a:ahLst/>
              <a:cxnLst/>
              <a:rect r="r" b="b" t="t" l="l"/>
              <a:pathLst>
                <a:path h="551352" w="505406">
                  <a:moveTo>
                    <a:pt x="0" y="0"/>
                  </a:moveTo>
                  <a:lnTo>
                    <a:pt x="505406" y="0"/>
                  </a:lnTo>
                  <a:lnTo>
                    <a:pt x="505406" y="551352"/>
                  </a:lnTo>
                  <a:lnTo>
                    <a:pt x="0" y="5513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21" y="0"/>
            <a:ext cx="18300921" cy="10287000"/>
            <a:chOff x="0" y="0"/>
            <a:chExt cx="16261362" cy="9140558"/>
          </a:xfrm>
        </p:grpSpPr>
        <p:sp>
          <p:nvSpPr>
            <p:cNvPr name="Freeform 3" id="3"/>
            <p:cNvSpPr/>
            <p:nvPr/>
          </p:nvSpPr>
          <p:spPr>
            <a:xfrm flipH="false" flipV="false" rot="0">
              <a:off x="0" y="0"/>
              <a:ext cx="16261299" cy="9140571"/>
            </a:xfrm>
            <a:custGeom>
              <a:avLst/>
              <a:gdLst/>
              <a:ahLst/>
              <a:cxnLst/>
              <a:rect r="r" b="b" t="t" l="l"/>
              <a:pathLst>
                <a:path h="9140571" w="16261299">
                  <a:moveTo>
                    <a:pt x="0" y="0"/>
                  </a:moveTo>
                  <a:lnTo>
                    <a:pt x="16261299" y="0"/>
                  </a:lnTo>
                  <a:lnTo>
                    <a:pt x="16261299" y="9140571"/>
                  </a:lnTo>
                  <a:lnTo>
                    <a:pt x="0" y="9140571"/>
                  </a:lnTo>
                  <a:lnTo>
                    <a:pt x="0" y="0"/>
                  </a:lnTo>
                  <a:close/>
                </a:path>
              </a:pathLst>
            </a:custGeom>
            <a:blipFill>
              <a:blip r:embed="rId2"/>
              <a:stretch>
                <a:fillRect l="0" t="-31" r="0" b="-31"/>
              </a:stretch>
            </a:blipFill>
          </p:spPr>
        </p:sp>
      </p:grpSp>
      <p:grpSp>
        <p:nvGrpSpPr>
          <p:cNvPr name="Group 4" id="4"/>
          <p:cNvGrpSpPr/>
          <p:nvPr/>
        </p:nvGrpSpPr>
        <p:grpSpPr>
          <a:xfrm rot="0">
            <a:off x="987552" y="850392"/>
            <a:ext cx="16312439" cy="987552"/>
            <a:chOff x="0" y="0"/>
            <a:chExt cx="21749918" cy="1316736"/>
          </a:xfrm>
        </p:grpSpPr>
        <p:sp>
          <p:nvSpPr>
            <p:cNvPr name="Freeform 5" id="5"/>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3">
                <a:alphaModFix amt="0"/>
              </a:blip>
              <a:stretch>
                <a:fillRect l="0" t="-271854" r="0" b="-271854"/>
              </a:stretch>
            </a:blipFill>
          </p:spPr>
        </p:sp>
        <p:sp>
          <p:nvSpPr>
            <p:cNvPr name="TextBox 6" id="6"/>
            <p:cNvSpPr txBox="true"/>
            <p:nvPr/>
          </p:nvSpPr>
          <p:spPr>
            <a:xfrm>
              <a:off x="0" y="-28575"/>
              <a:ext cx="21749918" cy="1345311"/>
            </a:xfrm>
            <a:prstGeom prst="rect">
              <a:avLst/>
            </a:prstGeom>
          </p:spPr>
          <p:txBody>
            <a:bodyPr anchor="ctr" rtlCol="false" tIns="0" lIns="0" bIns="0" rIns="0"/>
            <a:lstStyle/>
            <a:p>
              <a:pPr algn="l">
                <a:lnSpc>
                  <a:spcPts val="5940"/>
                </a:lnSpc>
              </a:pPr>
              <a:r>
                <a:rPr lang="en-US" b="true" sz="4950">
                  <a:solidFill>
                    <a:srgbClr val="F3E8FC"/>
                  </a:solidFill>
                  <a:latin typeface="Arial Bold"/>
                  <a:ea typeface="Arial Bold"/>
                  <a:cs typeface="Arial Bold"/>
                  <a:sym typeface="Arial Bold"/>
                </a:rPr>
                <a:t>Four decisions the dashboard makes possible</a:t>
              </a:r>
            </a:p>
          </p:txBody>
        </p:sp>
      </p:grpSp>
      <p:grpSp>
        <p:nvGrpSpPr>
          <p:cNvPr name="Group 7" id="7"/>
          <p:cNvGrpSpPr/>
          <p:nvPr/>
        </p:nvGrpSpPr>
        <p:grpSpPr>
          <a:xfrm rot="0">
            <a:off x="987552" y="1865376"/>
            <a:ext cx="16312439" cy="576072"/>
            <a:chOff x="0" y="0"/>
            <a:chExt cx="21749918" cy="768096"/>
          </a:xfrm>
        </p:grpSpPr>
        <p:sp>
          <p:nvSpPr>
            <p:cNvPr name="Freeform 8" id="8"/>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3">
                <a:alphaModFix amt="0"/>
              </a:blip>
              <a:stretch>
                <a:fillRect l="0" t="-501751" r="0" b="-501751"/>
              </a:stretch>
            </a:blipFill>
          </p:spPr>
        </p:sp>
        <p:sp>
          <p:nvSpPr>
            <p:cNvPr name="TextBox 9" id="9"/>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D9D9D9"/>
                  </a:solidFill>
                  <a:latin typeface="Arial"/>
                  <a:ea typeface="Arial"/>
                  <a:cs typeface="Arial"/>
                  <a:sym typeface="Arial"/>
                </a:rPr>
                <a:t>Built for the question the student success team asks every Monday.</a:t>
              </a:r>
            </a:p>
          </p:txBody>
        </p:sp>
      </p:grpSp>
      <p:grpSp>
        <p:nvGrpSpPr>
          <p:cNvPr name="Group 10" id="10"/>
          <p:cNvGrpSpPr/>
          <p:nvPr/>
        </p:nvGrpSpPr>
        <p:grpSpPr>
          <a:xfrm rot="0">
            <a:off x="987552" y="3017520"/>
            <a:ext cx="7886700" cy="2441448"/>
            <a:chOff x="0" y="0"/>
            <a:chExt cx="10515600" cy="3255264"/>
          </a:xfrm>
        </p:grpSpPr>
        <p:sp>
          <p:nvSpPr>
            <p:cNvPr name="Freeform 11" id="11"/>
            <p:cNvSpPr/>
            <p:nvPr/>
          </p:nvSpPr>
          <p:spPr>
            <a:xfrm flipH="false" flipV="false" rot="0">
              <a:off x="0" y="0"/>
              <a:ext cx="10515600" cy="3255264"/>
            </a:xfrm>
            <a:custGeom>
              <a:avLst/>
              <a:gdLst/>
              <a:ahLst/>
              <a:cxnLst/>
              <a:rect r="r" b="b" t="t" l="l"/>
              <a:pathLst>
                <a:path h="3255264" w="10515600">
                  <a:moveTo>
                    <a:pt x="0" y="0"/>
                  </a:moveTo>
                  <a:lnTo>
                    <a:pt x="10515600" y="0"/>
                  </a:lnTo>
                  <a:lnTo>
                    <a:pt x="10515600" y="3255264"/>
                  </a:lnTo>
                  <a:lnTo>
                    <a:pt x="0" y="3255264"/>
                  </a:lnTo>
                  <a:close/>
                </a:path>
              </a:pathLst>
            </a:custGeom>
            <a:solidFill>
              <a:srgbClr val="F1F1F1"/>
            </a:solidFill>
            <a:ln w="38100" cap="sq">
              <a:solidFill>
                <a:srgbClr val="000000"/>
              </a:solidFill>
              <a:prstDash val="solid"/>
              <a:miter/>
            </a:ln>
          </p:spPr>
        </p:sp>
      </p:grpSp>
      <p:grpSp>
        <p:nvGrpSpPr>
          <p:cNvPr name="Group 12" id="12"/>
          <p:cNvGrpSpPr/>
          <p:nvPr/>
        </p:nvGrpSpPr>
        <p:grpSpPr>
          <a:xfrm rot="0">
            <a:off x="1399032" y="3456432"/>
            <a:ext cx="685800" cy="685800"/>
            <a:chOff x="0" y="0"/>
            <a:chExt cx="914400" cy="914400"/>
          </a:xfrm>
        </p:grpSpPr>
        <p:sp>
          <p:nvSpPr>
            <p:cNvPr name="Freeform 13" id="1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A100FF"/>
            </a:solidFill>
          </p:spPr>
        </p:sp>
      </p:grpSp>
      <p:grpSp>
        <p:nvGrpSpPr>
          <p:cNvPr name="Group 14" id="14"/>
          <p:cNvGrpSpPr/>
          <p:nvPr/>
        </p:nvGrpSpPr>
        <p:grpSpPr>
          <a:xfrm rot="0">
            <a:off x="1399032" y="3456432"/>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6" id="16"/>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FFFFFF"/>
                  </a:solidFill>
                  <a:latin typeface="Arial Bold"/>
                  <a:ea typeface="Arial Bold"/>
                  <a:cs typeface="Arial Bold"/>
                  <a:sym typeface="Arial Bold"/>
                </a:rPr>
                <a:t>1</a:t>
              </a:r>
            </a:p>
          </p:txBody>
        </p:sp>
      </p:grpSp>
      <p:grpSp>
        <p:nvGrpSpPr>
          <p:cNvPr name="Group 17" id="17"/>
          <p:cNvGrpSpPr/>
          <p:nvPr/>
        </p:nvGrpSpPr>
        <p:grpSpPr>
          <a:xfrm rot="0">
            <a:off x="2359152" y="3401568"/>
            <a:ext cx="6172200" cy="822960"/>
            <a:chOff x="0" y="0"/>
            <a:chExt cx="8229600" cy="1097280"/>
          </a:xfrm>
        </p:grpSpPr>
        <p:sp>
          <p:nvSpPr>
            <p:cNvPr name="Freeform 18" id="18"/>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19" id="19"/>
            <p:cNvSpPr txBox="true"/>
            <p:nvPr/>
          </p:nvSpPr>
          <p:spPr>
            <a:xfrm>
              <a:off x="0" y="-19050"/>
              <a:ext cx="8229600" cy="1116330"/>
            </a:xfrm>
            <a:prstGeom prst="rect">
              <a:avLst/>
            </a:prstGeom>
          </p:spPr>
          <p:txBody>
            <a:bodyPr anchor="ctr" rtlCol="false" tIns="0" lIns="0" bIns="0" rIns="0"/>
            <a:lstStyle/>
            <a:p>
              <a:pPr algn="l">
                <a:lnSpc>
                  <a:spcPts val="2610"/>
                </a:lnSpc>
              </a:pPr>
              <a:r>
                <a:rPr lang="en-US" sz="2175" b="true">
                  <a:solidFill>
                    <a:srgbClr val="460073"/>
                  </a:solidFill>
                  <a:latin typeface="Arial Bold"/>
                  <a:ea typeface="Arial Bold"/>
                  <a:cs typeface="Arial Bold"/>
                  <a:sym typeface="Arial Bold"/>
                </a:rPr>
                <a:t>Is completion above or below benchmark?</a:t>
              </a:r>
            </a:p>
          </p:txBody>
        </p:sp>
      </p:grpSp>
      <p:grpSp>
        <p:nvGrpSpPr>
          <p:cNvPr name="Group 20" id="20"/>
          <p:cNvGrpSpPr/>
          <p:nvPr/>
        </p:nvGrpSpPr>
        <p:grpSpPr>
          <a:xfrm rot="0">
            <a:off x="2359152" y="4279392"/>
            <a:ext cx="6172200" cy="987552"/>
            <a:chOff x="0" y="0"/>
            <a:chExt cx="8229600" cy="1316736"/>
          </a:xfrm>
        </p:grpSpPr>
        <p:sp>
          <p:nvSpPr>
            <p:cNvPr name="Freeform 21" id="21"/>
            <p:cNvSpPr/>
            <p:nvPr/>
          </p:nvSpPr>
          <p:spPr>
            <a:xfrm flipH="false" flipV="false" rot="0">
              <a:off x="0" y="0"/>
              <a:ext cx="8229600" cy="1316736"/>
            </a:xfrm>
            <a:custGeom>
              <a:avLst/>
              <a:gdLst/>
              <a:ahLst/>
              <a:cxnLst/>
              <a:rect r="r" b="b" t="t" l="l"/>
              <a:pathLst>
                <a:path h="1316736" w="8229600">
                  <a:moveTo>
                    <a:pt x="0" y="0"/>
                  </a:moveTo>
                  <a:lnTo>
                    <a:pt x="8229600" y="0"/>
                  </a:lnTo>
                  <a:lnTo>
                    <a:pt x="8229600" y="1316736"/>
                  </a:lnTo>
                  <a:lnTo>
                    <a:pt x="0" y="1316736"/>
                  </a:lnTo>
                  <a:close/>
                </a:path>
              </a:pathLst>
            </a:custGeom>
            <a:blipFill>
              <a:blip r:embed="rId3">
                <a:alphaModFix amt="0"/>
              </a:blip>
              <a:stretch>
                <a:fillRect l="0" t="-71781" r="0" b="-71781"/>
              </a:stretch>
            </a:blipFill>
          </p:spPr>
        </p:sp>
        <p:sp>
          <p:nvSpPr>
            <p:cNvPr name="TextBox 22" id="22"/>
            <p:cNvSpPr txBox="true"/>
            <p:nvPr/>
          </p:nvSpPr>
          <p:spPr>
            <a:xfrm>
              <a:off x="0" y="-19050"/>
              <a:ext cx="8229600" cy="1335786"/>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KPI cards track the 49.0% overall rate and flag movement against it.</a:t>
              </a:r>
            </a:p>
          </p:txBody>
        </p:sp>
      </p:grpSp>
      <p:grpSp>
        <p:nvGrpSpPr>
          <p:cNvPr name="Group 23" id="23"/>
          <p:cNvGrpSpPr/>
          <p:nvPr/>
        </p:nvGrpSpPr>
        <p:grpSpPr>
          <a:xfrm rot="0">
            <a:off x="9354312" y="3017520"/>
            <a:ext cx="7886700" cy="2441448"/>
            <a:chOff x="0" y="0"/>
            <a:chExt cx="10515600" cy="3255264"/>
          </a:xfrm>
        </p:grpSpPr>
        <p:sp>
          <p:nvSpPr>
            <p:cNvPr name="Freeform 24" id="24"/>
            <p:cNvSpPr/>
            <p:nvPr/>
          </p:nvSpPr>
          <p:spPr>
            <a:xfrm flipH="false" flipV="false" rot="0">
              <a:off x="0" y="0"/>
              <a:ext cx="10515600" cy="3255264"/>
            </a:xfrm>
            <a:custGeom>
              <a:avLst/>
              <a:gdLst/>
              <a:ahLst/>
              <a:cxnLst/>
              <a:rect r="r" b="b" t="t" l="l"/>
              <a:pathLst>
                <a:path h="3255264" w="10515600">
                  <a:moveTo>
                    <a:pt x="0" y="0"/>
                  </a:moveTo>
                  <a:lnTo>
                    <a:pt x="10515600" y="0"/>
                  </a:lnTo>
                  <a:lnTo>
                    <a:pt x="10515600" y="3255264"/>
                  </a:lnTo>
                  <a:lnTo>
                    <a:pt x="0" y="3255264"/>
                  </a:lnTo>
                  <a:close/>
                </a:path>
              </a:pathLst>
            </a:custGeom>
            <a:solidFill>
              <a:srgbClr val="F1F1F1"/>
            </a:solidFill>
            <a:ln w="38100" cap="sq">
              <a:solidFill>
                <a:srgbClr val="000000"/>
              </a:solidFill>
              <a:prstDash val="solid"/>
              <a:miter/>
            </a:ln>
          </p:spPr>
        </p:sp>
      </p:grpSp>
      <p:grpSp>
        <p:nvGrpSpPr>
          <p:cNvPr name="Group 25" id="25"/>
          <p:cNvGrpSpPr/>
          <p:nvPr/>
        </p:nvGrpSpPr>
        <p:grpSpPr>
          <a:xfrm rot="0">
            <a:off x="9765792" y="3456432"/>
            <a:ext cx="685800" cy="685800"/>
            <a:chOff x="0" y="0"/>
            <a:chExt cx="914400" cy="914400"/>
          </a:xfrm>
        </p:grpSpPr>
        <p:sp>
          <p:nvSpPr>
            <p:cNvPr name="Freeform 26" id="2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A100FF"/>
            </a:solidFill>
          </p:spPr>
        </p:sp>
      </p:grpSp>
      <p:grpSp>
        <p:nvGrpSpPr>
          <p:cNvPr name="Group 27" id="27"/>
          <p:cNvGrpSpPr/>
          <p:nvPr/>
        </p:nvGrpSpPr>
        <p:grpSpPr>
          <a:xfrm rot="0">
            <a:off x="9765792" y="3456432"/>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9" id="29"/>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FFFFFF"/>
                  </a:solidFill>
                  <a:latin typeface="Arial Bold"/>
                  <a:ea typeface="Arial Bold"/>
                  <a:cs typeface="Arial Bold"/>
                  <a:sym typeface="Arial Bold"/>
                </a:rPr>
                <a:t>2</a:t>
              </a:r>
            </a:p>
          </p:txBody>
        </p:sp>
      </p:grpSp>
      <p:grpSp>
        <p:nvGrpSpPr>
          <p:cNvPr name="Group 30" id="30"/>
          <p:cNvGrpSpPr/>
          <p:nvPr/>
        </p:nvGrpSpPr>
        <p:grpSpPr>
          <a:xfrm rot="0">
            <a:off x="10725912" y="3401568"/>
            <a:ext cx="6172200" cy="822960"/>
            <a:chOff x="0" y="0"/>
            <a:chExt cx="8229600" cy="1097280"/>
          </a:xfrm>
        </p:grpSpPr>
        <p:sp>
          <p:nvSpPr>
            <p:cNvPr name="Freeform 31" id="31"/>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32" id="32"/>
            <p:cNvSpPr txBox="true"/>
            <p:nvPr/>
          </p:nvSpPr>
          <p:spPr>
            <a:xfrm>
              <a:off x="0" y="-19050"/>
              <a:ext cx="8229600" cy="1116330"/>
            </a:xfrm>
            <a:prstGeom prst="rect">
              <a:avLst/>
            </a:prstGeom>
          </p:spPr>
          <p:txBody>
            <a:bodyPr anchor="ctr" rtlCol="false" tIns="0" lIns="0" bIns="0" rIns="0"/>
            <a:lstStyle/>
            <a:p>
              <a:pPr algn="l">
                <a:lnSpc>
                  <a:spcPts val="2610"/>
                </a:lnSpc>
              </a:pPr>
              <a:r>
                <a:rPr lang="en-US" sz="2175" b="true">
                  <a:solidFill>
                    <a:srgbClr val="460073"/>
                  </a:solidFill>
                  <a:latin typeface="Arial Bold"/>
                  <a:ea typeface="Arial Bold"/>
                  <a:cs typeface="Arial Bold"/>
                  <a:sym typeface="Arial Bold"/>
                </a:rPr>
                <a:t>Which cohorts sit below it, and by how much?</a:t>
              </a:r>
            </a:p>
          </p:txBody>
        </p:sp>
      </p:grpSp>
      <p:grpSp>
        <p:nvGrpSpPr>
          <p:cNvPr name="Group 33" id="33"/>
          <p:cNvGrpSpPr/>
          <p:nvPr/>
        </p:nvGrpSpPr>
        <p:grpSpPr>
          <a:xfrm rot="0">
            <a:off x="10725912" y="4279392"/>
            <a:ext cx="6172200" cy="987552"/>
            <a:chOff x="0" y="0"/>
            <a:chExt cx="8229600" cy="1316736"/>
          </a:xfrm>
        </p:grpSpPr>
        <p:sp>
          <p:nvSpPr>
            <p:cNvPr name="Freeform 34" id="34"/>
            <p:cNvSpPr/>
            <p:nvPr/>
          </p:nvSpPr>
          <p:spPr>
            <a:xfrm flipH="false" flipV="false" rot="0">
              <a:off x="0" y="0"/>
              <a:ext cx="8229600" cy="1316736"/>
            </a:xfrm>
            <a:custGeom>
              <a:avLst/>
              <a:gdLst/>
              <a:ahLst/>
              <a:cxnLst/>
              <a:rect r="r" b="b" t="t" l="l"/>
              <a:pathLst>
                <a:path h="1316736" w="8229600">
                  <a:moveTo>
                    <a:pt x="0" y="0"/>
                  </a:moveTo>
                  <a:lnTo>
                    <a:pt x="8229600" y="0"/>
                  </a:lnTo>
                  <a:lnTo>
                    <a:pt x="8229600" y="1316736"/>
                  </a:lnTo>
                  <a:lnTo>
                    <a:pt x="0" y="1316736"/>
                  </a:lnTo>
                  <a:close/>
                </a:path>
              </a:pathLst>
            </a:custGeom>
            <a:blipFill>
              <a:blip r:embed="rId3">
                <a:alphaModFix amt="0"/>
              </a:blip>
              <a:stretch>
                <a:fillRect l="0" t="-71781" r="0" b="-71781"/>
              </a:stretch>
            </a:blipFill>
          </p:spPr>
        </p:sp>
        <p:sp>
          <p:nvSpPr>
            <p:cNvPr name="TextBox 35" id="35"/>
            <p:cNvSpPr txBox="true"/>
            <p:nvPr/>
          </p:nvSpPr>
          <p:spPr>
            <a:xfrm>
              <a:off x="0" y="-19050"/>
              <a:ext cx="8229600" cy="1335786"/>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Segment comparison across tier, payment mode, category and device.</a:t>
              </a:r>
            </a:p>
          </p:txBody>
        </p:sp>
      </p:grpSp>
      <p:grpSp>
        <p:nvGrpSpPr>
          <p:cNvPr name="Group 36" id="36"/>
          <p:cNvGrpSpPr/>
          <p:nvPr/>
        </p:nvGrpSpPr>
        <p:grpSpPr>
          <a:xfrm rot="0">
            <a:off x="987552" y="5829300"/>
            <a:ext cx="7886700" cy="2441448"/>
            <a:chOff x="0" y="0"/>
            <a:chExt cx="10515600" cy="3255264"/>
          </a:xfrm>
        </p:grpSpPr>
        <p:sp>
          <p:nvSpPr>
            <p:cNvPr name="Freeform 37" id="37"/>
            <p:cNvSpPr/>
            <p:nvPr/>
          </p:nvSpPr>
          <p:spPr>
            <a:xfrm flipH="false" flipV="false" rot="0">
              <a:off x="0" y="0"/>
              <a:ext cx="10515600" cy="3255264"/>
            </a:xfrm>
            <a:custGeom>
              <a:avLst/>
              <a:gdLst/>
              <a:ahLst/>
              <a:cxnLst/>
              <a:rect r="r" b="b" t="t" l="l"/>
              <a:pathLst>
                <a:path h="3255264" w="10515600">
                  <a:moveTo>
                    <a:pt x="0" y="0"/>
                  </a:moveTo>
                  <a:lnTo>
                    <a:pt x="10515600" y="0"/>
                  </a:lnTo>
                  <a:lnTo>
                    <a:pt x="10515600" y="3255264"/>
                  </a:lnTo>
                  <a:lnTo>
                    <a:pt x="0" y="3255264"/>
                  </a:lnTo>
                  <a:close/>
                </a:path>
              </a:pathLst>
            </a:custGeom>
            <a:solidFill>
              <a:srgbClr val="F1F1F1"/>
            </a:solidFill>
            <a:ln w="38100" cap="sq">
              <a:solidFill>
                <a:srgbClr val="000000"/>
              </a:solidFill>
              <a:prstDash val="solid"/>
              <a:miter/>
            </a:ln>
          </p:spPr>
        </p:sp>
      </p:grpSp>
      <p:grpSp>
        <p:nvGrpSpPr>
          <p:cNvPr name="Group 38" id="38"/>
          <p:cNvGrpSpPr/>
          <p:nvPr/>
        </p:nvGrpSpPr>
        <p:grpSpPr>
          <a:xfrm rot="0">
            <a:off x="1399032" y="6268212"/>
            <a:ext cx="685800" cy="685800"/>
            <a:chOff x="0" y="0"/>
            <a:chExt cx="914400" cy="914400"/>
          </a:xfrm>
        </p:grpSpPr>
        <p:sp>
          <p:nvSpPr>
            <p:cNvPr name="Freeform 39" id="3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A100FF"/>
            </a:solidFill>
          </p:spPr>
        </p:sp>
      </p:grpSp>
      <p:grpSp>
        <p:nvGrpSpPr>
          <p:cNvPr name="Group 40" id="40"/>
          <p:cNvGrpSpPr/>
          <p:nvPr/>
        </p:nvGrpSpPr>
        <p:grpSpPr>
          <a:xfrm rot="0">
            <a:off x="1399032" y="6268212"/>
            <a:ext cx="685800" cy="685800"/>
            <a:chOff x="0" y="0"/>
            <a:chExt cx="914400" cy="914400"/>
          </a:xfrm>
        </p:grpSpPr>
        <p:sp>
          <p:nvSpPr>
            <p:cNvPr name="Freeform 41" id="41"/>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2" id="42"/>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FFFFFF"/>
                  </a:solidFill>
                  <a:latin typeface="Arial Bold"/>
                  <a:ea typeface="Arial Bold"/>
                  <a:cs typeface="Arial Bold"/>
                  <a:sym typeface="Arial Bold"/>
                </a:rPr>
                <a:t>3</a:t>
              </a:r>
            </a:p>
          </p:txBody>
        </p:sp>
      </p:grpSp>
      <p:grpSp>
        <p:nvGrpSpPr>
          <p:cNvPr name="Group 43" id="43"/>
          <p:cNvGrpSpPr/>
          <p:nvPr/>
        </p:nvGrpSpPr>
        <p:grpSpPr>
          <a:xfrm rot="0">
            <a:off x="2359152" y="6213348"/>
            <a:ext cx="6172200" cy="822960"/>
            <a:chOff x="0" y="0"/>
            <a:chExt cx="8229600" cy="1097280"/>
          </a:xfrm>
        </p:grpSpPr>
        <p:sp>
          <p:nvSpPr>
            <p:cNvPr name="Freeform 44" id="44"/>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45" id="45"/>
            <p:cNvSpPr txBox="true"/>
            <p:nvPr/>
          </p:nvSpPr>
          <p:spPr>
            <a:xfrm>
              <a:off x="0" y="-19050"/>
              <a:ext cx="8229600" cy="1116330"/>
            </a:xfrm>
            <a:prstGeom prst="rect">
              <a:avLst/>
            </a:prstGeom>
          </p:spPr>
          <p:txBody>
            <a:bodyPr anchor="ctr" rtlCol="false" tIns="0" lIns="0" bIns="0" rIns="0"/>
            <a:lstStyle/>
            <a:p>
              <a:pPr algn="l">
                <a:lnSpc>
                  <a:spcPts val="2610"/>
                </a:lnSpc>
              </a:pPr>
              <a:r>
                <a:rPr lang="en-US" sz="2175" b="true">
                  <a:solidFill>
                    <a:srgbClr val="460073"/>
                  </a:solidFill>
                  <a:latin typeface="Arial Bold"/>
                  <a:ea typeface="Arial Bold"/>
                  <a:cs typeface="Arial Bold"/>
                  <a:sym typeface="Arial Bold"/>
                </a:rPr>
                <a:t>Who should we contact this week?</a:t>
              </a:r>
            </a:p>
          </p:txBody>
        </p:sp>
      </p:grpSp>
      <p:grpSp>
        <p:nvGrpSpPr>
          <p:cNvPr name="Group 46" id="46"/>
          <p:cNvGrpSpPr/>
          <p:nvPr/>
        </p:nvGrpSpPr>
        <p:grpSpPr>
          <a:xfrm rot="0">
            <a:off x="2359152" y="7091172"/>
            <a:ext cx="6172200" cy="987552"/>
            <a:chOff x="0" y="0"/>
            <a:chExt cx="8229600" cy="1316736"/>
          </a:xfrm>
        </p:grpSpPr>
        <p:sp>
          <p:nvSpPr>
            <p:cNvPr name="Freeform 47" id="47"/>
            <p:cNvSpPr/>
            <p:nvPr/>
          </p:nvSpPr>
          <p:spPr>
            <a:xfrm flipH="false" flipV="false" rot="0">
              <a:off x="0" y="0"/>
              <a:ext cx="8229600" cy="1316736"/>
            </a:xfrm>
            <a:custGeom>
              <a:avLst/>
              <a:gdLst/>
              <a:ahLst/>
              <a:cxnLst/>
              <a:rect r="r" b="b" t="t" l="l"/>
              <a:pathLst>
                <a:path h="1316736" w="8229600">
                  <a:moveTo>
                    <a:pt x="0" y="0"/>
                  </a:moveTo>
                  <a:lnTo>
                    <a:pt x="8229600" y="0"/>
                  </a:lnTo>
                  <a:lnTo>
                    <a:pt x="8229600" y="1316736"/>
                  </a:lnTo>
                  <a:lnTo>
                    <a:pt x="0" y="1316736"/>
                  </a:lnTo>
                  <a:close/>
                </a:path>
              </a:pathLst>
            </a:custGeom>
            <a:blipFill>
              <a:blip r:embed="rId3">
                <a:alphaModFix amt="0"/>
              </a:blip>
              <a:stretch>
                <a:fillRect l="0" t="-71781" r="0" b="-71781"/>
              </a:stretch>
            </a:blipFill>
          </p:spPr>
        </p:sp>
        <p:sp>
          <p:nvSpPr>
            <p:cNvPr name="TextBox 48" id="48"/>
            <p:cNvSpPr txBox="true"/>
            <p:nvPr/>
          </p:nvSpPr>
          <p:spPr>
            <a:xfrm>
              <a:off x="0" y="-19050"/>
              <a:ext cx="8229600" cy="1335786"/>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Drill-down isolates the specific at-risk segment in two clicks.</a:t>
              </a:r>
            </a:p>
          </p:txBody>
        </p:sp>
      </p:grpSp>
      <p:grpSp>
        <p:nvGrpSpPr>
          <p:cNvPr name="Group 49" id="49"/>
          <p:cNvGrpSpPr/>
          <p:nvPr/>
        </p:nvGrpSpPr>
        <p:grpSpPr>
          <a:xfrm rot="0">
            <a:off x="9354312" y="5829300"/>
            <a:ext cx="7886700" cy="2441448"/>
            <a:chOff x="0" y="0"/>
            <a:chExt cx="10515600" cy="3255264"/>
          </a:xfrm>
        </p:grpSpPr>
        <p:sp>
          <p:nvSpPr>
            <p:cNvPr name="Freeform 50" id="50"/>
            <p:cNvSpPr/>
            <p:nvPr/>
          </p:nvSpPr>
          <p:spPr>
            <a:xfrm flipH="false" flipV="false" rot="0">
              <a:off x="0" y="0"/>
              <a:ext cx="10515600" cy="3255264"/>
            </a:xfrm>
            <a:custGeom>
              <a:avLst/>
              <a:gdLst/>
              <a:ahLst/>
              <a:cxnLst/>
              <a:rect r="r" b="b" t="t" l="l"/>
              <a:pathLst>
                <a:path h="3255264" w="10515600">
                  <a:moveTo>
                    <a:pt x="0" y="0"/>
                  </a:moveTo>
                  <a:lnTo>
                    <a:pt x="10515600" y="0"/>
                  </a:lnTo>
                  <a:lnTo>
                    <a:pt x="10515600" y="3255264"/>
                  </a:lnTo>
                  <a:lnTo>
                    <a:pt x="0" y="3255264"/>
                  </a:lnTo>
                  <a:close/>
                </a:path>
              </a:pathLst>
            </a:custGeom>
            <a:solidFill>
              <a:srgbClr val="F1F1F1"/>
            </a:solidFill>
            <a:ln w="38100" cap="sq">
              <a:solidFill>
                <a:srgbClr val="000000"/>
              </a:solidFill>
              <a:prstDash val="solid"/>
              <a:miter/>
            </a:ln>
          </p:spPr>
        </p:sp>
      </p:grpSp>
      <p:grpSp>
        <p:nvGrpSpPr>
          <p:cNvPr name="Group 51" id="51"/>
          <p:cNvGrpSpPr/>
          <p:nvPr/>
        </p:nvGrpSpPr>
        <p:grpSpPr>
          <a:xfrm rot="0">
            <a:off x="9765792" y="6268212"/>
            <a:ext cx="685800" cy="685800"/>
            <a:chOff x="0" y="0"/>
            <a:chExt cx="914400" cy="914400"/>
          </a:xfrm>
        </p:grpSpPr>
        <p:sp>
          <p:nvSpPr>
            <p:cNvPr name="Freeform 52" id="5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A100FF"/>
            </a:solidFill>
          </p:spPr>
        </p:sp>
      </p:grpSp>
      <p:grpSp>
        <p:nvGrpSpPr>
          <p:cNvPr name="Group 53" id="53"/>
          <p:cNvGrpSpPr/>
          <p:nvPr/>
        </p:nvGrpSpPr>
        <p:grpSpPr>
          <a:xfrm rot="0">
            <a:off x="9765792" y="626821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55" id="55"/>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FFFFFF"/>
                  </a:solidFill>
                  <a:latin typeface="Arial Bold"/>
                  <a:ea typeface="Arial Bold"/>
                  <a:cs typeface="Arial Bold"/>
                  <a:sym typeface="Arial Bold"/>
                </a:rPr>
                <a:t>4</a:t>
              </a:r>
            </a:p>
          </p:txBody>
        </p:sp>
      </p:grpSp>
      <p:grpSp>
        <p:nvGrpSpPr>
          <p:cNvPr name="Group 56" id="56"/>
          <p:cNvGrpSpPr/>
          <p:nvPr/>
        </p:nvGrpSpPr>
        <p:grpSpPr>
          <a:xfrm rot="0">
            <a:off x="10725912" y="6213348"/>
            <a:ext cx="6172200" cy="822960"/>
            <a:chOff x="0" y="0"/>
            <a:chExt cx="8229600" cy="1097280"/>
          </a:xfrm>
        </p:grpSpPr>
        <p:sp>
          <p:nvSpPr>
            <p:cNvPr name="Freeform 57" id="57"/>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58" id="58"/>
            <p:cNvSpPr txBox="true"/>
            <p:nvPr/>
          </p:nvSpPr>
          <p:spPr>
            <a:xfrm>
              <a:off x="0" y="-19050"/>
              <a:ext cx="8229600" cy="1116330"/>
            </a:xfrm>
            <a:prstGeom prst="rect">
              <a:avLst/>
            </a:prstGeom>
          </p:spPr>
          <p:txBody>
            <a:bodyPr anchor="ctr" rtlCol="false" tIns="0" lIns="0" bIns="0" rIns="0"/>
            <a:lstStyle/>
            <a:p>
              <a:pPr algn="l">
                <a:lnSpc>
                  <a:spcPts val="2610"/>
                </a:lnSpc>
              </a:pPr>
              <a:r>
                <a:rPr lang="en-US" sz="2175" b="true">
                  <a:solidFill>
                    <a:srgbClr val="460073"/>
                  </a:solidFill>
                  <a:latin typeface="Arial Bold"/>
                  <a:ea typeface="Arial Bold"/>
                  <a:cs typeface="Arial Bold"/>
                  <a:sym typeface="Arial Bold"/>
                </a:rPr>
                <a:t>Did last month's intervention work?</a:t>
              </a:r>
            </a:p>
          </p:txBody>
        </p:sp>
      </p:grpSp>
      <p:grpSp>
        <p:nvGrpSpPr>
          <p:cNvPr name="Group 59" id="59"/>
          <p:cNvGrpSpPr/>
          <p:nvPr/>
        </p:nvGrpSpPr>
        <p:grpSpPr>
          <a:xfrm rot="0">
            <a:off x="10725912" y="7091172"/>
            <a:ext cx="6172200" cy="987552"/>
            <a:chOff x="0" y="0"/>
            <a:chExt cx="8229600" cy="1316736"/>
          </a:xfrm>
        </p:grpSpPr>
        <p:sp>
          <p:nvSpPr>
            <p:cNvPr name="Freeform 60" id="60"/>
            <p:cNvSpPr/>
            <p:nvPr/>
          </p:nvSpPr>
          <p:spPr>
            <a:xfrm flipH="false" flipV="false" rot="0">
              <a:off x="0" y="0"/>
              <a:ext cx="8229600" cy="1316736"/>
            </a:xfrm>
            <a:custGeom>
              <a:avLst/>
              <a:gdLst/>
              <a:ahLst/>
              <a:cxnLst/>
              <a:rect r="r" b="b" t="t" l="l"/>
              <a:pathLst>
                <a:path h="1316736" w="8229600">
                  <a:moveTo>
                    <a:pt x="0" y="0"/>
                  </a:moveTo>
                  <a:lnTo>
                    <a:pt x="8229600" y="0"/>
                  </a:lnTo>
                  <a:lnTo>
                    <a:pt x="8229600" y="1316736"/>
                  </a:lnTo>
                  <a:lnTo>
                    <a:pt x="0" y="1316736"/>
                  </a:lnTo>
                  <a:close/>
                </a:path>
              </a:pathLst>
            </a:custGeom>
            <a:blipFill>
              <a:blip r:embed="rId3">
                <a:alphaModFix amt="0"/>
              </a:blip>
              <a:stretch>
                <a:fillRect l="0" t="-71781" r="0" b="-71781"/>
              </a:stretch>
            </a:blipFill>
          </p:spPr>
        </p:sp>
        <p:sp>
          <p:nvSpPr>
            <p:cNvPr name="TextBox 61" id="61"/>
            <p:cNvSpPr txBox="true"/>
            <p:nvPr/>
          </p:nvSpPr>
          <p:spPr>
            <a:xfrm>
              <a:off x="0" y="-19050"/>
              <a:ext cx="8229600" cy="1335786"/>
            </a:xfrm>
            <a:prstGeom prst="rect">
              <a:avLst/>
            </a:prstGeom>
          </p:spPr>
          <p:txBody>
            <a:bodyPr anchor="ctr" rtlCol="false" tIns="0" lIns="0" bIns="0" rIns="0"/>
            <a:lstStyle/>
            <a:p>
              <a:pPr algn="l">
                <a:lnSpc>
                  <a:spcPts val="2160"/>
                </a:lnSpc>
              </a:pPr>
              <a:r>
                <a:rPr lang="en-US" sz="1800">
                  <a:solidFill>
                    <a:srgbClr val="000000"/>
                  </a:solidFill>
                  <a:latin typeface="Arial"/>
                  <a:ea typeface="Arial"/>
                  <a:cs typeface="Arial"/>
                  <a:sym typeface="Arial"/>
                </a:rPr>
                <a:t>Enrollment-date filters let the team compare cohorts over time.</a:t>
              </a:r>
            </a:p>
          </p:txBody>
        </p:sp>
      </p:grpSp>
      <p:grpSp>
        <p:nvGrpSpPr>
          <p:cNvPr name="Group 62" id="62"/>
          <p:cNvGrpSpPr/>
          <p:nvPr/>
        </p:nvGrpSpPr>
        <p:grpSpPr>
          <a:xfrm rot="0">
            <a:off x="987552" y="8642223"/>
            <a:ext cx="16322040" cy="548640"/>
            <a:chOff x="0" y="0"/>
            <a:chExt cx="21762720" cy="731520"/>
          </a:xfrm>
        </p:grpSpPr>
        <p:sp>
          <p:nvSpPr>
            <p:cNvPr name="Freeform 63" id="63"/>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64" id="64"/>
            <p:cNvSpPr txBox="true"/>
            <p:nvPr/>
          </p:nvSpPr>
          <p:spPr>
            <a:xfrm>
              <a:off x="0" y="-19050"/>
              <a:ext cx="21762720" cy="750570"/>
            </a:xfrm>
            <a:prstGeom prst="rect">
              <a:avLst/>
            </a:prstGeom>
          </p:spPr>
          <p:txBody>
            <a:bodyPr anchor="ctr" rtlCol="false" tIns="0" lIns="0" bIns="0" rIns="0"/>
            <a:lstStyle/>
            <a:p>
              <a:pPr algn="l">
                <a:lnSpc>
                  <a:spcPts val="2160"/>
                </a:lnSpc>
              </a:pPr>
              <a:r>
                <a:rPr lang="en-US" sz="1800">
                  <a:solidFill>
                    <a:srgbClr val="FFFFFF"/>
                  </a:solidFill>
                  <a:latin typeface="Arial"/>
                  <a:ea typeface="Arial"/>
                  <a:cs typeface="Arial"/>
                  <a:sym typeface="Arial"/>
                </a:rPr>
                <a:t>Filters: enrollment date  ·  category  ·  payment mode  ·  course level  ·  engagement tier · employment status · Device Type</a:t>
              </a:r>
            </a:p>
          </p:txBody>
        </p:sp>
      </p:grpSp>
      <p:grpSp>
        <p:nvGrpSpPr>
          <p:cNvPr name="Group 65" id="65"/>
          <p:cNvGrpSpPr/>
          <p:nvPr/>
        </p:nvGrpSpPr>
        <p:grpSpPr>
          <a:xfrm rot="0">
            <a:off x="10424160" y="411480"/>
            <a:ext cx="5966460" cy="342900"/>
            <a:chOff x="0" y="0"/>
            <a:chExt cx="7955280" cy="457200"/>
          </a:xfrm>
        </p:grpSpPr>
        <p:sp>
          <p:nvSpPr>
            <p:cNvPr name="Freeform 66" id="66"/>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3">
                <a:alphaModFix amt="0"/>
              </a:blip>
              <a:stretch>
                <a:fillRect l="0" t="-289039" r="0" b="-289039"/>
              </a:stretch>
            </a:blipFill>
          </p:spPr>
        </p:sp>
        <p:sp>
          <p:nvSpPr>
            <p:cNvPr name="TextBox 67" id="67"/>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FFFFFF"/>
                  </a:solidFill>
                  <a:latin typeface="Arial"/>
                  <a:ea typeface="Arial"/>
                  <a:cs typeface="Arial"/>
                  <a:sym typeface="Arial"/>
                </a:rPr>
                <a:t>Student Course Completion Analysis</a:t>
              </a:r>
            </a:p>
          </p:txBody>
        </p:sp>
      </p:grpSp>
      <p:grpSp>
        <p:nvGrpSpPr>
          <p:cNvPr name="Group 68" id="68"/>
          <p:cNvGrpSpPr/>
          <p:nvPr/>
        </p:nvGrpSpPr>
        <p:grpSpPr>
          <a:xfrm rot="0">
            <a:off x="16486632" y="411480"/>
            <a:ext cx="205740" cy="342900"/>
            <a:chOff x="0" y="0"/>
            <a:chExt cx="274320" cy="457200"/>
          </a:xfrm>
        </p:grpSpPr>
        <p:sp>
          <p:nvSpPr>
            <p:cNvPr name="Freeform 69" id="69"/>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3">
                <a:alphaModFix amt="0"/>
              </a:blip>
              <a:stretch>
                <a:fillRect l="-163839" t="0" r="-163839" b="0"/>
              </a:stretch>
            </a:blipFill>
          </p:spPr>
        </p:sp>
        <p:sp>
          <p:nvSpPr>
            <p:cNvPr name="TextBox 70" id="70"/>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71" id="71"/>
          <p:cNvGrpSpPr/>
          <p:nvPr/>
        </p:nvGrpSpPr>
        <p:grpSpPr>
          <a:xfrm rot="0">
            <a:off x="16664940" y="411480"/>
            <a:ext cx="685800" cy="342900"/>
            <a:chOff x="0" y="0"/>
            <a:chExt cx="914400" cy="457200"/>
          </a:xfrm>
        </p:grpSpPr>
        <p:sp>
          <p:nvSpPr>
            <p:cNvPr name="Freeform 72" id="72"/>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3">
                <a:alphaModFix amt="0"/>
              </a:blip>
              <a:stretch>
                <a:fillRect l="-14151" t="0" r="-14151" b="0"/>
              </a:stretch>
            </a:blipFill>
          </p:spPr>
        </p:sp>
        <p:sp>
          <p:nvSpPr>
            <p:cNvPr name="TextBox 73" id="73"/>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F3E8FC"/>
                  </a:solidFill>
                  <a:latin typeface="Arial Bold"/>
                  <a:ea typeface="Arial Bold"/>
                  <a:cs typeface="Arial Bold"/>
                  <a:sym typeface="Arial Bold"/>
                </a:rPr>
                <a:t>6</a:t>
              </a:r>
            </a:p>
          </p:txBody>
        </p:sp>
      </p:grpSp>
      <p:grpSp>
        <p:nvGrpSpPr>
          <p:cNvPr name="Group 74" id="74"/>
          <p:cNvGrpSpPr/>
          <p:nvPr/>
        </p:nvGrpSpPr>
        <p:grpSpPr>
          <a:xfrm rot="0">
            <a:off x="987552" y="9601200"/>
            <a:ext cx="8229600" cy="342900"/>
            <a:chOff x="0" y="0"/>
            <a:chExt cx="10972800" cy="457200"/>
          </a:xfrm>
        </p:grpSpPr>
        <p:sp>
          <p:nvSpPr>
            <p:cNvPr name="Freeform 75" id="75"/>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3">
                <a:alphaModFix amt="0"/>
              </a:blip>
              <a:stretch>
                <a:fillRect l="0" t="-417640" r="0" b="-417640"/>
              </a:stretch>
            </a:blipFill>
          </p:spPr>
        </p:sp>
        <p:sp>
          <p:nvSpPr>
            <p:cNvPr name="TextBox 76" id="76"/>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FFFFFF"/>
                  </a:solidFill>
                  <a:latin typeface="Arial"/>
                  <a:ea typeface="Arial"/>
                  <a:cs typeface="Arial"/>
                  <a:sym typeface="Arial"/>
                </a:rPr>
                <a:t>Group 6  |  Data Analytics Capstone</a:t>
              </a:r>
            </a:p>
          </p:txBody>
        </p:sp>
      </p:grpSp>
      <p:sp>
        <p:nvSpPr>
          <p:cNvPr name="Freeform 77" id="77"/>
          <p:cNvSpPr/>
          <p:nvPr/>
        </p:nvSpPr>
        <p:spPr>
          <a:xfrm flipH="false" flipV="false" rot="0">
            <a:off x="15572403" y="9436386"/>
            <a:ext cx="1636433" cy="507714"/>
          </a:xfrm>
          <a:custGeom>
            <a:avLst/>
            <a:gdLst/>
            <a:ahLst/>
            <a:cxnLst/>
            <a:rect r="r" b="b" t="t" l="l"/>
            <a:pathLst>
              <a:path h="507714" w="1636433">
                <a:moveTo>
                  <a:pt x="0" y="0"/>
                </a:moveTo>
                <a:lnTo>
                  <a:pt x="1636434" y="0"/>
                </a:lnTo>
                <a:lnTo>
                  <a:pt x="1636434" y="507714"/>
                </a:lnTo>
                <a:lnTo>
                  <a:pt x="0" y="5077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50392"/>
            <a:ext cx="18287543" cy="1261872"/>
            <a:chOff x="0" y="0"/>
            <a:chExt cx="24383390" cy="1682496"/>
          </a:xfrm>
        </p:grpSpPr>
        <p:sp>
          <p:nvSpPr>
            <p:cNvPr name="Freeform 3" id="3" descr="bg/section.jpg"/>
            <p:cNvSpPr/>
            <p:nvPr/>
          </p:nvSpPr>
          <p:spPr>
            <a:xfrm flipH="false" flipV="false" rot="0">
              <a:off x="0" y="0"/>
              <a:ext cx="24383364" cy="1682496"/>
            </a:xfrm>
            <a:custGeom>
              <a:avLst/>
              <a:gdLst/>
              <a:ahLst/>
              <a:cxnLst/>
              <a:rect r="r" b="b" t="t" l="l"/>
              <a:pathLst>
                <a:path h="1682496" w="24383364">
                  <a:moveTo>
                    <a:pt x="0" y="0"/>
                  </a:moveTo>
                  <a:lnTo>
                    <a:pt x="24383364" y="0"/>
                  </a:lnTo>
                  <a:lnTo>
                    <a:pt x="24383364" y="1682496"/>
                  </a:lnTo>
                  <a:lnTo>
                    <a:pt x="0" y="1682496"/>
                  </a:lnTo>
                  <a:lnTo>
                    <a:pt x="0" y="0"/>
                  </a:lnTo>
                  <a:close/>
                </a:path>
              </a:pathLst>
            </a:custGeom>
            <a:blipFill>
              <a:blip r:embed="rId2"/>
              <a:stretch>
                <a:fillRect l="0" t="-357598" r="0" b="-357598"/>
              </a:stretch>
            </a:blipFill>
          </p:spPr>
        </p:sp>
      </p:grpSp>
      <p:grpSp>
        <p:nvGrpSpPr>
          <p:cNvPr name="Group 4" id="4"/>
          <p:cNvGrpSpPr/>
          <p:nvPr/>
        </p:nvGrpSpPr>
        <p:grpSpPr>
          <a:xfrm rot="0">
            <a:off x="987552" y="960120"/>
            <a:ext cx="16312439" cy="1042416"/>
            <a:chOff x="0" y="0"/>
            <a:chExt cx="21749918" cy="1389888"/>
          </a:xfrm>
        </p:grpSpPr>
        <p:sp>
          <p:nvSpPr>
            <p:cNvPr name="Freeform 5" id="5"/>
            <p:cNvSpPr/>
            <p:nvPr/>
          </p:nvSpPr>
          <p:spPr>
            <a:xfrm flipH="false" flipV="false" rot="0">
              <a:off x="0" y="0"/>
              <a:ext cx="21749917" cy="1389888"/>
            </a:xfrm>
            <a:custGeom>
              <a:avLst/>
              <a:gdLst/>
              <a:ahLst/>
              <a:cxnLst/>
              <a:rect r="r" b="b" t="t" l="l"/>
              <a:pathLst>
                <a:path h="1389888" w="21749917">
                  <a:moveTo>
                    <a:pt x="0" y="0"/>
                  </a:moveTo>
                  <a:lnTo>
                    <a:pt x="21749917" y="0"/>
                  </a:lnTo>
                  <a:lnTo>
                    <a:pt x="21749917" y="1389888"/>
                  </a:lnTo>
                  <a:lnTo>
                    <a:pt x="0" y="1389888"/>
                  </a:lnTo>
                  <a:close/>
                </a:path>
              </a:pathLst>
            </a:custGeom>
            <a:blipFill>
              <a:blip r:embed="rId3">
                <a:alphaModFix amt="0"/>
              </a:blip>
              <a:stretch>
                <a:fillRect l="0" t="-254915" r="0" b="-254915"/>
              </a:stretch>
            </a:blipFill>
          </p:spPr>
        </p:sp>
        <p:sp>
          <p:nvSpPr>
            <p:cNvPr name="TextBox 6" id="6"/>
            <p:cNvSpPr txBox="true"/>
            <p:nvPr/>
          </p:nvSpPr>
          <p:spPr>
            <a:xfrm>
              <a:off x="0" y="-28575"/>
              <a:ext cx="21749918" cy="1418463"/>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From data to decision: one pipeline, five stages</a:t>
              </a:r>
            </a:p>
          </p:txBody>
        </p:sp>
      </p:grpSp>
      <p:grpSp>
        <p:nvGrpSpPr>
          <p:cNvPr name="Group 7" id="7"/>
          <p:cNvGrpSpPr/>
          <p:nvPr/>
        </p:nvGrpSpPr>
        <p:grpSpPr>
          <a:xfrm rot="0">
            <a:off x="987552" y="2359152"/>
            <a:ext cx="16322040" cy="411480"/>
            <a:chOff x="0" y="0"/>
            <a:chExt cx="21762720" cy="548640"/>
          </a:xfrm>
        </p:grpSpPr>
        <p:sp>
          <p:nvSpPr>
            <p:cNvPr name="Freeform 8" id="8"/>
            <p:cNvSpPr/>
            <p:nvPr/>
          </p:nvSpPr>
          <p:spPr>
            <a:xfrm flipH="false" flipV="false" rot="0">
              <a:off x="0" y="0"/>
              <a:ext cx="21762720" cy="548640"/>
            </a:xfrm>
            <a:custGeom>
              <a:avLst/>
              <a:gdLst/>
              <a:ahLst/>
              <a:cxnLst/>
              <a:rect r="r" b="b" t="t" l="l"/>
              <a:pathLst>
                <a:path h="548640" w="21762720">
                  <a:moveTo>
                    <a:pt x="0" y="0"/>
                  </a:moveTo>
                  <a:lnTo>
                    <a:pt x="21762720" y="0"/>
                  </a:lnTo>
                  <a:lnTo>
                    <a:pt x="21762720" y="548640"/>
                  </a:lnTo>
                  <a:lnTo>
                    <a:pt x="0" y="548640"/>
                  </a:lnTo>
                  <a:close/>
                </a:path>
              </a:pathLst>
            </a:custGeom>
            <a:blipFill>
              <a:blip r:embed="rId3">
                <a:alphaModFix amt="0"/>
              </a:blip>
              <a:stretch>
                <a:fillRect l="0" t="-722906" r="0" b="-722906"/>
              </a:stretch>
            </a:blipFill>
          </p:spPr>
        </p:sp>
        <p:sp>
          <p:nvSpPr>
            <p:cNvPr name="TextBox 9" id="9"/>
            <p:cNvSpPr txBox="true"/>
            <p:nvPr/>
          </p:nvSpPr>
          <p:spPr>
            <a:xfrm>
              <a:off x="0" y="-9525"/>
              <a:ext cx="21762720" cy="558165"/>
            </a:xfrm>
            <a:prstGeom prst="rect">
              <a:avLst/>
            </a:prstGeom>
          </p:spPr>
          <p:txBody>
            <a:bodyPr anchor="ctr" rtlCol="false" tIns="0" lIns="0" bIns="0" rIns="0"/>
            <a:lstStyle/>
            <a:p>
              <a:pPr algn="l">
                <a:lnSpc>
                  <a:spcPts val="1889"/>
                </a:lnSpc>
              </a:pPr>
              <a:r>
                <a:rPr lang="en-US" b="true" sz="1575" spc="120">
                  <a:solidFill>
                    <a:srgbClr val="585858"/>
                  </a:solidFill>
                  <a:latin typeface="Arial Bold"/>
                  <a:ea typeface="Arial Bold"/>
                  <a:cs typeface="Arial Bold"/>
                  <a:sym typeface="Arial Bold"/>
                </a:rPr>
                <a:t>TOOL STACK  ·  the value sits in the analytical decisions, not the libraries</a:t>
              </a:r>
            </a:p>
          </p:txBody>
        </p:sp>
      </p:grpSp>
      <p:grpSp>
        <p:nvGrpSpPr>
          <p:cNvPr name="Group 10" id="10"/>
          <p:cNvGrpSpPr/>
          <p:nvPr/>
        </p:nvGrpSpPr>
        <p:grpSpPr>
          <a:xfrm rot="0">
            <a:off x="744855" y="3419475"/>
            <a:ext cx="3009138" cy="3338322"/>
            <a:chOff x="0" y="0"/>
            <a:chExt cx="4012184" cy="4451096"/>
          </a:xfrm>
        </p:grpSpPr>
        <p:sp>
          <p:nvSpPr>
            <p:cNvPr name="Freeform 11" id="11"/>
            <p:cNvSpPr/>
            <p:nvPr/>
          </p:nvSpPr>
          <p:spPr>
            <a:xfrm flipH="false" flipV="false" rot="0">
              <a:off x="0" y="0"/>
              <a:ext cx="4012184" cy="4451096"/>
            </a:xfrm>
            <a:custGeom>
              <a:avLst/>
              <a:gdLst/>
              <a:ahLst/>
              <a:cxnLst/>
              <a:rect r="r" b="b" t="t" l="l"/>
              <a:pathLst>
                <a:path h="4451096" w="4012184">
                  <a:moveTo>
                    <a:pt x="0" y="0"/>
                  </a:moveTo>
                  <a:lnTo>
                    <a:pt x="4012184" y="0"/>
                  </a:lnTo>
                  <a:lnTo>
                    <a:pt x="4012184" y="4451096"/>
                  </a:lnTo>
                  <a:lnTo>
                    <a:pt x="0" y="4451096"/>
                  </a:lnTo>
                  <a:close/>
                </a:path>
              </a:pathLst>
            </a:custGeom>
            <a:solidFill>
              <a:srgbClr val="F1F1F1"/>
            </a:solidFill>
            <a:ln w="19050" cap="sq">
              <a:solidFill>
                <a:srgbClr val="A6A6A6"/>
              </a:solidFill>
              <a:prstDash val="solid"/>
              <a:miter/>
            </a:ln>
          </p:spPr>
        </p:sp>
      </p:grpSp>
      <p:grpSp>
        <p:nvGrpSpPr>
          <p:cNvPr name="Group 12" id="12"/>
          <p:cNvGrpSpPr/>
          <p:nvPr/>
        </p:nvGrpSpPr>
        <p:grpSpPr>
          <a:xfrm rot="0">
            <a:off x="754380" y="3429000"/>
            <a:ext cx="2990088" cy="603504"/>
            <a:chOff x="0" y="0"/>
            <a:chExt cx="3986784" cy="804672"/>
          </a:xfrm>
        </p:grpSpPr>
        <p:sp>
          <p:nvSpPr>
            <p:cNvPr name="Freeform 13" id="13"/>
            <p:cNvSpPr/>
            <p:nvPr/>
          </p:nvSpPr>
          <p:spPr>
            <a:xfrm flipH="false" flipV="false" rot="0">
              <a:off x="0" y="0"/>
              <a:ext cx="3986784" cy="804672"/>
            </a:xfrm>
            <a:custGeom>
              <a:avLst/>
              <a:gdLst/>
              <a:ahLst/>
              <a:cxnLst/>
              <a:rect r="r" b="b" t="t" l="l"/>
              <a:pathLst>
                <a:path h="804672" w="3986784">
                  <a:moveTo>
                    <a:pt x="0" y="0"/>
                  </a:moveTo>
                  <a:lnTo>
                    <a:pt x="3986784" y="0"/>
                  </a:lnTo>
                  <a:lnTo>
                    <a:pt x="3986784" y="804672"/>
                  </a:lnTo>
                  <a:lnTo>
                    <a:pt x="0" y="804672"/>
                  </a:lnTo>
                  <a:close/>
                </a:path>
              </a:pathLst>
            </a:custGeom>
            <a:solidFill>
              <a:srgbClr val="585858"/>
            </a:solidFill>
          </p:spPr>
        </p:sp>
      </p:grpSp>
      <p:grpSp>
        <p:nvGrpSpPr>
          <p:cNvPr name="Group 14" id="14"/>
          <p:cNvGrpSpPr/>
          <p:nvPr/>
        </p:nvGrpSpPr>
        <p:grpSpPr>
          <a:xfrm rot="0">
            <a:off x="891540" y="3429000"/>
            <a:ext cx="2715768" cy="603504"/>
            <a:chOff x="0" y="0"/>
            <a:chExt cx="3621024" cy="804672"/>
          </a:xfrm>
        </p:grpSpPr>
        <p:sp>
          <p:nvSpPr>
            <p:cNvPr name="Freeform 15" id="15"/>
            <p:cNvSpPr/>
            <p:nvPr/>
          </p:nvSpPr>
          <p:spPr>
            <a:xfrm flipH="false" flipV="false" rot="0">
              <a:off x="0" y="0"/>
              <a:ext cx="3621024" cy="804672"/>
            </a:xfrm>
            <a:custGeom>
              <a:avLst/>
              <a:gdLst/>
              <a:ahLst/>
              <a:cxnLst/>
              <a:rect r="r" b="b" t="t" l="l"/>
              <a:pathLst>
                <a:path h="804672" w="3621024">
                  <a:moveTo>
                    <a:pt x="0" y="0"/>
                  </a:moveTo>
                  <a:lnTo>
                    <a:pt x="3621024" y="0"/>
                  </a:lnTo>
                  <a:lnTo>
                    <a:pt x="3621024" y="804672"/>
                  </a:lnTo>
                  <a:lnTo>
                    <a:pt x="0" y="804672"/>
                  </a:lnTo>
                  <a:close/>
                </a:path>
              </a:pathLst>
            </a:custGeom>
            <a:blipFill>
              <a:blip r:embed="rId3">
                <a:alphaModFix amt="0"/>
              </a:blip>
              <a:stretch>
                <a:fillRect l="0" t="-37682" r="0" b="-37682"/>
              </a:stretch>
            </a:blipFill>
          </p:spPr>
        </p:sp>
        <p:sp>
          <p:nvSpPr>
            <p:cNvPr name="TextBox 16" id="16"/>
            <p:cNvSpPr txBox="true"/>
            <p:nvPr/>
          </p:nvSpPr>
          <p:spPr>
            <a:xfrm>
              <a:off x="0" y="-9525"/>
              <a:ext cx="3621024" cy="814197"/>
            </a:xfrm>
            <a:prstGeom prst="rect">
              <a:avLst/>
            </a:prstGeom>
          </p:spPr>
          <p:txBody>
            <a:bodyPr anchor="ctr" rtlCol="false" tIns="0" lIns="0" bIns="0" rIns="0"/>
            <a:lstStyle/>
            <a:p>
              <a:pPr algn="ctr">
                <a:lnSpc>
                  <a:spcPts val="1889"/>
                </a:lnSpc>
              </a:pPr>
              <a:r>
                <a:rPr lang="en-US" sz="1575" b="true">
                  <a:solidFill>
                    <a:srgbClr val="FFFFFF"/>
                  </a:solidFill>
                  <a:latin typeface="Arial Bold"/>
                  <a:ea typeface="Arial Bold"/>
                  <a:cs typeface="Arial Bold"/>
                  <a:sym typeface="Arial Bold"/>
                </a:rPr>
                <a:t>RAW DATA</a:t>
              </a:r>
            </a:p>
          </p:txBody>
        </p:sp>
      </p:grpSp>
      <p:grpSp>
        <p:nvGrpSpPr>
          <p:cNvPr name="Group 17" id="17"/>
          <p:cNvGrpSpPr/>
          <p:nvPr/>
        </p:nvGrpSpPr>
        <p:grpSpPr>
          <a:xfrm rot="0">
            <a:off x="918972" y="4279392"/>
            <a:ext cx="2660904" cy="1234440"/>
            <a:chOff x="0" y="0"/>
            <a:chExt cx="3547872" cy="1645920"/>
          </a:xfrm>
        </p:grpSpPr>
        <p:sp>
          <p:nvSpPr>
            <p:cNvPr name="Freeform 18" id="18"/>
            <p:cNvSpPr/>
            <p:nvPr/>
          </p:nvSpPr>
          <p:spPr>
            <a:xfrm flipH="false" flipV="false" rot="0">
              <a:off x="0" y="0"/>
              <a:ext cx="3547872" cy="1645920"/>
            </a:xfrm>
            <a:custGeom>
              <a:avLst/>
              <a:gdLst/>
              <a:ahLst/>
              <a:cxnLst/>
              <a:rect r="r" b="b" t="t" l="l"/>
              <a:pathLst>
                <a:path h="1645920" w="3547872">
                  <a:moveTo>
                    <a:pt x="0" y="0"/>
                  </a:moveTo>
                  <a:lnTo>
                    <a:pt x="3547872" y="0"/>
                  </a:lnTo>
                  <a:lnTo>
                    <a:pt x="3547872" y="1645920"/>
                  </a:lnTo>
                  <a:lnTo>
                    <a:pt x="0" y="1645920"/>
                  </a:lnTo>
                  <a:close/>
                </a:path>
              </a:pathLst>
            </a:custGeom>
            <a:blipFill>
              <a:blip r:embed="rId3">
                <a:alphaModFix amt="0"/>
              </a:blip>
              <a:stretch>
                <a:fillRect l="-9522" t="0" r="-9522" b="0"/>
              </a:stretch>
            </a:blipFill>
          </p:spPr>
        </p:sp>
        <p:sp>
          <p:nvSpPr>
            <p:cNvPr name="TextBox 19" id="19"/>
            <p:cNvSpPr txBox="true"/>
            <p:nvPr/>
          </p:nvSpPr>
          <p:spPr>
            <a:xfrm>
              <a:off x="0" y="-28575"/>
              <a:ext cx="3547872" cy="1674495"/>
            </a:xfrm>
            <a:prstGeom prst="rect">
              <a:avLst/>
            </a:prstGeom>
          </p:spPr>
          <p:txBody>
            <a:bodyPr anchor="ctr" rtlCol="false" tIns="0" lIns="0" bIns="0" rIns="0"/>
            <a:lstStyle/>
            <a:p>
              <a:pPr algn="ctr">
                <a:lnSpc>
                  <a:spcPts val="2250"/>
                </a:lnSpc>
              </a:pPr>
              <a:r>
                <a:rPr lang="en-US" sz="1875" b="true">
                  <a:solidFill>
                    <a:srgbClr val="000000"/>
                  </a:solidFill>
                  <a:latin typeface="Arial Bold"/>
                  <a:ea typeface="Arial Bold"/>
                  <a:cs typeface="Arial Bold"/>
                  <a:sym typeface="Arial Bold"/>
                </a:rPr>
                <a:t>Course_Completion</a:t>
              </a:r>
            </a:p>
            <a:p>
              <a:pPr algn="ctr">
                <a:lnSpc>
                  <a:spcPts val="2250"/>
                </a:lnSpc>
              </a:pPr>
              <a:r>
                <a:rPr lang="en-US" sz="1875" b="true">
                  <a:solidFill>
                    <a:srgbClr val="000000"/>
                  </a:solidFill>
                  <a:latin typeface="Arial Bold"/>
                  <a:ea typeface="Arial Bold"/>
                  <a:cs typeface="Arial Bold"/>
                  <a:sym typeface="Arial Bold"/>
                </a:rPr>
                <a:t>_Prediction.csv</a:t>
              </a:r>
            </a:p>
          </p:txBody>
        </p:sp>
      </p:grpSp>
      <p:grpSp>
        <p:nvGrpSpPr>
          <p:cNvPr name="Group 20" id="20"/>
          <p:cNvGrpSpPr/>
          <p:nvPr/>
        </p:nvGrpSpPr>
        <p:grpSpPr>
          <a:xfrm rot="0">
            <a:off x="918972" y="5513832"/>
            <a:ext cx="2660904" cy="480060"/>
            <a:chOff x="0" y="0"/>
            <a:chExt cx="3547872" cy="640080"/>
          </a:xfrm>
        </p:grpSpPr>
        <p:sp>
          <p:nvSpPr>
            <p:cNvPr name="Freeform 21" id="21"/>
            <p:cNvSpPr/>
            <p:nvPr/>
          </p:nvSpPr>
          <p:spPr>
            <a:xfrm flipH="false" flipV="false" rot="0">
              <a:off x="0" y="0"/>
              <a:ext cx="3547872" cy="640080"/>
            </a:xfrm>
            <a:custGeom>
              <a:avLst/>
              <a:gdLst/>
              <a:ahLst/>
              <a:cxnLst/>
              <a:rect r="r" b="b" t="t" l="l"/>
              <a:pathLst>
                <a:path h="640080" w="3547872">
                  <a:moveTo>
                    <a:pt x="0" y="0"/>
                  </a:moveTo>
                  <a:lnTo>
                    <a:pt x="3547872" y="0"/>
                  </a:lnTo>
                  <a:lnTo>
                    <a:pt x="3547872" y="640080"/>
                  </a:lnTo>
                  <a:lnTo>
                    <a:pt x="0" y="640080"/>
                  </a:lnTo>
                  <a:close/>
                </a:path>
              </a:pathLst>
            </a:custGeom>
            <a:blipFill>
              <a:blip r:embed="rId3">
                <a:alphaModFix amt="0"/>
              </a:blip>
              <a:stretch>
                <a:fillRect l="0" t="-58002" r="0" b="-58002"/>
              </a:stretch>
            </a:blipFill>
          </p:spPr>
        </p:sp>
        <p:sp>
          <p:nvSpPr>
            <p:cNvPr name="TextBox 22" id="22"/>
            <p:cNvSpPr txBox="true"/>
            <p:nvPr/>
          </p:nvSpPr>
          <p:spPr>
            <a:xfrm>
              <a:off x="0" y="-9525"/>
              <a:ext cx="3547872" cy="649605"/>
            </a:xfrm>
            <a:prstGeom prst="rect">
              <a:avLst/>
            </a:prstGeom>
          </p:spPr>
          <p:txBody>
            <a:bodyPr anchor="ctr" rtlCol="false" tIns="0" lIns="0" bIns="0" rIns="0"/>
            <a:lstStyle/>
            <a:p>
              <a:pPr algn="ctr">
                <a:lnSpc>
                  <a:spcPts val="1889"/>
                </a:lnSpc>
              </a:pPr>
              <a:r>
                <a:rPr lang="en-US" sz="1575">
                  <a:solidFill>
                    <a:srgbClr val="585858"/>
                  </a:solidFill>
                  <a:latin typeface="Arial"/>
                  <a:ea typeface="Arial"/>
                  <a:cs typeface="Arial"/>
                  <a:sym typeface="Arial"/>
                </a:rPr>
                <a:t>100,000 x 40</a:t>
              </a:r>
            </a:p>
          </p:txBody>
        </p:sp>
      </p:grpSp>
      <p:grpSp>
        <p:nvGrpSpPr>
          <p:cNvPr name="Group 23" id="23"/>
          <p:cNvGrpSpPr/>
          <p:nvPr/>
        </p:nvGrpSpPr>
        <p:grpSpPr>
          <a:xfrm rot="0">
            <a:off x="918972" y="6062472"/>
            <a:ext cx="2660904" cy="438912"/>
            <a:chOff x="0" y="0"/>
            <a:chExt cx="3547872" cy="585216"/>
          </a:xfrm>
        </p:grpSpPr>
        <p:sp>
          <p:nvSpPr>
            <p:cNvPr name="Freeform 24" id="24"/>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solidFill>
              <a:srgbClr val="F7F2FC"/>
            </a:solidFill>
          </p:spPr>
        </p:sp>
      </p:grpSp>
      <p:grpSp>
        <p:nvGrpSpPr>
          <p:cNvPr name="Group 25" id="25"/>
          <p:cNvGrpSpPr/>
          <p:nvPr/>
        </p:nvGrpSpPr>
        <p:grpSpPr>
          <a:xfrm rot="0">
            <a:off x="918972" y="6062472"/>
            <a:ext cx="2660904" cy="438912"/>
            <a:chOff x="0" y="0"/>
            <a:chExt cx="3547872" cy="585216"/>
          </a:xfrm>
        </p:grpSpPr>
        <p:sp>
          <p:nvSpPr>
            <p:cNvPr name="Freeform 26" id="26"/>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blipFill>
              <a:blip r:embed="rId3">
                <a:alphaModFix amt="0"/>
              </a:blip>
              <a:stretch>
                <a:fillRect l="0" t="-68128" r="0" b="-68128"/>
              </a:stretch>
            </a:blipFill>
          </p:spPr>
        </p:sp>
        <p:sp>
          <p:nvSpPr>
            <p:cNvPr name="TextBox 27" id="27"/>
            <p:cNvSpPr txBox="true"/>
            <p:nvPr/>
          </p:nvSpPr>
          <p:spPr>
            <a:xfrm>
              <a:off x="0" y="-19050"/>
              <a:ext cx="3547872" cy="604266"/>
            </a:xfrm>
            <a:prstGeom prst="rect">
              <a:avLst/>
            </a:prstGeom>
          </p:spPr>
          <p:txBody>
            <a:bodyPr anchor="ctr" rtlCol="false" tIns="0" lIns="0" bIns="0" rIns="0"/>
            <a:lstStyle/>
            <a:p>
              <a:pPr algn="ctr">
                <a:lnSpc>
                  <a:spcPts val="1439"/>
                </a:lnSpc>
              </a:pPr>
              <a:r>
                <a:rPr lang="en-US" sz="1200">
                  <a:solidFill>
                    <a:srgbClr val="7500C0"/>
                  </a:solidFill>
                  <a:latin typeface="Arial"/>
                  <a:ea typeface="Arial"/>
                  <a:cs typeface="Arial"/>
                  <a:sym typeface="Arial"/>
                </a:rPr>
                <a:t>Kaggle</a:t>
              </a:r>
            </a:p>
          </p:txBody>
        </p:sp>
      </p:grpSp>
      <p:grpSp>
        <p:nvGrpSpPr>
          <p:cNvPr name="Group 28" id="28"/>
          <p:cNvGrpSpPr/>
          <p:nvPr/>
        </p:nvGrpSpPr>
        <p:grpSpPr>
          <a:xfrm rot="0">
            <a:off x="3771900" y="4663440"/>
            <a:ext cx="411480" cy="685800"/>
            <a:chOff x="0" y="0"/>
            <a:chExt cx="548640" cy="914400"/>
          </a:xfrm>
        </p:grpSpPr>
        <p:sp>
          <p:nvSpPr>
            <p:cNvPr name="Freeform 29" id="29"/>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3">
                <a:alphaModFix amt="0"/>
              </a:blip>
              <a:stretch>
                <a:fillRect l="-163839" t="0" r="-163839" b="0"/>
              </a:stretch>
            </a:blipFill>
          </p:spPr>
        </p:sp>
        <p:sp>
          <p:nvSpPr>
            <p:cNvPr name="TextBox 30" id="30"/>
            <p:cNvSpPr txBox="true"/>
            <p:nvPr/>
          </p:nvSpPr>
          <p:spPr>
            <a:xfrm>
              <a:off x="0" y="-19050"/>
              <a:ext cx="548640" cy="933450"/>
            </a:xfrm>
            <a:prstGeom prst="rect">
              <a:avLst/>
            </a:prstGeom>
          </p:spPr>
          <p:txBody>
            <a:bodyPr anchor="ctr" rtlCol="false" tIns="0" lIns="0" bIns="0" rIns="0"/>
            <a:lstStyle/>
            <a:p>
              <a:pPr algn="ctr">
                <a:lnSpc>
                  <a:spcPts val="3600"/>
                </a:lnSpc>
              </a:pPr>
              <a:r>
                <a:rPr lang="en-US" sz="3000" b="true">
                  <a:solidFill>
                    <a:srgbClr val="A100FF"/>
                  </a:solidFill>
                  <a:latin typeface="Arial Bold"/>
                  <a:ea typeface="Arial Bold"/>
                  <a:cs typeface="Arial Bold"/>
                  <a:sym typeface="Arial Bold"/>
                </a:rPr>
                <a:t>&gt;</a:t>
              </a:r>
            </a:p>
          </p:txBody>
        </p:sp>
      </p:grpSp>
      <p:grpSp>
        <p:nvGrpSpPr>
          <p:cNvPr name="Group 31" id="31"/>
          <p:cNvGrpSpPr/>
          <p:nvPr/>
        </p:nvGrpSpPr>
        <p:grpSpPr>
          <a:xfrm rot="0">
            <a:off x="4201287" y="3419475"/>
            <a:ext cx="3009138" cy="3338322"/>
            <a:chOff x="0" y="0"/>
            <a:chExt cx="4012184" cy="4451096"/>
          </a:xfrm>
        </p:grpSpPr>
        <p:sp>
          <p:nvSpPr>
            <p:cNvPr name="Freeform 32" id="32"/>
            <p:cNvSpPr/>
            <p:nvPr/>
          </p:nvSpPr>
          <p:spPr>
            <a:xfrm flipH="false" flipV="false" rot="0">
              <a:off x="0" y="0"/>
              <a:ext cx="4012184" cy="4451096"/>
            </a:xfrm>
            <a:custGeom>
              <a:avLst/>
              <a:gdLst/>
              <a:ahLst/>
              <a:cxnLst/>
              <a:rect r="r" b="b" t="t" l="l"/>
              <a:pathLst>
                <a:path h="4451096" w="4012184">
                  <a:moveTo>
                    <a:pt x="0" y="0"/>
                  </a:moveTo>
                  <a:lnTo>
                    <a:pt x="4012184" y="0"/>
                  </a:lnTo>
                  <a:lnTo>
                    <a:pt x="4012184" y="4451096"/>
                  </a:lnTo>
                  <a:lnTo>
                    <a:pt x="0" y="4451096"/>
                  </a:lnTo>
                  <a:close/>
                </a:path>
              </a:pathLst>
            </a:custGeom>
            <a:solidFill>
              <a:srgbClr val="FFFFFF"/>
            </a:solidFill>
            <a:ln w="19050" cap="sq">
              <a:solidFill>
                <a:srgbClr val="A6A6A6"/>
              </a:solidFill>
              <a:prstDash val="solid"/>
              <a:miter/>
            </a:ln>
          </p:spPr>
        </p:sp>
      </p:grpSp>
      <p:grpSp>
        <p:nvGrpSpPr>
          <p:cNvPr name="Group 33" id="33"/>
          <p:cNvGrpSpPr/>
          <p:nvPr/>
        </p:nvGrpSpPr>
        <p:grpSpPr>
          <a:xfrm rot="0">
            <a:off x="4210812" y="3429000"/>
            <a:ext cx="2990088" cy="603504"/>
            <a:chOff x="0" y="0"/>
            <a:chExt cx="3986784" cy="804672"/>
          </a:xfrm>
        </p:grpSpPr>
        <p:sp>
          <p:nvSpPr>
            <p:cNvPr name="Freeform 34" id="34"/>
            <p:cNvSpPr/>
            <p:nvPr/>
          </p:nvSpPr>
          <p:spPr>
            <a:xfrm flipH="false" flipV="false" rot="0">
              <a:off x="0" y="0"/>
              <a:ext cx="3986784" cy="804672"/>
            </a:xfrm>
            <a:custGeom>
              <a:avLst/>
              <a:gdLst/>
              <a:ahLst/>
              <a:cxnLst/>
              <a:rect r="r" b="b" t="t" l="l"/>
              <a:pathLst>
                <a:path h="804672" w="3986784">
                  <a:moveTo>
                    <a:pt x="0" y="0"/>
                  </a:moveTo>
                  <a:lnTo>
                    <a:pt x="3986784" y="0"/>
                  </a:lnTo>
                  <a:lnTo>
                    <a:pt x="3986784" y="804672"/>
                  </a:lnTo>
                  <a:lnTo>
                    <a:pt x="0" y="804672"/>
                  </a:lnTo>
                  <a:close/>
                </a:path>
              </a:pathLst>
            </a:custGeom>
            <a:solidFill>
              <a:srgbClr val="460073"/>
            </a:solidFill>
          </p:spPr>
        </p:sp>
      </p:grpSp>
      <p:grpSp>
        <p:nvGrpSpPr>
          <p:cNvPr name="Group 35" id="35"/>
          <p:cNvGrpSpPr/>
          <p:nvPr/>
        </p:nvGrpSpPr>
        <p:grpSpPr>
          <a:xfrm rot="0">
            <a:off x="4347972" y="3429000"/>
            <a:ext cx="2715768" cy="603504"/>
            <a:chOff x="0" y="0"/>
            <a:chExt cx="3621024" cy="804672"/>
          </a:xfrm>
        </p:grpSpPr>
        <p:sp>
          <p:nvSpPr>
            <p:cNvPr name="Freeform 36" id="36"/>
            <p:cNvSpPr/>
            <p:nvPr/>
          </p:nvSpPr>
          <p:spPr>
            <a:xfrm flipH="false" flipV="false" rot="0">
              <a:off x="0" y="0"/>
              <a:ext cx="3621024" cy="804672"/>
            </a:xfrm>
            <a:custGeom>
              <a:avLst/>
              <a:gdLst/>
              <a:ahLst/>
              <a:cxnLst/>
              <a:rect r="r" b="b" t="t" l="l"/>
              <a:pathLst>
                <a:path h="804672" w="3621024">
                  <a:moveTo>
                    <a:pt x="0" y="0"/>
                  </a:moveTo>
                  <a:lnTo>
                    <a:pt x="3621024" y="0"/>
                  </a:lnTo>
                  <a:lnTo>
                    <a:pt x="3621024" y="804672"/>
                  </a:lnTo>
                  <a:lnTo>
                    <a:pt x="0" y="804672"/>
                  </a:lnTo>
                  <a:close/>
                </a:path>
              </a:pathLst>
            </a:custGeom>
            <a:blipFill>
              <a:blip r:embed="rId3">
                <a:alphaModFix amt="0"/>
              </a:blip>
              <a:stretch>
                <a:fillRect l="0" t="-37682" r="0" b="-37682"/>
              </a:stretch>
            </a:blipFill>
          </p:spPr>
        </p:sp>
        <p:sp>
          <p:nvSpPr>
            <p:cNvPr name="TextBox 37" id="37"/>
            <p:cNvSpPr txBox="true"/>
            <p:nvPr/>
          </p:nvSpPr>
          <p:spPr>
            <a:xfrm>
              <a:off x="0" y="-9525"/>
              <a:ext cx="3621024" cy="814197"/>
            </a:xfrm>
            <a:prstGeom prst="rect">
              <a:avLst/>
            </a:prstGeom>
          </p:spPr>
          <p:txBody>
            <a:bodyPr anchor="ctr" rtlCol="false" tIns="0" lIns="0" bIns="0" rIns="0"/>
            <a:lstStyle/>
            <a:p>
              <a:pPr algn="ctr">
                <a:lnSpc>
                  <a:spcPts val="1889"/>
                </a:lnSpc>
              </a:pPr>
              <a:r>
                <a:rPr lang="en-US" sz="1575" b="true">
                  <a:solidFill>
                    <a:srgbClr val="FFFFFF"/>
                  </a:solidFill>
                  <a:latin typeface="Arial Bold"/>
                  <a:ea typeface="Arial Bold"/>
                  <a:cs typeface="Arial Bold"/>
                  <a:sym typeface="Arial Bold"/>
                </a:rPr>
                <a:t>NOTEBOOK 01</a:t>
              </a:r>
            </a:p>
          </p:txBody>
        </p:sp>
      </p:grpSp>
      <p:grpSp>
        <p:nvGrpSpPr>
          <p:cNvPr name="Group 38" id="38"/>
          <p:cNvGrpSpPr/>
          <p:nvPr/>
        </p:nvGrpSpPr>
        <p:grpSpPr>
          <a:xfrm rot="0">
            <a:off x="4375404" y="4279392"/>
            <a:ext cx="2660904" cy="1234440"/>
            <a:chOff x="0" y="0"/>
            <a:chExt cx="3547872" cy="1645920"/>
          </a:xfrm>
        </p:grpSpPr>
        <p:sp>
          <p:nvSpPr>
            <p:cNvPr name="Freeform 39" id="39"/>
            <p:cNvSpPr/>
            <p:nvPr/>
          </p:nvSpPr>
          <p:spPr>
            <a:xfrm flipH="false" flipV="false" rot="0">
              <a:off x="0" y="0"/>
              <a:ext cx="3547872" cy="1645920"/>
            </a:xfrm>
            <a:custGeom>
              <a:avLst/>
              <a:gdLst/>
              <a:ahLst/>
              <a:cxnLst/>
              <a:rect r="r" b="b" t="t" l="l"/>
              <a:pathLst>
                <a:path h="1645920" w="3547872">
                  <a:moveTo>
                    <a:pt x="0" y="0"/>
                  </a:moveTo>
                  <a:lnTo>
                    <a:pt x="3547872" y="0"/>
                  </a:lnTo>
                  <a:lnTo>
                    <a:pt x="3547872" y="1645920"/>
                  </a:lnTo>
                  <a:lnTo>
                    <a:pt x="0" y="1645920"/>
                  </a:lnTo>
                  <a:close/>
                </a:path>
              </a:pathLst>
            </a:custGeom>
            <a:blipFill>
              <a:blip r:embed="rId3">
                <a:alphaModFix amt="0"/>
              </a:blip>
              <a:stretch>
                <a:fillRect l="-9522" t="0" r="-9522" b="0"/>
              </a:stretch>
            </a:blipFill>
          </p:spPr>
        </p:sp>
        <p:sp>
          <p:nvSpPr>
            <p:cNvPr name="TextBox 40" id="40"/>
            <p:cNvSpPr txBox="true"/>
            <p:nvPr/>
          </p:nvSpPr>
          <p:spPr>
            <a:xfrm>
              <a:off x="0" y="-28575"/>
              <a:ext cx="3547872" cy="1674495"/>
            </a:xfrm>
            <a:prstGeom prst="rect">
              <a:avLst/>
            </a:prstGeom>
          </p:spPr>
          <p:txBody>
            <a:bodyPr anchor="ctr" rtlCol="false" tIns="0" lIns="0" bIns="0" rIns="0"/>
            <a:lstStyle/>
            <a:p>
              <a:pPr algn="ctr">
                <a:lnSpc>
                  <a:spcPts val="2250"/>
                </a:lnSpc>
              </a:pPr>
              <a:r>
                <a:rPr lang="en-US" sz="1875" b="true">
                  <a:solidFill>
                    <a:srgbClr val="000000"/>
                  </a:solidFill>
                  <a:latin typeface="Arial Bold"/>
                  <a:ea typeface="Arial Bold"/>
                  <a:cs typeface="Arial Bold"/>
                  <a:sym typeface="Arial Bold"/>
                </a:rPr>
                <a:t>Data quality</a:t>
              </a:r>
            </a:p>
            <a:p>
              <a:pPr algn="ctr">
                <a:lnSpc>
                  <a:spcPts val="2250"/>
                </a:lnSpc>
              </a:pPr>
              <a:r>
                <a:rPr lang="en-US" sz="1875" b="true">
                  <a:solidFill>
                    <a:srgbClr val="000000"/>
                  </a:solidFill>
                  <a:latin typeface="Arial Bold"/>
                  <a:ea typeface="Arial Bold"/>
                  <a:cs typeface="Arial Bold"/>
                  <a:sym typeface="Arial Bold"/>
                </a:rPr>
                <a:t>assessment</a:t>
              </a:r>
            </a:p>
          </p:txBody>
        </p:sp>
      </p:grpSp>
      <p:grpSp>
        <p:nvGrpSpPr>
          <p:cNvPr name="Group 41" id="41"/>
          <p:cNvGrpSpPr/>
          <p:nvPr/>
        </p:nvGrpSpPr>
        <p:grpSpPr>
          <a:xfrm rot="0">
            <a:off x="4375404" y="5513832"/>
            <a:ext cx="2660904" cy="480060"/>
            <a:chOff x="0" y="0"/>
            <a:chExt cx="3547872" cy="640080"/>
          </a:xfrm>
        </p:grpSpPr>
        <p:sp>
          <p:nvSpPr>
            <p:cNvPr name="Freeform 42" id="42"/>
            <p:cNvSpPr/>
            <p:nvPr/>
          </p:nvSpPr>
          <p:spPr>
            <a:xfrm flipH="false" flipV="false" rot="0">
              <a:off x="0" y="0"/>
              <a:ext cx="3547872" cy="640080"/>
            </a:xfrm>
            <a:custGeom>
              <a:avLst/>
              <a:gdLst/>
              <a:ahLst/>
              <a:cxnLst/>
              <a:rect r="r" b="b" t="t" l="l"/>
              <a:pathLst>
                <a:path h="640080" w="3547872">
                  <a:moveTo>
                    <a:pt x="0" y="0"/>
                  </a:moveTo>
                  <a:lnTo>
                    <a:pt x="3547872" y="0"/>
                  </a:lnTo>
                  <a:lnTo>
                    <a:pt x="3547872" y="640080"/>
                  </a:lnTo>
                  <a:lnTo>
                    <a:pt x="0" y="640080"/>
                  </a:lnTo>
                  <a:close/>
                </a:path>
              </a:pathLst>
            </a:custGeom>
            <a:blipFill>
              <a:blip r:embed="rId3">
                <a:alphaModFix amt="0"/>
              </a:blip>
              <a:stretch>
                <a:fillRect l="0" t="-58002" r="0" b="-58002"/>
              </a:stretch>
            </a:blipFill>
          </p:spPr>
        </p:sp>
        <p:sp>
          <p:nvSpPr>
            <p:cNvPr name="TextBox 43" id="43"/>
            <p:cNvSpPr txBox="true"/>
            <p:nvPr/>
          </p:nvSpPr>
          <p:spPr>
            <a:xfrm>
              <a:off x="0" y="-9525"/>
              <a:ext cx="3547872" cy="649605"/>
            </a:xfrm>
            <a:prstGeom prst="rect">
              <a:avLst/>
            </a:prstGeom>
          </p:spPr>
          <p:txBody>
            <a:bodyPr anchor="ctr" rtlCol="false" tIns="0" lIns="0" bIns="0" rIns="0"/>
            <a:lstStyle/>
            <a:p>
              <a:pPr algn="ctr">
                <a:lnSpc>
                  <a:spcPts val="1889"/>
                </a:lnSpc>
              </a:pPr>
              <a:r>
                <a:rPr lang="en-US" sz="1575">
                  <a:solidFill>
                    <a:srgbClr val="585858"/>
                  </a:solidFill>
                  <a:latin typeface="Arial"/>
                  <a:ea typeface="Arial"/>
                  <a:cs typeface="Arial"/>
                  <a:sym typeface="Arial"/>
                </a:rPr>
                <a:t>quality_report.csv</a:t>
              </a:r>
            </a:p>
          </p:txBody>
        </p:sp>
      </p:grpSp>
      <p:grpSp>
        <p:nvGrpSpPr>
          <p:cNvPr name="Group 44" id="44"/>
          <p:cNvGrpSpPr/>
          <p:nvPr/>
        </p:nvGrpSpPr>
        <p:grpSpPr>
          <a:xfrm rot="0">
            <a:off x="4375404" y="6062472"/>
            <a:ext cx="2660904" cy="438912"/>
            <a:chOff x="0" y="0"/>
            <a:chExt cx="3547872" cy="585216"/>
          </a:xfrm>
        </p:grpSpPr>
        <p:sp>
          <p:nvSpPr>
            <p:cNvPr name="Freeform 45" id="45"/>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solidFill>
              <a:srgbClr val="F7F2FC"/>
            </a:solidFill>
          </p:spPr>
        </p:sp>
      </p:grpSp>
      <p:grpSp>
        <p:nvGrpSpPr>
          <p:cNvPr name="Group 46" id="46"/>
          <p:cNvGrpSpPr/>
          <p:nvPr/>
        </p:nvGrpSpPr>
        <p:grpSpPr>
          <a:xfrm rot="0">
            <a:off x="4375404" y="6062472"/>
            <a:ext cx="2660904" cy="438912"/>
            <a:chOff x="0" y="0"/>
            <a:chExt cx="3547872" cy="585216"/>
          </a:xfrm>
        </p:grpSpPr>
        <p:sp>
          <p:nvSpPr>
            <p:cNvPr name="Freeform 47" id="47"/>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blipFill>
              <a:blip r:embed="rId3">
                <a:alphaModFix amt="0"/>
              </a:blip>
              <a:stretch>
                <a:fillRect l="0" t="-68128" r="0" b="-68128"/>
              </a:stretch>
            </a:blipFill>
          </p:spPr>
        </p:sp>
        <p:sp>
          <p:nvSpPr>
            <p:cNvPr name="TextBox 48" id="48"/>
            <p:cNvSpPr txBox="true"/>
            <p:nvPr/>
          </p:nvSpPr>
          <p:spPr>
            <a:xfrm>
              <a:off x="0" y="-19050"/>
              <a:ext cx="3547872" cy="604266"/>
            </a:xfrm>
            <a:prstGeom prst="rect">
              <a:avLst/>
            </a:prstGeom>
          </p:spPr>
          <p:txBody>
            <a:bodyPr anchor="ctr" rtlCol="false" tIns="0" lIns="0" bIns="0" rIns="0"/>
            <a:lstStyle/>
            <a:p>
              <a:pPr algn="ctr">
                <a:lnSpc>
                  <a:spcPts val="1439"/>
                </a:lnSpc>
              </a:pPr>
              <a:r>
                <a:rPr lang="en-US" sz="1200">
                  <a:solidFill>
                    <a:srgbClr val="7500C0"/>
                  </a:solidFill>
                  <a:latin typeface="Arial"/>
                  <a:ea typeface="Arial"/>
                  <a:cs typeface="Arial"/>
                  <a:sym typeface="Arial"/>
                </a:rPr>
                <a:t>pandas</a:t>
              </a:r>
            </a:p>
          </p:txBody>
        </p:sp>
      </p:grpSp>
      <p:grpSp>
        <p:nvGrpSpPr>
          <p:cNvPr name="Group 49" id="49"/>
          <p:cNvGrpSpPr/>
          <p:nvPr/>
        </p:nvGrpSpPr>
        <p:grpSpPr>
          <a:xfrm rot="0">
            <a:off x="7228332" y="4663440"/>
            <a:ext cx="411480" cy="685800"/>
            <a:chOff x="0" y="0"/>
            <a:chExt cx="548640" cy="914400"/>
          </a:xfrm>
        </p:grpSpPr>
        <p:sp>
          <p:nvSpPr>
            <p:cNvPr name="Freeform 50" id="50"/>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3">
                <a:alphaModFix amt="0"/>
              </a:blip>
              <a:stretch>
                <a:fillRect l="-163839" t="0" r="-163839" b="0"/>
              </a:stretch>
            </a:blipFill>
          </p:spPr>
        </p:sp>
        <p:sp>
          <p:nvSpPr>
            <p:cNvPr name="TextBox 51" id="51"/>
            <p:cNvSpPr txBox="true"/>
            <p:nvPr/>
          </p:nvSpPr>
          <p:spPr>
            <a:xfrm>
              <a:off x="0" y="-19050"/>
              <a:ext cx="548640" cy="933450"/>
            </a:xfrm>
            <a:prstGeom prst="rect">
              <a:avLst/>
            </a:prstGeom>
          </p:spPr>
          <p:txBody>
            <a:bodyPr anchor="ctr" rtlCol="false" tIns="0" lIns="0" bIns="0" rIns="0"/>
            <a:lstStyle/>
            <a:p>
              <a:pPr algn="ctr">
                <a:lnSpc>
                  <a:spcPts val="3600"/>
                </a:lnSpc>
              </a:pPr>
              <a:r>
                <a:rPr lang="en-US" sz="3000" b="true">
                  <a:solidFill>
                    <a:srgbClr val="A100FF"/>
                  </a:solidFill>
                  <a:latin typeface="Arial Bold"/>
                  <a:ea typeface="Arial Bold"/>
                  <a:cs typeface="Arial Bold"/>
                  <a:sym typeface="Arial Bold"/>
                </a:rPr>
                <a:t>&gt;</a:t>
              </a:r>
            </a:p>
          </p:txBody>
        </p:sp>
      </p:grpSp>
      <p:grpSp>
        <p:nvGrpSpPr>
          <p:cNvPr name="Group 52" id="52"/>
          <p:cNvGrpSpPr/>
          <p:nvPr/>
        </p:nvGrpSpPr>
        <p:grpSpPr>
          <a:xfrm rot="0">
            <a:off x="7657719" y="3419475"/>
            <a:ext cx="3009138" cy="3338322"/>
            <a:chOff x="0" y="0"/>
            <a:chExt cx="4012184" cy="4451096"/>
          </a:xfrm>
        </p:grpSpPr>
        <p:sp>
          <p:nvSpPr>
            <p:cNvPr name="Freeform 53" id="53"/>
            <p:cNvSpPr/>
            <p:nvPr/>
          </p:nvSpPr>
          <p:spPr>
            <a:xfrm flipH="false" flipV="false" rot="0">
              <a:off x="0" y="0"/>
              <a:ext cx="4012184" cy="4451096"/>
            </a:xfrm>
            <a:custGeom>
              <a:avLst/>
              <a:gdLst/>
              <a:ahLst/>
              <a:cxnLst/>
              <a:rect r="r" b="b" t="t" l="l"/>
              <a:pathLst>
                <a:path h="4451096" w="4012184">
                  <a:moveTo>
                    <a:pt x="0" y="0"/>
                  </a:moveTo>
                  <a:lnTo>
                    <a:pt x="4012184" y="0"/>
                  </a:lnTo>
                  <a:lnTo>
                    <a:pt x="4012184" y="4451096"/>
                  </a:lnTo>
                  <a:lnTo>
                    <a:pt x="0" y="4451096"/>
                  </a:lnTo>
                  <a:close/>
                </a:path>
              </a:pathLst>
            </a:custGeom>
            <a:solidFill>
              <a:srgbClr val="FFFFFF"/>
            </a:solidFill>
            <a:ln w="19050" cap="sq">
              <a:solidFill>
                <a:srgbClr val="A6A6A6"/>
              </a:solidFill>
              <a:prstDash val="solid"/>
              <a:miter/>
            </a:ln>
          </p:spPr>
        </p:sp>
      </p:grpSp>
      <p:grpSp>
        <p:nvGrpSpPr>
          <p:cNvPr name="Group 54" id="54"/>
          <p:cNvGrpSpPr/>
          <p:nvPr/>
        </p:nvGrpSpPr>
        <p:grpSpPr>
          <a:xfrm rot="0">
            <a:off x="7667244" y="3429000"/>
            <a:ext cx="2990088" cy="603504"/>
            <a:chOff x="0" y="0"/>
            <a:chExt cx="3986784" cy="804672"/>
          </a:xfrm>
        </p:grpSpPr>
        <p:sp>
          <p:nvSpPr>
            <p:cNvPr name="Freeform 55" id="55"/>
            <p:cNvSpPr/>
            <p:nvPr/>
          </p:nvSpPr>
          <p:spPr>
            <a:xfrm flipH="false" flipV="false" rot="0">
              <a:off x="0" y="0"/>
              <a:ext cx="3986784" cy="804672"/>
            </a:xfrm>
            <a:custGeom>
              <a:avLst/>
              <a:gdLst/>
              <a:ahLst/>
              <a:cxnLst/>
              <a:rect r="r" b="b" t="t" l="l"/>
              <a:pathLst>
                <a:path h="804672" w="3986784">
                  <a:moveTo>
                    <a:pt x="0" y="0"/>
                  </a:moveTo>
                  <a:lnTo>
                    <a:pt x="3986784" y="0"/>
                  </a:lnTo>
                  <a:lnTo>
                    <a:pt x="3986784" y="804672"/>
                  </a:lnTo>
                  <a:lnTo>
                    <a:pt x="0" y="804672"/>
                  </a:lnTo>
                  <a:close/>
                </a:path>
              </a:pathLst>
            </a:custGeom>
            <a:solidFill>
              <a:srgbClr val="7500C0"/>
            </a:solidFill>
          </p:spPr>
        </p:sp>
      </p:grpSp>
      <p:grpSp>
        <p:nvGrpSpPr>
          <p:cNvPr name="Group 56" id="56"/>
          <p:cNvGrpSpPr/>
          <p:nvPr/>
        </p:nvGrpSpPr>
        <p:grpSpPr>
          <a:xfrm rot="0">
            <a:off x="7804404" y="3429000"/>
            <a:ext cx="2715768" cy="603504"/>
            <a:chOff x="0" y="0"/>
            <a:chExt cx="3621024" cy="804672"/>
          </a:xfrm>
        </p:grpSpPr>
        <p:sp>
          <p:nvSpPr>
            <p:cNvPr name="Freeform 57" id="57"/>
            <p:cNvSpPr/>
            <p:nvPr/>
          </p:nvSpPr>
          <p:spPr>
            <a:xfrm flipH="false" flipV="false" rot="0">
              <a:off x="0" y="0"/>
              <a:ext cx="3621024" cy="804672"/>
            </a:xfrm>
            <a:custGeom>
              <a:avLst/>
              <a:gdLst/>
              <a:ahLst/>
              <a:cxnLst/>
              <a:rect r="r" b="b" t="t" l="l"/>
              <a:pathLst>
                <a:path h="804672" w="3621024">
                  <a:moveTo>
                    <a:pt x="0" y="0"/>
                  </a:moveTo>
                  <a:lnTo>
                    <a:pt x="3621024" y="0"/>
                  </a:lnTo>
                  <a:lnTo>
                    <a:pt x="3621024" y="804672"/>
                  </a:lnTo>
                  <a:lnTo>
                    <a:pt x="0" y="804672"/>
                  </a:lnTo>
                  <a:close/>
                </a:path>
              </a:pathLst>
            </a:custGeom>
            <a:blipFill>
              <a:blip r:embed="rId3">
                <a:alphaModFix amt="0"/>
              </a:blip>
              <a:stretch>
                <a:fillRect l="0" t="-37682" r="0" b="-37682"/>
              </a:stretch>
            </a:blipFill>
          </p:spPr>
        </p:sp>
        <p:sp>
          <p:nvSpPr>
            <p:cNvPr name="TextBox 58" id="58"/>
            <p:cNvSpPr txBox="true"/>
            <p:nvPr/>
          </p:nvSpPr>
          <p:spPr>
            <a:xfrm>
              <a:off x="0" y="-9525"/>
              <a:ext cx="3621024" cy="814197"/>
            </a:xfrm>
            <a:prstGeom prst="rect">
              <a:avLst/>
            </a:prstGeom>
          </p:spPr>
          <p:txBody>
            <a:bodyPr anchor="ctr" rtlCol="false" tIns="0" lIns="0" bIns="0" rIns="0"/>
            <a:lstStyle/>
            <a:p>
              <a:pPr algn="ctr">
                <a:lnSpc>
                  <a:spcPts val="1889"/>
                </a:lnSpc>
              </a:pPr>
              <a:r>
                <a:rPr lang="en-US" sz="1575" b="true">
                  <a:solidFill>
                    <a:srgbClr val="FFFFFF"/>
                  </a:solidFill>
                  <a:latin typeface="Arial Bold"/>
                  <a:ea typeface="Arial Bold"/>
                  <a:cs typeface="Arial Bold"/>
                  <a:sym typeface="Arial Bold"/>
                </a:rPr>
                <a:t>NOTEBOOK 02</a:t>
              </a:r>
            </a:p>
          </p:txBody>
        </p:sp>
      </p:grpSp>
      <p:grpSp>
        <p:nvGrpSpPr>
          <p:cNvPr name="Group 59" id="59"/>
          <p:cNvGrpSpPr/>
          <p:nvPr/>
        </p:nvGrpSpPr>
        <p:grpSpPr>
          <a:xfrm rot="0">
            <a:off x="7831836" y="4279392"/>
            <a:ext cx="2660904" cy="1234440"/>
            <a:chOff x="0" y="0"/>
            <a:chExt cx="3547872" cy="1645920"/>
          </a:xfrm>
        </p:grpSpPr>
        <p:sp>
          <p:nvSpPr>
            <p:cNvPr name="Freeform 60" id="60"/>
            <p:cNvSpPr/>
            <p:nvPr/>
          </p:nvSpPr>
          <p:spPr>
            <a:xfrm flipH="false" flipV="false" rot="0">
              <a:off x="0" y="0"/>
              <a:ext cx="3547872" cy="1645920"/>
            </a:xfrm>
            <a:custGeom>
              <a:avLst/>
              <a:gdLst/>
              <a:ahLst/>
              <a:cxnLst/>
              <a:rect r="r" b="b" t="t" l="l"/>
              <a:pathLst>
                <a:path h="1645920" w="3547872">
                  <a:moveTo>
                    <a:pt x="0" y="0"/>
                  </a:moveTo>
                  <a:lnTo>
                    <a:pt x="3547872" y="0"/>
                  </a:lnTo>
                  <a:lnTo>
                    <a:pt x="3547872" y="1645920"/>
                  </a:lnTo>
                  <a:lnTo>
                    <a:pt x="0" y="1645920"/>
                  </a:lnTo>
                  <a:close/>
                </a:path>
              </a:pathLst>
            </a:custGeom>
            <a:blipFill>
              <a:blip r:embed="rId3">
                <a:alphaModFix amt="0"/>
              </a:blip>
              <a:stretch>
                <a:fillRect l="-9522" t="0" r="-9522" b="0"/>
              </a:stretch>
            </a:blipFill>
          </p:spPr>
        </p:sp>
        <p:sp>
          <p:nvSpPr>
            <p:cNvPr name="TextBox 61" id="61"/>
            <p:cNvSpPr txBox="true"/>
            <p:nvPr/>
          </p:nvSpPr>
          <p:spPr>
            <a:xfrm>
              <a:off x="0" y="-28575"/>
              <a:ext cx="3547872" cy="1674495"/>
            </a:xfrm>
            <a:prstGeom prst="rect">
              <a:avLst/>
            </a:prstGeom>
          </p:spPr>
          <p:txBody>
            <a:bodyPr anchor="ctr" rtlCol="false" tIns="0" lIns="0" bIns="0" rIns="0"/>
            <a:lstStyle/>
            <a:p>
              <a:pPr algn="ctr">
                <a:lnSpc>
                  <a:spcPts val="2250"/>
                </a:lnSpc>
              </a:pPr>
              <a:r>
                <a:rPr lang="en-US" sz="1875" b="true">
                  <a:solidFill>
                    <a:srgbClr val="000000"/>
                  </a:solidFill>
                  <a:latin typeface="Arial Bold"/>
                  <a:ea typeface="Arial Bold"/>
                  <a:cs typeface="Arial Bold"/>
                  <a:sym typeface="Arial Bold"/>
                </a:rPr>
                <a:t>Cleaning and</a:t>
              </a:r>
            </a:p>
            <a:p>
              <a:pPr algn="ctr">
                <a:lnSpc>
                  <a:spcPts val="2250"/>
                </a:lnSpc>
              </a:pPr>
              <a:r>
                <a:rPr lang="en-US" sz="1875" b="true">
                  <a:solidFill>
                    <a:srgbClr val="000000"/>
                  </a:solidFill>
                  <a:latin typeface="Arial Bold"/>
                  <a:ea typeface="Arial Bold"/>
                  <a:cs typeface="Arial Bold"/>
                  <a:sym typeface="Arial Bold"/>
                </a:rPr>
                <a:t>feature engineering</a:t>
              </a:r>
            </a:p>
          </p:txBody>
        </p:sp>
      </p:grpSp>
      <p:grpSp>
        <p:nvGrpSpPr>
          <p:cNvPr name="Group 62" id="62"/>
          <p:cNvGrpSpPr/>
          <p:nvPr/>
        </p:nvGrpSpPr>
        <p:grpSpPr>
          <a:xfrm rot="0">
            <a:off x="7831836" y="5513832"/>
            <a:ext cx="2660904" cy="480060"/>
            <a:chOff x="0" y="0"/>
            <a:chExt cx="3547872" cy="640080"/>
          </a:xfrm>
        </p:grpSpPr>
        <p:sp>
          <p:nvSpPr>
            <p:cNvPr name="Freeform 63" id="63"/>
            <p:cNvSpPr/>
            <p:nvPr/>
          </p:nvSpPr>
          <p:spPr>
            <a:xfrm flipH="false" flipV="false" rot="0">
              <a:off x="0" y="0"/>
              <a:ext cx="3547872" cy="640080"/>
            </a:xfrm>
            <a:custGeom>
              <a:avLst/>
              <a:gdLst/>
              <a:ahLst/>
              <a:cxnLst/>
              <a:rect r="r" b="b" t="t" l="l"/>
              <a:pathLst>
                <a:path h="640080" w="3547872">
                  <a:moveTo>
                    <a:pt x="0" y="0"/>
                  </a:moveTo>
                  <a:lnTo>
                    <a:pt x="3547872" y="0"/>
                  </a:lnTo>
                  <a:lnTo>
                    <a:pt x="3547872" y="640080"/>
                  </a:lnTo>
                  <a:lnTo>
                    <a:pt x="0" y="640080"/>
                  </a:lnTo>
                  <a:close/>
                </a:path>
              </a:pathLst>
            </a:custGeom>
            <a:blipFill>
              <a:blip r:embed="rId3">
                <a:alphaModFix amt="0"/>
              </a:blip>
              <a:stretch>
                <a:fillRect l="0" t="-58002" r="0" b="-58002"/>
              </a:stretch>
            </a:blipFill>
          </p:spPr>
        </p:sp>
        <p:sp>
          <p:nvSpPr>
            <p:cNvPr name="TextBox 64" id="64"/>
            <p:cNvSpPr txBox="true"/>
            <p:nvPr/>
          </p:nvSpPr>
          <p:spPr>
            <a:xfrm>
              <a:off x="0" y="-9525"/>
              <a:ext cx="3547872" cy="649605"/>
            </a:xfrm>
            <a:prstGeom prst="rect">
              <a:avLst/>
            </a:prstGeom>
          </p:spPr>
          <p:txBody>
            <a:bodyPr anchor="ctr" rtlCol="false" tIns="0" lIns="0" bIns="0" rIns="0"/>
            <a:lstStyle/>
            <a:p>
              <a:pPr algn="ctr">
                <a:lnSpc>
                  <a:spcPts val="1889"/>
                </a:lnSpc>
              </a:pPr>
              <a:r>
                <a:rPr lang="en-US" sz="1575">
                  <a:solidFill>
                    <a:srgbClr val="585858"/>
                  </a:solidFill>
                  <a:latin typeface="Arial"/>
                  <a:ea typeface="Arial"/>
                  <a:cs typeface="Arial"/>
                  <a:sym typeface="Arial"/>
                </a:rPr>
                <a:t>100,000 x 48</a:t>
              </a:r>
            </a:p>
          </p:txBody>
        </p:sp>
      </p:grpSp>
      <p:grpSp>
        <p:nvGrpSpPr>
          <p:cNvPr name="Group 65" id="65"/>
          <p:cNvGrpSpPr/>
          <p:nvPr/>
        </p:nvGrpSpPr>
        <p:grpSpPr>
          <a:xfrm rot="0">
            <a:off x="7831836" y="6062472"/>
            <a:ext cx="2660904" cy="438912"/>
            <a:chOff x="0" y="0"/>
            <a:chExt cx="3547872" cy="585216"/>
          </a:xfrm>
        </p:grpSpPr>
        <p:sp>
          <p:nvSpPr>
            <p:cNvPr name="Freeform 66" id="66"/>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solidFill>
              <a:srgbClr val="F7F2FC"/>
            </a:solidFill>
          </p:spPr>
        </p:sp>
      </p:grpSp>
      <p:grpSp>
        <p:nvGrpSpPr>
          <p:cNvPr name="Group 67" id="67"/>
          <p:cNvGrpSpPr/>
          <p:nvPr/>
        </p:nvGrpSpPr>
        <p:grpSpPr>
          <a:xfrm rot="0">
            <a:off x="7831836" y="6062472"/>
            <a:ext cx="2660904" cy="438912"/>
            <a:chOff x="0" y="0"/>
            <a:chExt cx="3547872" cy="585216"/>
          </a:xfrm>
        </p:grpSpPr>
        <p:sp>
          <p:nvSpPr>
            <p:cNvPr name="Freeform 68" id="68"/>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blipFill>
              <a:blip r:embed="rId3">
                <a:alphaModFix amt="0"/>
              </a:blip>
              <a:stretch>
                <a:fillRect l="0" t="-68128" r="0" b="-68128"/>
              </a:stretch>
            </a:blipFill>
          </p:spPr>
        </p:sp>
        <p:sp>
          <p:nvSpPr>
            <p:cNvPr name="TextBox 69" id="69"/>
            <p:cNvSpPr txBox="true"/>
            <p:nvPr/>
          </p:nvSpPr>
          <p:spPr>
            <a:xfrm>
              <a:off x="0" y="-19050"/>
              <a:ext cx="3547872" cy="604266"/>
            </a:xfrm>
            <a:prstGeom prst="rect">
              <a:avLst/>
            </a:prstGeom>
          </p:spPr>
          <p:txBody>
            <a:bodyPr anchor="ctr" rtlCol="false" tIns="0" lIns="0" bIns="0" rIns="0"/>
            <a:lstStyle/>
            <a:p>
              <a:pPr algn="ctr">
                <a:lnSpc>
                  <a:spcPts val="1439"/>
                </a:lnSpc>
              </a:pPr>
              <a:r>
                <a:rPr lang="en-US" sz="1200">
                  <a:solidFill>
                    <a:srgbClr val="7500C0"/>
                  </a:solidFill>
                  <a:latin typeface="Arial"/>
                  <a:ea typeface="Arial"/>
                  <a:cs typeface="Arial"/>
                  <a:sym typeface="Arial"/>
                </a:rPr>
                <a:t>pandas / NumPy</a:t>
              </a:r>
            </a:p>
          </p:txBody>
        </p:sp>
      </p:grpSp>
      <p:grpSp>
        <p:nvGrpSpPr>
          <p:cNvPr name="Group 70" id="70"/>
          <p:cNvGrpSpPr/>
          <p:nvPr/>
        </p:nvGrpSpPr>
        <p:grpSpPr>
          <a:xfrm rot="0">
            <a:off x="10684764" y="4663440"/>
            <a:ext cx="411480" cy="685800"/>
            <a:chOff x="0" y="0"/>
            <a:chExt cx="548640" cy="914400"/>
          </a:xfrm>
        </p:grpSpPr>
        <p:sp>
          <p:nvSpPr>
            <p:cNvPr name="Freeform 71" id="71"/>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3">
                <a:alphaModFix amt="0"/>
              </a:blip>
              <a:stretch>
                <a:fillRect l="-163839" t="0" r="-163839" b="0"/>
              </a:stretch>
            </a:blipFill>
          </p:spPr>
        </p:sp>
        <p:sp>
          <p:nvSpPr>
            <p:cNvPr name="TextBox 72" id="72"/>
            <p:cNvSpPr txBox="true"/>
            <p:nvPr/>
          </p:nvSpPr>
          <p:spPr>
            <a:xfrm>
              <a:off x="0" y="-19050"/>
              <a:ext cx="548640" cy="933450"/>
            </a:xfrm>
            <a:prstGeom prst="rect">
              <a:avLst/>
            </a:prstGeom>
          </p:spPr>
          <p:txBody>
            <a:bodyPr anchor="ctr" rtlCol="false" tIns="0" lIns="0" bIns="0" rIns="0"/>
            <a:lstStyle/>
            <a:p>
              <a:pPr algn="ctr">
                <a:lnSpc>
                  <a:spcPts val="3600"/>
                </a:lnSpc>
              </a:pPr>
              <a:r>
                <a:rPr lang="en-US" sz="3000" b="true">
                  <a:solidFill>
                    <a:srgbClr val="A100FF"/>
                  </a:solidFill>
                  <a:latin typeface="Arial Bold"/>
                  <a:ea typeface="Arial Bold"/>
                  <a:cs typeface="Arial Bold"/>
                  <a:sym typeface="Arial Bold"/>
                </a:rPr>
                <a:t>&gt;</a:t>
              </a:r>
            </a:p>
          </p:txBody>
        </p:sp>
      </p:grpSp>
      <p:grpSp>
        <p:nvGrpSpPr>
          <p:cNvPr name="Group 73" id="73"/>
          <p:cNvGrpSpPr/>
          <p:nvPr/>
        </p:nvGrpSpPr>
        <p:grpSpPr>
          <a:xfrm rot="0">
            <a:off x="11114151" y="3419475"/>
            <a:ext cx="3009138" cy="3338322"/>
            <a:chOff x="0" y="0"/>
            <a:chExt cx="4012184" cy="4451096"/>
          </a:xfrm>
        </p:grpSpPr>
        <p:sp>
          <p:nvSpPr>
            <p:cNvPr name="Freeform 74" id="74"/>
            <p:cNvSpPr/>
            <p:nvPr/>
          </p:nvSpPr>
          <p:spPr>
            <a:xfrm flipH="false" flipV="false" rot="0">
              <a:off x="0" y="0"/>
              <a:ext cx="4012184" cy="4451096"/>
            </a:xfrm>
            <a:custGeom>
              <a:avLst/>
              <a:gdLst/>
              <a:ahLst/>
              <a:cxnLst/>
              <a:rect r="r" b="b" t="t" l="l"/>
              <a:pathLst>
                <a:path h="4451096" w="4012184">
                  <a:moveTo>
                    <a:pt x="0" y="0"/>
                  </a:moveTo>
                  <a:lnTo>
                    <a:pt x="4012184" y="0"/>
                  </a:lnTo>
                  <a:lnTo>
                    <a:pt x="4012184" y="4451096"/>
                  </a:lnTo>
                  <a:lnTo>
                    <a:pt x="0" y="4451096"/>
                  </a:lnTo>
                  <a:close/>
                </a:path>
              </a:pathLst>
            </a:custGeom>
            <a:solidFill>
              <a:srgbClr val="FFFFFF"/>
            </a:solidFill>
            <a:ln w="19050" cap="sq">
              <a:solidFill>
                <a:srgbClr val="A6A6A6"/>
              </a:solidFill>
              <a:prstDash val="solid"/>
              <a:miter/>
            </a:ln>
          </p:spPr>
        </p:sp>
      </p:grpSp>
      <p:grpSp>
        <p:nvGrpSpPr>
          <p:cNvPr name="Group 75" id="75"/>
          <p:cNvGrpSpPr/>
          <p:nvPr/>
        </p:nvGrpSpPr>
        <p:grpSpPr>
          <a:xfrm rot="0">
            <a:off x="11123676" y="3429000"/>
            <a:ext cx="2990088" cy="603504"/>
            <a:chOff x="0" y="0"/>
            <a:chExt cx="3986784" cy="804672"/>
          </a:xfrm>
        </p:grpSpPr>
        <p:sp>
          <p:nvSpPr>
            <p:cNvPr name="Freeform 76" id="76"/>
            <p:cNvSpPr/>
            <p:nvPr/>
          </p:nvSpPr>
          <p:spPr>
            <a:xfrm flipH="false" flipV="false" rot="0">
              <a:off x="0" y="0"/>
              <a:ext cx="3986784" cy="804672"/>
            </a:xfrm>
            <a:custGeom>
              <a:avLst/>
              <a:gdLst/>
              <a:ahLst/>
              <a:cxnLst/>
              <a:rect r="r" b="b" t="t" l="l"/>
              <a:pathLst>
                <a:path h="804672" w="3986784">
                  <a:moveTo>
                    <a:pt x="0" y="0"/>
                  </a:moveTo>
                  <a:lnTo>
                    <a:pt x="3986784" y="0"/>
                  </a:lnTo>
                  <a:lnTo>
                    <a:pt x="3986784" y="804672"/>
                  </a:lnTo>
                  <a:lnTo>
                    <a:pt x="0" y="804672"/>
                  </a:lnTo>
                  <a:close/>
                </a:path>
              </a:pathLst>
            </a:custGeom>
            <a:solidFill>
              <a:srgbClr val="A100FF"/>
            </a:solidFill>
          </p:spPr>
        </p:sp>
      </p:grpSp>
      <p:grpSp>
        <p:nvGrpSpPr>
          <p:cNvPr name="Group 77" id="77"/>
          <p:cNvGrpSpPr/>
          <p:nvPr/>
        </p:nvGrpSpPr>
        <p:grpSpPr>
          <a:xfrm rot="0">
            <a:off x="11260836" y="3429000"/>
            <a:ext cx="2715768" cy="603504"/>
            <a:chOff x="0" y="0"/>
            <a:chExt cx="3621024" cy="804672"/>
          </a:xfrm>
        </p:grpSpPr>
        <p:sp>
          <p:nvSpPr>
            <p:cNvPr name="Freeform 78" id="78"/>
            <p:cNvSpPr/>
            <p:nvPr/>
          </p:nvSpPr>
          <p:spPr>
            <a:xfrm flipH="false" flipV="false" rot="0">
              <a:off x="0" y="0"/>
              <a:ext cx="3621024" cy="804672"/>
            </a:xfrm>
            <a:custGeom>
              <a:avLst/>
              <a:gdLst/>
              <a:ahLst/>
              <a:cxnLst/>
              <a:rect r="r" b="b" t="t" l="l"/>
              <a:pathLst>
                <a:path h="804672" w="3621024">
                  <a:moveTo>
                    <a:pt x="0" y="0"/>
                  </a:moveTo>
                  <a:lnTo>
                    <a:pt x="3621024" y="0"/>
                  </a:lnTo>
                  <a:lnTo>
                    <a:pt x="3621024" y="804672"/>
                  </a:lnTo>
                  <a:lnTo>
                    <a:pt x="0" y="804672"/>
                  </a:lnTo>
                  <a:close/>
                </a:path>
              </a:pathLst>
            </a:custGeom>
            <a:blipFill>
              <a:blip r:embed="rId3">
                <a:alphaModFix amt="0"/>
              </a:blip>
              <a:stretch>
                <a:fillRect l="0" t="-37682" r="0" b="-37682"/>
              </a:stretch>
            </a:blipFill>
          </p:spPr>
        </p:sp>
        <p:sp>
          <p:nvSpPr>
            <p:cNvPr name="TextBox 79" id="79"/>
            <p:cNvSpPr txBox="true"/>
            <p:nvPr/>
          </p:nvSpPr>
          <p:spPr>
            <a:xfrm>
              <a:off x="0" y="-9525"/>
              <a:ext cx="3621024" cy="814197"/>
            </a:xfrm>
            <a:prstGeom prst="rect">
              <a:avLst/>
            </a:prstGeom>
          </p:spPr>
          <p:txBody>
            <a:bodyPr anchor="ctr" rtlCol="false" tIns="0" lIns="0" bIns="0" rIns="0"/>
            <a:lstStyle/>
            <a:p>
              <a:pPr algn="ctr">
                <a:lnSpc>
                  <a:spcPts val="1889"/>
                </a:lnSpc>
              </a:pPr>
              <a:r>
                <a:rPr lang="en-US" sz="1575" b="true">
                  <a:solidFill>
                    <a:srgbClr val="FFFFFF"/>
                  </a:solidFill>
                  <a:latin typeface="Arial Bold"/>
                  <a:ea typeface="Arial Bold"/>
                  <a:cs typeface="Arial Bold"/>
                  <a:sym typeface="Arial Bold"/>
                </a:rPr>
                <a:t>NOTEBOOK 03</a:t>
              </a:r>
            </a:p>
          </p:txBody>
        </p:sp>
      </p:grpSp>
      <p:grpSp>
        <p:nvGrpSpPr>
          <p:cNvPr name="Group 80" id="80"/>
          <p:cNvGrpSpPr/>
          <p:nvPr/>
        </p:nvGrpSpPr>
        <p:grpSpPr>
          <a:xfrm rot="0">
            <a:off x="11288268" y="4279392"/>
            <a:ext cx="2660904" cy="1234440"/>
            <a:chOff x="0" y="0"/>
            <a:chExt cx="3547872" cy="1645920"/>
          </a:xfrm>
        </p:grpSpPr>
        <p:sp>
          <p:nvSpPr>
            <p:cNvPr name="Freeform 81" id="81"/>
            <p:cNvSpPr/>
            <p:nvPr/>
          </p:nvSpPr>
          <p:spPr>
            <a:xfrm flipH="false" flipV="false" rot="0">
              <a:off x="0" y="0"/>
              <a:ext cx="3547872" cy="1645920"/>
            </a:xfrm>
            <a:custGeom>
              <a:avLst/>
              <a:gdLst/>
              <a:ahLst/>
              <a:cxnLst/>
              <a:rect r="r" b="b" t="t" l="l"/>
              <a:pathLst>
                <a:path h="1645920" w="3547872">
                  <a:moveTo>
                    <a:pt x="0" y="0"/>
                  </a:moveTo>
                  <a:lnTo>
                    <a:pt x="3547872" y="0"/>
                  </a:lnTo>
                  <a:lnTo>
                    <a:pt x="3547872" y="1645920"/>
                  </a:lnTo>
                  <a:lnTo>
                    <a:pt x="0" y="1645920"/>
                  </a:lnTo>
                  <a:close/>
                </a:path>
              </a:pathLst>
            </a:custGeom>
            <a:blipFill>
              <a:blip r:embed="rId3">
                <a:alphaModFix amt="0"/>
              </a:blip>
              <a:stretch>
                <a:fillRect l="-9522" t="0" r="-9522" b="0"/>
              </a:stretch>
            </a:blipFill>
          </p:spPr>
        </p:sp>
        <p:sp>
          <p:nvSpPr>
            <p:cNvPr name="TextBox 82" id="82"/>
            <p:cNvSpPr txBox="true"/>
            <p:nvPr/>
          </p:nvSpPr>
          <p:spPr>
            <a:xfrm>
              <a:off x="0" y="-28575"/>
              <a:ext cx="3547872" cy="1674495"/>
            </a:xfrm>
            <a:prstGeom prst="rect">
              <a:avLst/>
            </a:prstGeom>
          </p:spPr>
          <p:txBody>
            <a:bodyPr anchor="ctr" rtlCol="false" tIns="0" lIns="0" bIns="0" rIns="0"/>
            <a:lstStyle/>
            <a:p>
              <a:pPr algn="ctr">
                <a:lnSpc>
                  <a:spcPts val="2250"/>
                </a:lnSpc>
              </a:pPr>
              <a:r>
                <a:rPr lang="en-US" sz="1875" b="true">
                  <a:solidFill>
                    <a:srgbClr val="000000"/>
                  </a:solidFill>
                  <a:latin typeface="Arial Bold"/>
                  <a:ea typeface="Arial Bold"/>
                  <a:cs typeface="Arial Bold"/>
                  <a:sym typeface="Arial Bold"/>
                </a:rPr>
                <a:t>Exploratory</a:t>
              </a:r>
            </a:p>
            <a:p>
              <a:pPr algn="ctr">
                <a:lnSpc>
                  <a:spcPts val="2250"/>
                </a:lnSpc>
              </a:pPr>
              <a:r>
                <a:rPr lang="en-US" sz="1875" b="true">
                  <a:solidFill>
                    <a:srgbClr val="000000"/>
                  </a:solidFill>
                  <a:latin typeface="Arial Bold"/>
                  <a:ea typeface="Arial Bold"/>
                  <a:cs typeface="Arial Bold"/>
                  <a:sym typeface="Arial Bold"/>
                </a:rPr>
                <a:t>data analysis</a:t>
              </a:r>
            </a:p>
          </p:txBody>
        </p:sp>
      </p:grpSp>
      <p:grpSp>
        <p:nvGrpSpPr>
          <p:cNvPr name="Group 83" id="83"/>
          <p:cNvGrpSpPr/>
          <p:nvPr/>
        </p:nvGrpSpPr>
        <p:grpSpPr>
          <a:xfrm rot="0">
            <a:off x="11288268" y="5513832"/>
            <a:ext cx="2660904" cy="480060"/>
            <a:chOff x="0" y="0"/>
            <a:chExt cx="3547872" cy="640080"/>
          </a:xfrm>
        </p:grpSpPr>
        <p:sp>
          <p:nvSpPr>
            <p:cNvPr name="Freeform 84" id="84"/>
            <p:cNvSpPr/>
            <p:nvPr/>
          </p:nvSpPr>
          <p:spPr>
            <a:xfrm flipH="false" flipV="false" rot="0">
              <a:off x="0" y="0"/>
              <a:ext cx="3547872" cy="640080"/>
            </a:xfrm>
            <a:custGeom>
              <a:avLst/>
              <a:gdLst/>
              <a:ahLst/>
              <a:cxnLst/>
              <a:rect r="r" b="b" t="t" l="l"/>
              <a:pathLst>
                <a:path h="640080" w="3547872">
                  <a:moveTo>
                    <a:pt x="0" y="0"/>
                  </a:moveTo>
                  <a:lnTo>
                    <a:pt x="3547872" y="0"/>
                  </a:lnTo>
                  <a:lnTo>
                    <a:pt x="3547872" y="640080"/>
                  </a:lnTo>
                  <a:lnTo>
                    <a:pt x="0" y="640080"/>
                  </a:lnTo>
                  <a:close/>
                </a:path>
              </a:pathLst>
            </a:custGeom>
            <a:blipFill>
              <a:blip r:embed="rId3">
                <a:alphaModFix amt="0"/>
              </a:blip>
              <a:stretch>
                <a:fillRect l="0" t="-58002" r="0" b="-58002"/>
              </a:stretch>
            </a:blipFill>
          </p:spPr>
        </p:sp>
        <p:sp>
          <p:nvSpPr>
            <p:cNvPr name="TextBox 85" id="85"/>
            <p:cNvSpPr txBox="true"/>
            <p:nvPr/>
          </p:nvSpPr>
          <p:spPr>
            <a:xfrm>
              <a:off x="0" y="-9525"/>
              <a:ext cx="3547872" cy="649605"/>
            </a:xfrm>
            <a:prstGeom prst="rect">
              <a:avLst/>
            </a:prstGeom>
          </p:spPr>
          <p:txBody>
            <a:bodyPr anchor="ctr" rtlCol="false" tIns="0" lIns="0" bIns="0" rIns="0"/>
            <a:lstStyle/>
            <a:p>
              <a:pPr algn="ctr">
                <a:lnSpc>
                  <a:spcPts val="1889"/>
                </a:lnSpc>
              </a:pPr>
              <a:r>
                <a:rPr lang="en-US" sz="1575">
                  <a:solidFill>
                    <a:srgbClr val="585858"/>
                  </a:solidFill>
                  <a:latin typeface="Arial"/>
                  <a:ea typeface="Arial"/>
                  <a:cs typeface="Arial"/>
                  <a:sym typeface="Arial"/>
                </a:rPr>
                <a:t>16 charts</a:t>
              </a:r>
            </a:p>
          </p:txBody>
        </p:sp>
      </p:grpSp>
      <p:grpSp>
        <p:nvGrpSpPr>
          <p:cNvPr name="Group 86" id="86"/>
          <p:cNvGrpSpPr/>
          <p:nvPr/>
        </p:nvGrpSpPr>
        <p:grpSpPr>
          <a:xfrm rot="0">
            <a:off x="11288268" y="6062472"/>
            <a:ext cx="2660904" cy="438912"/>
            <a:chOff x="0" y="0"/>
            <a:chExt cx="3547872" cy="585216"/>
          </a:xfrm>
        </p:grpSpPr>
        <p:sp>
          <p:nvSpPr>
            <p:cNvPr name="Freeform 87" id="87"/>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solidFill>
              <a:srgbClr val="F7F2FC"/>
            </a:solidFill>
          </p:spPr>
        </p:sp>
      </p:grpSp>
      <p:grpSp>
        <p:nvGrpSpPr>
          <p:cNvPr name="Group 88" id="88"/>
          <p:cNvGrpSpPr/>
          <p:nvPr/>
        </p:nvGrpSpPr>
        <p:grpSpPr>
          <a:xfrm rot="0">
            <a:off x="11288268" y="6062472"/>
            <a:ext cx="2660904" cy="438912"/>
            <a:chOff x="0" y="0"/>
            <a:chExt cx="3547872" cy="585216"/>
          </a:xfrm>
        </p:grpSpPr>
        <p:sp>
          <p:nvSpPr>
            <p:cNvPr name="Freeform 89" id="89"/>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blipFill>
              <a:blip r:embed="rId3">
                <a:alphaModFix amt="0"/>
              </a:blip>
              <a:stretch>
                <a:fillRect l="0" t="-68128" r="0" b="-68128"/>
              </a:stretch>
            </a:blipFill>
          </p:spPr>
        </p:sp>
        <p:sp>
          <p:nvSpPr>
            <p:cNvPr name="TextBox 90" id="90"/>
            <p:cNvSpPr txBox="true"/>
            <p:nvPr/>
          </p:nvSpPr>
          <p:spPr>
            <a:xfrm>
              <a:off x="0" y="-19050"/>
              <a:ext cx="3547872" cy="604266"/>
            </a:xfrm>
            <a:prstGeom prst="rect">
              <a:avLst/>
            </a:prstGeom>
          </p:spPr>
          <p:txBody>
            <a:bodyPr anchor="ctr" rtlCol="false" tIns="0" lIns="0" bIns="0" rIns="0"/>
            <a:lstStyle/>
            <a:p>
              <a:pPr algn="ctr">
                <a:lnSpc>
                  <a:spcPts val="1439"/>
                </a:lnSpc>
              </a:pPr>
              <a:r>
                <a:rPr lang="en-US" sz="1200">
                  <a:solidFill>
                    <a:srgbClr val="7500C0"/>
                  </a:solidFill>
                  <a:latin typeface="Arial"/>
                  <a:ea typeface="Arial"/>
                  <a:cs typeface="Arial"/>
                  <a:sym typeface="Arial"/>
                </a:rPr>
                <a:t>Matplotlib / Seaborn / scikit-learn</a:t>
              </a:r>
            </a:p>
          </p:txBody>
        </p:sp>
      </p:grpSp>
      <p:grpSp>
        <p:nvGrpSpPr>
          <p:cNvPr name="Group 91" id="91"/>
          <p:cNvGrpSpPr/>
          <p:nvPr/>
        </p:nvGrpSpPr>
        <p:grpSpPr>
          <a:xfrm rot="0">
            <a:off x="14141196" y="4663440"/>
            <a:ext cx="411480" cy="685800"/>
            <a:chOff x="0" y="0"/>
            <a:chExt cx="548640" cy="914400"/>
          </a:xfrm>
        </p:grpSpPr>
        <p:sp>
          <p:nvSpPr>
            <p:cNvPr name="Freeform 92" id="92"/>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3">
                <a:alphaModFix amt="0"/>
              </a:blip>
              <a:stretch>
                <a:fillRect l="-163839" t="0" r="-163839" b="0"/>
              </a:stretch>
            </a:blipFill>
          </p:spPr>
        </p:sp>
        <p:sp>
          <p:nvSpPr>
            <p:cNvPr name="TextBox 93" id="93"/>
            <p:cNvSpPr txBox="true"/>
            <p:nvPr/>
          </p:nvSpPr>
          <p:spPr>
            <a:xfrm>
              <a:off x="0" y="-19050"/>
              <a:ext cx="548640" cy="933450"/>
            </a:xfrm>
            <a:prstGeom prst="rect">
              <a:avLst/>
            </a:prstGeom>
          </p:spPr>
          <p:txBody>
            <a:bodyPr anchor="ctr" rtlCol="false" tIns="0" lIns="0" bIns="0" rIns="0"/>
            <a:lstStyle/>
            <a:p>
              <a:pPr algn="ctr">
                <a:lnSpc>
                  <a:spcPts val="3600"/>
                </a:lnSpc>
              </a:pPr>
              <a:r>
                <a:rPr lang="en-US" sz="3000" b="true">
                  <a:solidFill>
                    <a:srgbClr val="A100FF"/>
                  </a:solidFill>
                  <a:latin typeface="Arial Bold"/>
                  <a:ea typeface="Arial Bold"/>
                  <a:cs typeface="Arial Bold"/>
                  <a:sym typeface="Arial Bold"/>
                </a:rPr>
                <a:t>&gt;</a:t>
              </a:r>
            </a:p>
          </p:txBody>
        </p:sp>
      </p:grpSp>
      <p:grpSp>
        <p:nvGrpSpPr>
          <p:cNvPr name="Group 94" id="94"/>
          <p:cNvGrpSpPr/>
          <p:nvPr/>
        </p:nvGrpSpPr>
        <p:grpSpPr>
          <a:xfrm rot="0">
            <a:off x="14561058" y="3409950"/>
            <a:ext cx="3028188" cy="3357372"/>
            <a:chOff x="0" y="0"/>
            <a:chExt cx="4037584" cy="4476496"/>
          </a:xfrm>
        </p:grpSpPr>
        <p:sp>
          <p:nvSpPr>
            <p:cNvPr name="Freeform 95" id="95"/>
            <p:cNvSpPr/>
            <p:nvPr/>
          </p:nvSpPr>
          <p:spPr>
            <a:xfrm flipH="false" flipV="false" rot="0">
              <a:off x="0" y="0"/>
              <a:ext cx="4037584" cy="4476496"/>
            </a:xfrm>
            <a:custGeom>
              <a:avLst/>
              <a:gdLst/>
              <a:ahLst/>
              <a:cxnLst/>
              <a:rect r="r" b="b" t="t" l="l"/>
              <a:pathLst>
                <a:path h="4476496" w="4037584">
                  <a:moveTo>
                    <a:pt x="0" y="0"/>
                  </a:moveTo>
                  <a:lnTo>
                    <a:pt x="4037584" y="0"/>
                  </a:lnTo>
                  <a:lnTo>
                    <a:pt x="4037584" y="4476496"/>
                  </a:lnTo>
                  <a:lnTo>
                    <a:pt x="0" y="4476496"/>
                  </a:lnTo>
                  <a:close/>
                </a:path>
              </a:pathLst>
            </a:custGeom>
            <a:solidFill>
              <a:srgbClr val="FFFFFF"/>
            </a:solidFill>
            <a:ln w="38100" cap="sq">
              <a:solidFill>
                <a:srgbClr val="A100FF"/>
              </a:solidFill>
              <a:prstDash val="solid"/>
              <a:miter/>
            </a:ln>
          </p:spPr>
        </p:sp>
      </p:grpSp>
      <p:grpSp>
        <p:nvGrpSpPr>
          <p:cNvPr name="Group 96" id="96"/>
          <p:cNvGrpSpPr/>
          <p:nvPr/>
        </p:nvGrpSpPr>
        <p:grpSpPr>
          <a:xfrm rot="0">
            <a:off x="14580108" y="3429000"/>
            <a:ext cx="2990088" cy="603504"/>
            <a:chOff x="0" y="0"/>
            <a:chExt cx="3986784" cy="804672"/>
          </a:xfrm>
        </p:grpSpPr>
        <p:sp>
          <p:nvSpPr>
            <p:cNvPr name="Freeform 97" id="97"/>
            <p:cNvSpPr/>
            <p:nvPr/>
          </p:nvSpPr>
          <p:spPr>
            <a:xfrm flipH="false" flipV="false" rot="0">
              <a:off x="0" y="0"/>
              <a:ext cx="3986784" cy="804672"/>
            </a:xfrm>
            <a:custGeom>
              <a:avLst/>
              <a:gdLst/>
              <a:ahLst/>
              <a:cxnLst/>
              <a:rect r="r" b="b" t="t" l="l"/>
              <a:pathLst>
                <a:path h="804672" w="3986784">
                  <a:moveTo>
                    <a:pt x="0" y="0"/>
                  </a:moveTo>
                  <a:lnTo>
                    <a:pt x="3986784" y="0"/>
                  </a:lnTo>
                  <a:lnTo>
                    <a:pt x="3986784" y="804672"/>
                  </a:lnTo>
                  <a:lnTo>
                    <a:pt x="0" y="804672"/>
                  </a:lnTo>
                  <a:close/>
                </a:path>
              </a:pathLst>
            </a:custGeom>
            <a:solidFill>
              <a:srgbClr val="A100FF"/>
            </a:solidFill>
          </p:spPr>
        </p:sp>
      </p:grpSp>
      <p:grpSp>
        <p:nvGrpSpPr>
          <p:cNvPr name="Group 98" id="98"/>
          <p:cNvGrpSpPr/>
          <p:nvPr/>
        </p:nvGrpSpPr>
        <p:grpSpPr>
          <a:xfrm rot="0">
            <a:off x="14717268" y="3429000"/>
            <a:ext cx="2715768" cy="603504"/>
            <a:chOff x="0" y="0"/>
            <a:chExt cx="3621024" cy="804672"/>
          </a:xfrm>
        </p:grpSpPr>
        <p:sp>
          <p:nvSpPr>
            <p:cNvPr name="Freeform 99" id="99"/>
            <p:cNvSpPr/>
            <p:nvPr/>
          </p:nvSpPr>
          <p:spPr>
            <a:xfrm flipH="false" flipV="false" rot="0">
              <a:off x="0" y="0"/>
              <a:ext cx="3621024" cy="804672"/>
            </a:xfrm>
            <a:custGeom>
              <a:avLst/>
              <a:gdLst/>
              <a:ahLst/>
              <a:cxnLst/>
              <a:rect r="r" b="b" t="t" l="l"/>
              <a:pathLst>
                <a:path h="804672" w="3621024">
                  <a:moveTo>
                    <a:pt x="0" y="0"/>
                  </a:moveTo>
                  <a:lnTo>
                    <a:pt x="3621024" y="0"/>
                  </a:lnTo>
                  <a:lnTo>
                    <a:pt x="3621024" y="804672"/>
                  </a:lnTo>
                  <a:lnTo>
                    <a:pt x="0" y="804672"/>
                  </a:lnTo>
                  <a:close/>
                </a:path>
              </a:pathLst>
            </a:custGeom>
            <a:blipFill>
              <a:blip r:embed="rId3">
                <a:alphaModFix amt="0"/>
              </a:blip>
              <a:stretch>
                <a:fillRect l="0" t="-37682" r="0" b="-37682"/>
              </a:stretch>
            </a:blipFill>
          </p:spPr>
        </p:sp>
        <p:sp>
          <p:nvSpPr>
            <p:cNvPr name="TextBox 100" id="100"/>
            <p:cNvSpPr txBox="true"/>
            <p:nvPr/>
          </p:nvSpPr>
          <p:spPr>
            <a:xfrm>
              <a:off x="0" y="-9525"/>
              <a:ext cx="3621024" cy="814197"/>
            </a:xfrm>
            <a:prstGeom prst="rect">
              <a:avLst/>
            </a:prstGeom>
          </p:spPr>
          <p:txBody>
            <a:bodyPr anchor="ctr" rtlCol="false" tIns="0" lIns="0" bIns="0" rIns="0"/>
            <a:lstStyle/>
            <a:p>
              <a:pPr algn="ctr">
                <a:lnSpc>
                  <a:spcPts val="1889"/>
                </a:lnSpc>
              </a:pPr>
              <a:r>
                <a:rPr lang="en-US" sz="1575" b="true">
                  <a:solidFill>
                    <a:srgbClr val="FFFFFF"/>
                  </a:solidFill>
                  <a:latin typeface="Arial Bold"/>
                  <a:ea typeface="Arial Bold"/>
                  <a:cs typeface="Arial Bold"/>
                  <a:sym typeface="Arial Bold"/>
                </a:rPr>
                <a:t>DASHBOARD</a:t>
              </a:r>
            </a:p>
          </p:txBody>
        </p:sp>
      </p:grpSp>
      <p:grpSp>
        <p:nvGrpSpPr>
          <p:cNvPr name="Group 101" id="101"/>
          <p:cNvGrpSpPr/>
          <p:nvPr/>
        </p:nvGrpSpPr>
        <p:grpSpPr>
          <a:xfrm rot="0">
            <a:off x="14744700" y="4279392"/>
            <a:ext cx="2660904" cy="1234440"/>
            <a:chOff x="0" y="0"/>
            <a:chExt cx="3547872" cy="1645920"/>
          </a:xfrm>
        </p:grpSpPr>
        <p:sp>
          <p:nvSpPr>
            <p:cNvPr name="Freeform 102" id="102"/>
            <p:cNvSpPr/>
            <p:nvPr/>
          </p:nvSpPr>
          <p:spPr>
            <a:xfrm flipH="false" flipV="false" rot="0">
              <a:off x="0" y="0"/>
              <a:ext cx="3547872" cy="1645920"/>
            </a:xfrm>
            <a:custGeom>
              <a:avLst/>
              <a:gdLst/>
              <a:ahLst/>
              <a:cxnLst/>
              <a:rect r="r" b="b" t="t" l="l"/>
              <a:pathLst>
                <a:path h="1645920" w="3547872">
                  <a:moveTo>
                    <a:pt x="0" y="0"/>
                  </a:moveTo>
                  <a:lnTo>
                    <a:pt x="3547872" y="0"/>
                  </a:lnTo>
                  <a:lnTo>
                    <a:pt x="3547872" y="1645920"/>
                  </a:lnTo>
                  <a:lnTo>
                    <a:pt x="0" y="1645920"/>
                  </a:lnTo>
                  <a:close/>
                </a:path>
              </a:pathLst>
            </a:custGeom>
            <a:blipFill>
              <a:blip r:embed="rId3">
                <a:alphaModFix amt="0"/>
              </a:blip>
              <a:stretch>
                <a:fillRect l="-9522" t="0" r="-9522" b="0"/>
              </a:stretch>
            </a:blipFill>
          </p:spPr>
        </p:sp>
        <p:sp>
          <p:nvSpPr>
            <p:cNvPr name="TextBox 103" id="103"/>
            <p:cNvSpPr txBox="true"/>
            <p:nvPr/>
          </p:nvSpPr>
          <p:spPr>
            <a:xfrm>
              <a:off x="0" y="-28575"/>
              <a:ext cx="3547872" cy="1674495"/>
            </a:xfrm>
            <a:prstGeom prst="rect">
              <a:avLst/>
            </a:prstGeom>
          </p:spPr>
          <p:txBody>
            <a:bodyPr anchor="ctr" rtlCol="false" tIns="0" lIns="0" bIns="0" rIns="0"/>
            <a:lstStyle/>
            <a:p>
              <a:pPr algn="ctr">
                <a:lnSpc>
                  <a:spcPts val="2250"/>
                </a:lnSpc>
              </a:pPr>
              <a:r>
                <a:rPr lang="en-US" sz="1875" b="true">
                  <a:solidFill>
                    <a:srgbClr val="000000"/>
                  </a:solidFill>
                  <a:latin typeface="Arial Bold"/>
                  <a:ea typeface="Arial Bold"/>
                  <a:cs typeface="Arial Bold"/>
                  <a:sym typeface="Arial Bold"/>
                </a:rPr>
                <a:t>Streamlit</a:t>
              </a:r>
            </a:p>
            <a:p>
              <a:pPr algn="ctr">
                <a:lnSpc>
                  <a:spcPts val="2250"/>
                </a:lnSpc>
              </a:pPr>
              <a:r>
                <a:rPr lang="en-US" sz="1875" b="true">
                  <a:solidFill>
                    <a:srgbClr val="000000"/>
                  </a:solidFill>
                  <a:latin typeface="Arial Bold"/>
                  <a:ea typeface="Arial Bold"/>
                  <a:cs typeface="Arial Bold"/>
                  <a:sym typeface="Arial Bold"/>
                </a:rPr>
                <a:t>application</a:t>
              </a:r>
            </a:p>
          </p:txBody>
        </p:sp>
      </p:grpSp>
      <p:grpSp>
        <p:nvGrpSpPr>
          <p:cNvPr name="Group 104" id="104"/>
          <p:cNvGrpSpPr/>
          <p:nvPr/>
        </p:nvGrpSpPr>
        <p:grpSpPr>
          <a:xfrm rot="0">
            <a:off x="14744700" y="5513832"/>
            <a:ext cx="2660904" cy="480060"/>
            <a:chOff x="0" y="0"/>
            <a:chExt cx="3547872" cy="640080"/>
          </a:xfrm>
        </p:grpSpPr>
        <p:sp>
          <p:nvSpPr>
            <p:cNvPr name="Freeform 105" id="105"/>
            <p:cNvSpPr/>
            <p:nvPr/>
          </p:nvSpPr>
          <p:spPr>
            <a:xfrm flipH="false" flipV="false" rot="0">
              <a:off x="0" y="0"/>
              <a:ext cx="3547872" cy="640080"/>
            </a:xfrm>
            <a:custGeom>
              <a:avLst/>
              <a:gdLst/>
              <a:ahLst/>
              <a:cxnLst/>
              <a:rect r="r" b="b" t="t" l="l"/>
              <a:pathLst>
                <a:path h="640080" w="3547872">
                  <a:moveTo>
                    <a:pt x="0" y="0"/>
                  </a:moveTo>
                  <a:lnTo>
                    <a:pt x="3547872" y="0"/>
                  </a:lnTo>
                  <a:lnTo>
                    <a:pt x="3547872" y="640080"/>
                  </a:lnTo>
                  <a:lnTo>
                    <a:pt x="0" y="640080"/>
                  </a:lnTo>
                  <a:close/>
                </a:path>
              </a:pathLst>
            </a:custGeom>
            <a:blipFill>
              <a:blip r:embed="rId3">
                <a:alphaModFix amt="0"/>
              </a:blip>
              <a:stretch>
                <a:fillRect l="0" t="-58002" r="0" b="-58002"/>
              </a:stretch>
            </a:blipFill>
          </p:spPr>
        </p:sp>
        <p:sp>
          <p:nvSpPr>
            <p:cNvPr name="TextBox 106" id="106"/>
            <p:cNvSpPr txBox="true"/>
            <p:nvPr/>
          </p:nvSpPr>
          <p:spPr>
            <a:xfrm>
              <a:off x="0" y="-9525"/>
              <a:ext cx="3547872" cy="649605"/>
            </a:xfrm>
            <a:prstGeom prst="rect">
              <a:avLst/>
            </a:prstGeom>
          </p:spPr>
          <p:txBody>
            <a:bodyPr anchor="ctr" rtlCol="false" tIns="0" lIns="0" bIns="0" rIns="0"/>
            <a:lstStyle/>
            <a:p>
              <a:pPr algn="ctr">
                <a:lnSpc>
                  <a:spcPts val="1889"/>
                </a:lnSpc>
              </a:pPr>
              <a:r>
                <a:rPr lang="en-US" sz="1575">
                  <a:solidFill>
                    <a:srgbClr val="585858"/>
                  </a:solidFill>
                  <a:latin typeface="Arial"/>
                  <a:ea typeface="Arial"/>
                  <a:cs typeface="Arial"/>
                  <a:sym typeface="Arial"/>
                </a:rPr>
                <a:t>live filters</a:t>
              </a:r>
            </a:p>
          </p:txBody>
        </p:sp>
      </p:grpSp>
      <p:grpSp>
        <p:nvGrpSpPr>
          <p:cNvPr name="Group 107" id="107"/>
          <p:cNvGrpSpPr/>
          <p:nvPr/>
        </p:nvGrpSpPr>
        <p:grpSpPr>
          <a:xfrm rot="0">
            <a:off x="14744700" y="6062472"/>
            <a:ext cx="2660904" cy="438912"/>
            <a:chOff x="0" y="0"/>
            <a:chExt cx="3547872" cy="585216"/>
          </a:xfrm>
        </p:grpSpPr>
        <p:sp>
          <p:nvSpPr>
            <p:cNvPr name="Freeform 108" id="108"/>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solidFill>
              <a:srgbClr val="F7F2FC"/>
            </a:solidFill>
          </p:spPr>
        </p:sp>
      </p:grpSp>
      <p:grpSp>
        <p:nvGrpSpPr>
          <p:cNvPr name="Group 109" id="109"/>
          <p:cNvGrpSpPr/>
          <p:nvPr/>
        </p:nvGrpSpPr>
        <p:grpSpPr>
          <a:xfrm rot="0">
            <a:off x="14744700" y="6062472"/>
            <a:ext cx="2660904" cy="438912"/>
            <a:chOff x="0" y="0"/>
            <a:chExt cx="3547872" cy="585216"/>
          </a:xfrm>
        </p:grpSpPr>
        <p:sp>
          <p:nvSpPr>
            <p:cNvPr name="Freeform 110" id="110"/>
            <p:cNvSpPr/>
            <p:nvPr/>
          </p:nvSpPr>
          <p:spPr>
            <a:xfrm flipH="false" flipV="false" rot="0">
              <a:off x="0" y="0"/>
              <a:ext cx="3547872" cy="585216"/>
            </a:xfrm>
            <a:custGeom>
              <a:avLst/>
              <a:gdLst/>
              <a:ahLst/>
              <a:cxnLst/>
              <a:rect r="r" b="b" t="t" l="l"/>
              <a:pathLst>
                <a:path h="585216" w="3547872">
                  <a:moveTo>
                    <a:pt x="0" y="0"/>
                  </a:moveTo>
                  <a:lnTo>
                    <a:pt x="3547872" y="0"/>
                  </a:lnTo>
                  <a:lnTo>
                    <a:pt x="3547872" y="585216"/>
                  </a:lnTo>
                  <a:lnTo>
                    <a:pt x="0" y="585216"/>
                  </a:lnTo>
                  <a:close/>
                </a:path>
              </a:pathLst>
            </a:custGeom>
            <a:blipFill>
              <a:blip r:embed="rId3">
                <a:alphaModFix amt="0"/>
              </a:blip>
              <a:stretch>
                <a:fillRect l="0" t="-68128" r="0" b="-68128"/>
              </a:stretch>
            </a:blipFill>
          </p:spPr>
        </p:sp>
        <p:sp>
          <p:nvSpPr>
            <p:cNvPr name="TextBox 111" id="111"/>
            <p:cNvSpPr txBox="true"/>
            <p:nvPr/>
          </p:nvSpPr>
          <p:spPr>
            <a:xfrm>
              <a:off x="0" y="-19050"/>
              <a:ext cx="3547872" cy="604266"/>
            </a:xfrm>
            <a:prstGeom prst="rect">
              <a:avLst/>
            </a:prstGeom>
          </p:spPr>
          <p:txBody>
            <a:bodyPr anchor="ctr" rtlCol="false" tIns="0" lIns="0" bIns="0" rIns="0"/>
            <a:lstStyle/>
            <a:p>
              <a:pPr algn="ctr">
                <a:lnSpc>
                  <a:spcPts val="1439"/>
                </a:lnSpc>
              </a:pPr>
              <a:r>
                <a:rPr lang="en-US" sz="1200">
                  <a:solidFill>
                    <a:srgbClr val="7500C0"/>
                  </a:solidFill>
                  <a:latin typeface="Arial"/>
                  <a:ea typeface="Arial"/>
                  <a:cs typeface="Arial"/>
                  <a:sym typeface="Arial"/>
                </a:rPr>
                <a:t>Streamlit / Plotly</a:t>
              </a:r>
            </a:p>
          </p:txBody>
        </p:sp>
      </p:grpSp>
      <p:grpSp>
        <p:nvGrpSpPr>
          <p:cNvPr name="Group 112" id="112"/>
          <p:cNvGrpSpPr/>
          <p:nvPr/>
        </p:nvGrpSpPr>
        <p:grpSpPr>
          <a:xfrm rot="0">
            <a:off x="987552" y="7338060"/>
            <a:ext cx="16322040" cy="960120"/>
            <a:chOff x="0" y="0"/>
            <a:chExt cx="21762720" cy="1280160"/>
          </a:xfrm>
        </p:grpSpPr>
        <p:sp>
          <p:nvSpPr>
            <p:cNvPr name="Freeform 113" id="113"/>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114" id="114"/>
            <p:cNvSpPr txBox="true"/>
            <p:nvPr/>
          </p:nvSpPr>
          <p:spPr>
            <a:xfrm>
              <a:off x="0" y="-28575"/>
              <a:ext cx="21762720" cy="1308735"/>
            </a:xfrm>
            <a:prstGeom prst="rect">
              <a:avLst/>
            </a:prstGeom>
          </p:spPr>
          <p:txBody>
            <a:bodyPr anchor="ctr" rtlCol="false" tIns="0" lIns="0" bIns="0" rIns="0"/>
            <a:lstStyle/>
            <a:p>
              <a:pPr algn="l">
                <a:lnSpc>
                  <a:spcPts val="2250"/>
                </a:lnSpc>
              </a:pPr>
              <a:r>
                <a:rPr lang="en-US" sz="1875">
                  <a:solidFill>
                    <a:srgbClr val="000000"/>
                  </a:solidFill>
                  <a:latin typeface="Arial"/>
                  <a:ea typeface="Arial"/>
                  <a:cs typeface="Arial"/>
                  <a:sym typeface="Arial"/>
                </a:rPr>
                <a:t>Notebooks run in order, each consuming the previous one's output. Every figure in this deck was produced by running that chain against the full 100,000-row dataset. Random Forest feature importance was used only as a second opinion on the correlation ranking, not as a predictive model.</a:t>
              </a:r>
            </a:p>
          </p:txBody>
        </p:sp>
      </p:grpSp>
      <p:grpSp>
        <p:nvGrpSpPr>
          <p:cNvPr name="Group 115" id="115"/>
          <p:cNvGrpSpPr/>
          <p:nvPr/>
        </p:nvGrpSpPr>
        <p:grpSpPr>
          <a:xfrm rot="0">
            <a:off x="987552" y="8476488"/>
            <a:ext cx="16322040" cy="548640"/>
            <a:chOff x="0" y="0"/>
            <a:chExt cx="21762720" cy="731520"/>
          </a:xfrm>
        </p:grpSpPr>
        <p:sp>
          <p:nvSpPr>
            <p:cNvPr name="Freeform 116" id="116"/>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117" id="117"/>
            <p:cNvSpPr txBox="true"/>
            <p:nvPr/>
          </p:nvSpPr>
          <p:spPr>
            <a:xfrm>
              <a:off x="0" y="-19050"/>
              <a:ext cx="21762720" cy="750570"/>
            </a:xfrm>
            <a:prstGeom prst="rect">
              <a:avLst/>
            </a:prstGeom>
          </p:spPr>
          <p:txBody>
            <a:bodyPr anchor="ctr" rtlCol="false" tIns="0" lIns="0" bIns="0" rIns="0"/>
            <a:lstStyle/>
            <a:p>
              <a:pPr algn="l">
                <a:lnSpc>
                  <a:spcPts val="2160"/>
                </a:lnSpc>
              </a:pPr>
              <a:r>
                <a:rPr lang="en-US" b="true" sz="1800" u="sng">
                  <a:solidFill>
                    <a:srgbClr val="A100FF"/>
                  </a:solidFill>
                  <a:latin typeface="Arial Bold"/>
                  <a:ea typeface="Arial Bold"/>
                  <a:cs typeface="Arial Bold"/>
                  <a:sym typeface="Arial Bold"/>
                  <a:hlinkClick r:id="rId4" tooltip="https://github.com/Purnima-Vats/Group6_Capstone_Project"/>
                </a:rPr>
                <a:t>Repository:  github.com/Purnima-Vats/Group6_Capstone_Project</a:t>
              </a:r>
            </a:p>
          </p:txBody>
        </p:sp>
      </p:grpSp>
      <p:grpSp>
        <p:nvGrpSpPr>
          <p:cNvPr name="Group 118" id="118"/>
          <p:cNvGrpSpPr/>
          <p:nvPr/>
        </p:nvGrpSpPr>
        <p:grpSpPr>
          <a:xfrm rot="0">
            <a:off x="10424160" y="411480"/>
            <a:ext cx="5966460" cy="342900"/>
            <a:chOff x="0" y="0"/>
            <a:chExt cx="7955280" cy="457200"/>
          </a:xfrm>
        </p:grpSpPr>
        <p:sp>
          <p:nvSpPr>
            <p:cNvPr name="Freeform 119" id="119"/>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3">
                <a:alphaModFix amt="0"/>
              </a:blip>
              <a:stretch>
                <a:fillRect l="0" t="-289039" r="0" b="-289039"/>
              </a:stretch>
            </a:blipFill>
          </p:spPr>
        </p:sp>
        <p:sp>
          <p:nvSpPr>
            <p:cNvPr name="TextBox 120" id="120"/>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121" id="121"/>
          <p:cNvGrpSpPr/>
          <p:nvPr/>
        </p:nvGrpSpPr>
        <p:grpSpPr>
          <a:xfrm rot="0">
            <a:off x="16486632" y="411480"/>
            <a:ext cx="205740" cy="342900"/>
            <a:chOff x="0" y="0"/>
            <a:chExt cx="274320" cy="457200"/>
          </a:xfrm>
        </p:grpSpPr>
        <p:sp>
          <p:nvSpPr>
            <p:cNvPr name="Freeform 122" id="122"/>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3">
                <a:alphaModFix amt="0"/>
              </a:blip>
              <a:stretch>
                <a:fillRect l="-163839" t="0" r="-163839" b="0"/>
              </a:stretch>
            </a:blipFill>
          </p:spPr>
        </p:sp>
        <p:sp>
          <p:nvSpPr>
            <p:cNvPr name="TextBox 123" id="123"/>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124" id="124"/>
          <p:cNvGrpSpPr/>
          <p:nvPr/>
        </p:nvGrpSpPr>
        <p:grpSpPr>
          <a:xfrm rot="0">
            <a:off x="16664940" y="411480"/>
            <a:ext cx="685800" cy="342900"/>
            <a:chOff x="0" y="0"/>
            <a:chExt cx="914400" cy="457200"/>
          </a:xfrm>
        </p:grpSpPr>
        <p:sp>
          <p:nvSpPr>
            <p:cNvPr name="Freeform 125" id="125"/>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3">
                <a:alphaModFix amt="0"/>
              </a:blip>
              <a:stretch>
                <a:fillRect l="-14151" t="0" r="-14151" b="0"/>
              </a:stretch>
            </a:blipFill>
          </p:spPr>
        </p:sp>
        <p:sp>
          <p:nvSpPr>
            <p:cNvPr name="TextBox 126" id="126"/>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7</a:t>
              </a:r>
            </a:p>
          </p:txBody>
        </p:sp>
      </p:grpSp>
      <p:grpSp>
        <p:nvGrpSpPr>
          <p:cNvPr name="Group 127" id="127"/>
          <p:cNvGrpSpPr/>
          <p:nvPr/>
        </p:nvGrpSpPr>
        <p:grpSpPr>
          <a:xfrm rot="0">
            <a:off x="987552" y="9601200"/>
            <a:ext cx="8229600" cy="342900"/>
            <a:chOff x="0" y="0"/>
            <a:chExt cx="10972800" cy="457200"/>
          </a:xfrm>
        </p:grpSpPr>
        <p:sp>
          <p:nvSpPr>
            <p:cNvPr name="Freeform 128" id="128"/>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3">
                <a:alphaModFix amt="0"/>
              </a:blip>
              <a:stretch>
                <a:fillRect l="0" t="-417640" r="0" b="-417640"/>
              </a:stretch>
            </a:blipFill>
          </p:spPr>
        </p:sp>
        <p:sp>
          <p:nvSpPr>
            <p:cNvPr name="TextBox 129" id="129"/>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130" id="130"/>
          <p:cNvGrpSpPr/>
          <p:nvPr/>
        </p:nvGrpSpPr>
        <p:grpSpPr>
          <a:xfrm rot="0">
            <a:off x="0" y="9464040"/>
            <a:ext cx="18288000" cy="822960"/>
            <a:chOff x="0" y="0"/>
            <a:chExt cx="24384000" cy="1097280"/>
          </a:xfrm>
        </p:grpSpPr>
        <p:grpSp>
          <p:nvGrpSpPr>
            <p:cNvPr name="Group 131" id="131"/>
            <p:cNvGrpSpPr/>
            <p:nvPr/>
          </p:nvGrpSpPr>
          <p:grpSpPr>
            <a:xfrm rot="0">
              <a:off x="0" y="0"/>
              <a:ext cx="24384000" cy="1097280"/>
              <a:chOff x="0" y="0"/>
              <a:chExt cx="16256000" cy="731520"/>
            </a:xfrm>
          </p:grpSpPr>
          <p:sp>
            <p:nvSpPr>
              <p:cNvPr name="Freeform 132" id="132">
                <a:hlinkClick r:id="rId5"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6"/>
                <a:stretch>
                  <a:fillRect l="0" t="0" r="-45" b="-609"/>
                </a:stretch>
              </a:blipFill>
            </p:spPr>
          </p:sp>
        </p:grpSp>
        <p:grpSp>
          <p:nvGrpSpPr>
            <p:cNvPr name="Group 133" id="133"/>
            <p:cNvGrpSpPr/>
            <p:nvPr/>
          </p:nvGrpSpPr>
          <p:grpSpPr>
            <a:xfrm rot="0">
              <a:off x="1316736" y="182880"/>
              <a:ext cx="10972800" cy="457200"/>
              <a:chOff x="0" y="0"/>
              <a:chExt cx="10972800" cy="457200"/>
            </a:xfrm>
          </p:grpSpPr>
          <p:sp>
            <p:nvSpPr>
              <p:cNvPr name="Freeform 134" id="134">
                <a:hlinkClick r:id="rId7" tooltip="https://canva.link/j1m0vdglw23sasg"/>
              </p:cNvPr>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3">
                  <a:alphaModFix amt="0"/>
                </a:blip>
                <a:stretch>
                  <a:fillRect l="0" t="-417640" r="0" b="-417640"/>
                </a:stretch>
              </a:blipFill>
            </p:spPr>
          </p:sp>
          <p:sp>
            <p:nvSpPr>
              <p:cNvPr name="TextBox 135" id="135"/>
              <p:cNvSpPr txBox="true"/>
              <p:nvPr/>
            </p:nvSpPr>
            <p:spPr>
              <a:xfrm>
                <a:off x="0" y="-19050"/>
                <a:ext cx="10972800" cy="476250"/>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8" tooltip="https://canva.link/j1m0vdglw23sasg"/>
                  </a:rPr>
                  <a:t>Group 6  |  Data Analytics Capstone</a:t>
                </a:r>
              </a:p>
            </p:txBody>
          </p:sp>
        </p:grpSp>
        <p:sp>
          <p:nvSpPr>
            <p:cNvPr name="Freeform 136" id="136">
              <a:hlinkClick r:id="rId11"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19050"/>
              <a:ext cx="21749918" cy="1335786"/>
            </a:xfrm>
            <a:prstGeom prst="rect">
              <a:avLst/>
            </a:prstGeom>
          </p:spPr>
          <p:txBody>
            <a:bodyPr anchor="ctr" rtlCol="false" tIns="0" lIns="0" bIns="0" rIns="0"/>
            <a:lstStyle/>
            <a:p>
              <a:pPr algn="l">
                <a:lnSpc>
                  <a:spcPts val="4860"/>
                </a:lnSpc>
              </a:pPr>
              <a:r>
                <a:rPr lang="en-US" sz="4050" b="true">
                  <a:solidFill>
                    <a:srgbClr val="A100FF"/>
                  </a:solidFill>
                  <a:latin typeface="Arial Bold"/>
                  <a:ea typeface="Arial Bold"/>
                  <a:cs typeface="Arial Bold"/>
                  <a:sym typeface="Arial Bold"/>
                </a:rPr>
                <a:t>100,000 enrollments, 40 fields, one row per learner</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A single table spanning identity, behaviour, performance and payment.</a:t>
              </a:r>
            </a:p>
          </p:txBody>
        </p:sp>
      </p:grpSp>
      <p:pic>
        <p:nvPicPr>
          <p:cNvPr name="Picture 8" id="8"/>
          <p:cNvPicPr>
            <a:picLocks noChangeAspect="true"/>
          </p:cNvPicPr>
          <p:nvPr/>
        </p:nvPicPr>
        <p:blipFill>
          <a:blip r:embed="rId3"/>
          <a:stretch>
            <a:fillRect/>
          </a:stretch>
        </p:blipFill>
        <p:spPr>
          <a:xfrm rot="0">
            <a:off x="-995179" y="2009642"/>
            <a:ext cx="11942147" cy="6727154"/>
          </a:xfrm>
          <a:prstGeom prst="rect">
            <a:avLst/>
          </a:prstGeom>
        </p:spPr>
      </p:pic>
      <p:grpSp>
        <p:nvGrpSpPr>
          <p:cNvPr name="Group 9" id="9"/>
          <p:cNvGrpSpPr/>
          <p:nvPr/>
        </p:nvGrpSpPr>
        <p:grpSpPr>
          <a:xfrm rot="0">
            <a:off x="10223725" y="2523744"/>
            <a:ext cx="2674620" cy="960120"/>
            <a:chOff x="0" y="0"/>
            <a:chExt cx="3566160" cy="1280160"/>
          </a:xfrm>
        </p:grpSpPr>
        <p:sp>
          <p:nvSpPr>
            <p:cNvPr name="Freeform 10" id="10"/>
            <p:cNvSpPr/>
            <p:nvPr/>
          </p:nvSpPr>
          <p:spPr>
            <a:xfrm flipH="false" flipV="false" rot="0">
              <a:off x="0" y="0"/>
              <a:ext cx="3566160" cy="1280160"/>
            </a:xfrm>
            <a:custGeom>
              <a:avLst/>
              <a:gdLst/>
              <a:ahLst/>
              <a:cxnLst/>
              <a:rect r="r" b="b" t="t" l="l"/>
              <a:pathLst>
                <a:path h="1280160" w="3566160">
                  <a:moveTo>
                    <a:pt x="0" y="0"/>
                  </a:moveTo>
                  <a:lnTo>
                    <a:pt x="3566160" y="0"/>
                  </a:lnTo>
                  <a:lnTo>
                    <a:pt x="3566160" y="1280160"/>
                  </a:lnTo>
                  <a:lnTo>
                    <a:pt x="0" y="1280160"/>
                  </a:lnTo>
                  <a:close/>
                </a:path>
              </a:pathLst>
            </a:custGeom>
            <a:blipFill>
              <a:blip r:embed="rId2">
                <a:alphaModFix amt="0"/>
              </a:blip>
              <a:stretch>
                <a:fillRect l="0" t="-4279" r="0" b="-4279"/>
              </a:stretch>
            </a:blipFill>
          </p:spPr>
        </p:sp>
        <p:sp>
          <p:nvSpPr>
            <p:cNvPr name="TextBox 11" id="11"/>
            <p:cNvSpPr txBox="true"/>
            <p:nvPr/>
          </p:nvSpPr>
          <p:spPr>
            <a:xfrm>
              <a:off x="0" y="-28575"/>
              <a:ext cx="3566160" cy="1308735"/>
            </a:xfrm>
            <a:prstGeom prst="rect">
              <a:avLst/>
            </a:prstGeom>
          </p:spPr>
          <p:txBody>
            <a:bodyPr anchor="ctr" rtlCol="false" tIns="0" lIns="0" bIns="0" rIns="0"/>
            <a:lstStyle/>
            <a:p>
              <a:pPr algn="l">
                <a:lnSpc>
                  <a:spcPts val="2250"/>
                </a:lnSpc>
              </a:pPr>
              <a:r>
                <a:rPr lang="en-US" sz="1875" b="true">
                  <a:solidFill>
                    <a:srgbClr val="A100FF"/>
                  </a:solidFill>
                  <a:latin typeface="Arial Bold"/>
                  <a:ea typeface="Arial Bold"/>
                  <a:cs typeface="Arial Bold"/>
                  <a:sym typeface="Arial Bold"/>
                </a:rPr>
                <a:t>Target KPI</a:t>
              </a:r>
            </a:p>
          </p:txBody>
        </p:sp>
      </p:grpSp>
      <p:grpSp>
        <p:nvGrpSpPr>
          <p:cNvPr name="Group 12" id="12"/>
          <p:cNvGrpSpPr/>
          <p:nvPr/>
        </p:nvGrpSpPr>
        <p:grpSpPr>
          <a:xfrm rot="0">
            <a:off x="12966925" y="2523744"/>
            <a:ext cx="5074920" cy="960120"/>
            <a:chOff x="0" y="0"/>
            <a:chExt cx="6766560" cy="1280160"/>
          </a:xfrm>
        </p:grpSpPr>
        <p:sp>
          <p:nvSpPr>
            <p:cNvPr name="Freeform 13" id="13"/>
            <p:cNvSpPr/>
            <p:nvPr/>
          </p:nvSpPr>
          <p:spPr>
            <a:xfrm flipH="false" flipV="false" rot="0">
              <a:off x="0" y="0"/>
              <a:ext cx="6766560" cy="1280160"/>
            </a:xfrm>
            <a:custGeom>
              <a:avLst/>
              <a:gdLst/>
              <a:ahLst/>
              <a:cxnLst/>
              <a:rect r="r" b="b" t="t" l="l"/>
              <a:pathLst>
                <a:path h="1280160" w="6766560">
                  <a:moveTo>
                    <a:pt x="0" y="0"/>
                  </a:moveTo>
                  <a:lnTo>
                    <a:pt x="6766560" y="0"/>
                  </a:lnTo>
                  <a:lnTo>
                    <a:pt x="6766560" y="1280160"/>
                  </a:lnTo>
                  <a:lnTo>
                    <a:pt x="0" y="1280160"/>
                  </a:lnTo>
                  <a:close/>
                </a:path>
              </a:pathLst>
            </a:custGeom>
            <a:blipFill>
              <a:blip r:embed="rId2">
                <a:alphaModFix amt="0"/>
              </a:blip>
              <a:stretch>
                <a:fillRect l="0" t="-52992" r="0" b="-52992"/>
              </a:stretch>
            </a:blipFill>
          </p:spPr>
        </p:sp>
        <p:sp>
          <p:nvSpPr>
            <p:cNvPr name="TextBox 14" id="14"/>
            <p:cNvSpPr txBox="true"/>
            <p:nvPr/>
          </p:nvSpPr>
          <p:spPr>
            <a:xfrm>
              <a:off x="0" y="-19050"/>
              <a:ext cx="6766560" cy="1299210"/>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Completion rate, currently 49.03%</a:t>
              </a:r>
            </a:p>
          </p:txBody>
        </p:sp>
      </p:grpSp>
      <p:grpSp>
        <p:nvGrpSpPr>
          <p:cNvPr name="Group 15" id="15"/>
          <p:cNvGrpSpPr/>
          <p:nvPr/>
        </p:nvGrpSpPr>
        <p:grpSpPr>
          <a:xfrm rot="0">
            <a:off x="10223725" y="3456432"/>
            <a:ext cx="7818120" cy="13716"/>
            <a:chOff x="0" y="0"/>
            <a:chExt cx="10424160" cy="18288"/>
          </a:xfrm>
        </p:grpSpPr>
        <p:sp>
          <p:nvSpPr>
            <p:cNvPr name="Freeform 16" id="16"/>
            <p:cNvSpPr/>
            <p:nvPr/>
          </p:nvSpPr>
          <p:spPr>
            <a:xfrm flipH="false" flipV="false" rot="0">
              <a:off x="0" y="0"/>
              <a:ext cx="10424160" cy="18288"/>
            </a:xfrm>
            <a:custGeom>
              <a:avLst/>
              <a:gdLst/>
              <a:ahLst/>
              <a:cxnLst/>
              <a:rect r="r" b="b" t="t" l="l"/>
              <a:pathLst>
                <a:path h="18288" w="10424160">
                  <a:moveTo>
                    <a:pt x="0" y="0"/>
                  </a:moveTo>
                  <a:lnTo>
                    <a:pt x="10424160" y="0"/>
                  </a:lnTo>
                  <a:lnTo>
                    <a:pt x="10424160" y="18288"/>
                  </a:lnTo>
                  <a:lnTo>
                    <a:pt x="0" y="18288"/>
                  </a:lnTo>
                  <a:close/>
                </a:path>
              </a:pathLst>
            </a:custGeom>
            <a:solidFill>
              <a:srgbClr val="E3E3E3"/>
            </a:solidFill>
          </p:spPr>
        </p:sp>
      </p:grpSp>
      <p:grpSp>
        <p:nvGrpSpPr>
          <p:cNvPr name="Group 17" id="17"/>
          <p:cNvGrpSpPr/>
          <p:nvPr/>
        </p:nvGrpSpPr>
        <p:grpSpPr>
          <a:xfrm rot="0">
            <a:off x="10223725" y="3593592"/>
            <a:ext cx="2674620" cy="960120"/>
            <a:chOff x="0" y="0"/>
            <a:chExt cx="3566160" cy="1280160"/>
          </a:xfrm>
        </p:grpSpPr>
        <p:sp>
          <p:nvSpPr>
            <p:cNvPr name="Freeform 18" id="18"/>
            <p:cNvSpPr/>
            <p:nvPr/>
          </p:nvSpPr>
          <p:spPr>
            <a:xfrm flipH="false" flipV="false" rot="0">
              <a:off x="0" y="0"/>
              <a:ext cx="3566160" cy="1280160"/>
            </a:xfrm>
            <a:custGeom>
              <a:avLst/>
              <a:gdLst/>
              <a:ahLst/>
              <a:cxnLst/>
              <a:rect r="r" b="b" t="t" l="l"/>
              <a:pathLst>
                <a:path h="1280160" w="3566160">
                  <a:moveTo>
                    <a:pt x="0" y="0"/>
                  </a:moveTo>
                  <a:lnTo>
                    <a:pt x="3566160" y="0"/>
                  </a:lnTo>
                  <a:lnTo>
                    <a:pt x="3566160" y="1280160"/>
                  </a:lnTo>
                  <a:lnTo>
                    <a:pt x="0" y="1280160"/>
                  </a:lnTo>
                  <a:close/>
                </a:path>
              </a:pathLst>
            </a:custGeom>
            <a:blipFill>
              <a:blip r:embed="rId2">
                <a:alphaModFix amt="0"/>
              </a:blip>
              <a:stretch>
                <a:fillRect l="0" t="-4279" r="0" b="-4279"/>
              </a:stretch>
            </a:blipFill>
          </p:spPr>
        </p:sp>
        <p:sp>
          <p:nvSpPr>
            <p:cNvPr name="TextBox 19" id="19"/>
            <p:cNvSpPr txBox="true"/>
            <p:nvPr/>
          </p:nvSpPr>
          <p:spPr>
            <a:xfrm>
              <a:off x="0" y="-28575"/>
              <a:ext cx="3566160" cy="1308735"/>
            </a:xfrm>
            <a:prstGeom prst="rect">
              <a:avLst/>
            </a:prstGeom>
          </p:spPr>
          <p:txBody>
            <a:bodyPr anchor="ctr" rtlCol="false" tIns="0" lIns="0" bIns="0" rIns="0"/>
            <a:lstStyle/>
            <a:p>
              <a:pPr algn="l">
                <a:lnSpc>
                  <a:spcPts val="2250"/>
                </a:lnSpc>
              </a:pPr>
              <a:r>
                <a:rPr lang="en-US" sz="1875" b="true">
                  <a:solidFill>
                    <a:srgbClr val="A100FF"/>
                  </a:solidFill>
                  <a:latin typeface="Arial Bold"/>
                  <a:ea typeface="Arial Bold"/>
                  <a:cs typeface="Arial Bold"/>
                  <a:sym typeface="Arial Bold"/>
                </a:rPr>
                <a:t>Key dimensions</a:t>
              </a:r>
            </a:p>
          </p:txBody>
        </p:sp>
      </p:grpSp>
      <p:grpSp>
        <p:nvGrpSpPr>
          <p:cNvPr name="Group 20" id="20"/>
          <p:cNvGrpSpPr/>
          <p:nvPr/>
        </p:nvGrpSpPr>
        <p:grpSpPr>
          <a:xfrm rot="0">
            <a:off x="12966925" y="3593592"/>
            <a:ext cx="5074920" cy="960120"/>
            <a:chOff x="0" y="0"/>
            <a:chExt cx="6766560" cy="1280160"/>
          </a:xfrm>
        </p:grpSpPr>
        <p:sp>
          <p:nvSpPr>
            <p:cNvPr name="Freeform 21" id="21"/>
            <p:cNvSpPr/>
            <p:nvPr/>
          </p:nvSpPr>
          <p:spPr>
            <a:xfrm flipH="false" flipV="false" rot="0">
              <a:off x="0" y="0"/>
              <a:ext cx="6766560" cy="1280160"/>
            </a:xfrm>
            <a:custGeom>
              <a:avLst/>
              <a:gdLst/>
              <a:ahLst/>
              <a:cxnLst/>
              <a:rect r="r" b="b" t="t" l="l"/>
              <a:pathLst>
                <a:path h="1280160" w="6766560">
                  <a:moveTo>
                    <a:pt x="0" y="0"/>
                  </a:moveTo>
                  <a:lnTo>
                    <a:pt x="6766560" y="0"/>
                  </a:lnTo>
                  <a:lnTo>
                    <a:pt x="6766560" y="1280160"/>
                  </a:lnTo>
                  <a:lnTo>
                    <a:pt x="0" y="1280160"/>
                  </a:lnTo>
                  <a:close/>
                </a:path>
              </a:pathLst>
            </a:custGeom>
            <a:blipFill>
              <a:blip r:embed="rId2">
                <a:alphaModFix amt="0"/>
              </a:blip>
              <a:stretch>
                <a:fillRect l="0" t="-52992" r="0" b="-52992"/>
              </a:stretch>
            </a:blipFill>
          </p:spPr>
        </p:sp>
        <p:sp>
          <p:nvSpPr>
            <p:cNvPr name="TextBox 22" id="22"/>
            <p:cNvSpPr txBox="true"/>
            <p:nvPr/>
          </p:nvSpPr>
          <p:spPr>
            <a:xfrm>
              <a:off x="0" y="-19050"/>
              <a:ext cx="6766560" cy="1299210"/>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Category, Course_Level, Employment_Status, Payment_Mode, Device_Type, engagement_tier</a:t>
              </a:r>
            </a:p>
          </p:txBody>
        </p:sp>
      </p:grpSp>
      <p:grpSp>
        <p:nvGrpSpPr>
          <p:cNvPr name="Group 23" id="23"/>
          <p:cNvGrpSpPr/>
          <p:nvPr/>
        </p:nvGrpSpPr>
        <p:grpSpPr>
          <a:xfrm rot="0">
            <a:off x="10223725" y="4526280"/>
            <a:ext cx="7818120" cy="13716"/>
            <a:chOff x="0" y="0"/>
            <a:chExt cx="10424160" cy="18288"/>
          </a:xfrm>
        </p:grpSpPr>
        <p:sp>
          <p:nvSpPr>
            <p:cNvPr name="Freeform 24" id="24"/>
            <p:cNvSpPr/>
            <p:nvPr/>
          </p:nvSpPr>
          <p:spPr>
            <a:xfrm flipH="false" flipV="false" rot="0">
              <a:off x="0" y="0"/>
              <a:ext cx="10424160" cy="18288"/>
            </a:xfrm>
            <a:custGeom>
              <a:avLst/>
              <a:gdLst/>
              <a:ahLst/>
              <a:cxnLst/>
              <a:rect r="r" b="b" t="t" l="l"/>
              <a:pathLst>
                <a:path h="18288" w="10424160">
                  <a:moveTo>
                    <a:pt x="0" y="0"/>
                  </a:moveTo>
                  <a:lnTo>
                    <a:pt x="10424160" y="0"/>
                  </a:lnTo>
                  <a:lnTo>
                    <a:pt x="10424160" y="18288"/>
                  </a:lnTo>
                  <a:lnTo>
                    <a:pt x="0" y="18288"/>
                  </a:lnTo>
                  <a:close/>
                </a:path>
              </a:pathLst>
            </a:custGeom>
            <a:solidFill>
              <a:srgbClr val="E3E3E3"/>
            </a:solidFill>
          </p:spPr>
        </p:sp>
      </p:grpSp>
      <p:grpSp>
        <p:nvGrpSpPr>
          <p:cNvPr name="Group 25" id="25"/>
          <p:cNvGrpSpPr/>
          <p:nvPr/>
        </p:nvGrpSpPr>
        <p:grpSpPr>
          <a:xfrm rot="0">
            <a:off x="10223725" y="4663440"/>
            <a:ext cx="2674620" cy="960120"/>
            <a:chOff x="0" y="0"/>
            <a:chExt cx="3566160" cy="1280160"/>
          </a:xfrm>
        </p:grpSpPr>
        <p:sp>
          <p:nvSpPr>
            <p:cNvPr name="Freeform 26" id="26"/>
            <p:cNvSpPr/>
            <p:nvPr/>
          </p:nvSpPr>
          <p:spPr>
            <a:xfrm flipH="false" flipV="false" rot="0">
              <a:off x="0" y="0"/>
              <a:ext cx="3566160" cy="1280160"/>
            </a:xfrm>
            <a:custGeom>
              <a:avLst/>
              <a:gdLst/>
              <a:ahLst/>
              <a:cxnLst/>
              <a:rect r="r" b="b" t="t" l="l"/>
              <a:pathLst>
                <a:path h="1280160" w="3566160">
                  <a:moveTo>
                    <a:pt x="0" y="0"/>
                  </a:moveTo>
                  <a:lnTo>
                    <a:pt x="3566160" y="0"/>
                  </a:lnTo>
                  <a:lnTo>
                    <a:pt x="3566160" y="1280160"/>
                  </a:lnTo>
                  <a:lnTo>
                    <a:pt x="0" y="1280160"/>
                  </a:lnTo>
                  <a:close/>
                </a:path>
              </a:pathLst>
            </a:custGeom>
            <a:blipFill>
              <a:blip r:embed="rId2">
                <a:alphaModFix amt="0"/>
              </a:blip>
              <a:stretch>
                <a:fillRect l="0" t="-4279" r="0" b="-4279"/>
              </a:stretch>
            </a:blipFill>
          </p:spPr>
        </p:sp>
        <p:sp>
          <p:nvSpPr>
            <p:cNvPr name="TextBox 27" id="27"/>
            <p:cNvSpPr txBox="true"/>
            <p:nvPr/>
          </p:nvSpPr>
          <p:spPr>
            <a:xfrm>
              <a:off x="0" y="-28575"/>
              <a:ext cx="3566160" cy="1308735"/>
            </a:xfrm>
            <a:prstGeom prst="rect">
              <a:avLst/>
            </a:prstGeom>
          </p:spPr>
          <p:txBody>
            <a:bodyPr anchor="ctr" rtlCol="false" tIns="0" lIns="0" bIns="0" rIns="0"/>
            <a:lstStyle/>
            <a:p>
              <a:pPr algn="l">
                <a:lnSpc>
                  <a:spcPts val="2250"/>
                </a:lnSpc>
              </a:pPr>
              <a:r>
                <a:rPr lang="en-US" sz="1875" b="true">
                  <a:solidFill>
                    <a:srgbClr val="A100FF"/>
                  </a:solidFill>
                  <a:latin typeface="Arial Bold"/>
                  <a:ea typeface="Arial Bold"/>
                  <a:cs typeface="Arial Bold"/>
                  <a:sym typeface="Arial Bold"/>
                </a:rPr>
                <a:t>Date range</a:t>
              </a:r>
            </a:p>
          </p:txBody>
        </p:sp>
      </p:grpSp>
      <p:grpSp>
        <p:nvGrpSpPr>
          <p:cNvPr name="Group 28" id="28"/>
          <p:cNvGrpSpPr/>
          <p:nvPr/>
        </p:nvGrpSpPr>
        <p:grpSpPr>
          <a:xfrm rot="0">
            <a:off x="12966925" y="4663440"/>
            <a:ext cx="5074920" cy="960120"/>
            <a:chOff x="0" y="0"/>
            <a:chExt cx="6766560" cy="1280160"/>
          </a:xfrm>
        </p:grpSpPr>
        <p:sp>
          <p:nvSpPr>
            <p:cNvPr name="Freeform 29" id="29"/>
            <p:cNvSpPr/>
            <p:nvPr/>
          </p:nvSpPr>
          <p:spPr>
            <a:xfrm flipH="false" flipV="false" rot="0">
              <a:off x="0" y="0"/>
              <a:ext cx="6766560" cy="1280160"/>
            </a:xfrm>
            <a:custGeom>
              <a:avLst/>
              <a:gdLst/>
              <a:ahLst/>
              <a:cxnLst/>
              <a:rect r="r" b="b" t="t" l="l"/>
              <a:pathLst>
                <a:path h="1280160" w="6766560">
                  <a:moveTo>
                    <a:pt x="0" y="0"/>
                  </a:moveTo>
                  <a:lnTo>
                    <a:pt x="6766560" y="0"/>
                  </a:lnTo>
                  <a:lnTo>
                    <a:pt x="6766560" y="1280160"/>
                  </a:lnTo>
                  <a:lnTo>
                    <a:pt x="0" y="1280160"/>
                  </a:lnTo>
                  <a:close/>
                </a:path>
              </a:pathLst>
            </a:custGeom>
            <a:blipFill>
              <a:blip r:embed="rId2">
                <a:alphaModFix amt="0"/>
              </a:blip>
              <a:stretch>
                <a:fillRect l="0" t="-52992" r="0" b="-52992"/>
              </a:stretch>
            </a:blipFill>
          </p:spPr>
        </p:sp>
        <p:sp>
          <p:nvSpPr>
            <p:cNvPr name="TextBox 30" id="30"/>
            <p:cNvSpPr txBox="true"/>
            <p:nvPr/>
          </p:nvSpPr>
          <p:spPr>
            <a:xfrm>
              <a:off x="0" y="-19050"/>
              <a:ext cx="6766560" cy="1299210"/>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Enrollment dates spanning Oct 2023 to Oct 2025, parsed from dd-mm-yyyy text</a:t>
              </a:r>
            </a:p>
          </p:txBody>
        </p:sp>
      </p:grpSp>
      <p:grpSp>
        <p:nvGrpSpPr>
          <p:cNvPr name="Group 31" id="31"/>
          <p:cNvGrpSpPr/>
          <p:nvPr/>
        </p:nvGrpSpPr>
        <p:grpSpPr>
          <a:xfrm rot="0">
            <a:off x="10223725" y="5596128"/>
            <a:ext cx="7818120" cy="13716"/>
            <a:chOff x="0" y="0"/>
            <a:chExt cx="10424160" cy="18288"/>
          </a:xfrm>
        </p:grpSpPr>
        <p:sp>
          <p:nvSpPr>
            <p:cNvPr name="Freeform 32" id="32"/>
            <p:cNvSpPr/>
            <p:nvPr/>
          </p:nvSpPr>
          <p:spPr>
            <a:xfrm flipH="false" flipV="false" rot="0">
              <a:off x="0" y="0"/>
              <a:ext cx="10424160" cy="18288"/>
            </a:xfrm>
            <a:custGeom>
              <a:avLst/>
              <a:gdLst/>
              <a:ahLst/>
              <a:cxnLst/>
              <a:rect r="r" b="b" t="t" l="l"/>
              <a:pathLst>
                <a:path h="18288" w="10424160">
                  <a:moveTo>
                    <a:pt x="0" y="0"/>
                  </a:moveTo>
                  <a:lnTo>
                    <a:pt x="10424160" y="0"/>
                  </a:lnTo>
                  <a:lnTo>
                    <a:pt x="10424160" y="18288"/>
                  </a:lnTo>
                  <a:lnTo>
                    <a:pt x="0" y="18288"/>
                  </a:lnTo>
                  <a:close/>
                </a:path>
              </a:pathLst>
            </a:custGeom>
            <a:solidFill>
              <a:srgbClr val="E3E3E3"/>
            </a:solidFill>
          </p:spPr>
        </p:sp>
      </p:grpSp>
      <p:grpSp>
        <p:nvGrpSpPr>
          <p:cNvPr name="Group 33" id="33"/>
          <p:cNvGrpSpPr/>
          <p:nvPr/>
        </p:nvGrpSpPr>
        <p:grpSpPr>
          <a:xfrm rot="0">
            <a:off x="10223725" y="5733288"/>
            <a:ext cx="2674620" cy="960120"/>
            <a:chOff x="0" y="0"/>
            <a:chExt cx="3566160" cy="1280160"/>
          </a:xfrm>
        </p:grpSpPr>
        <p:sp>
          <p:nvSpPr>
            <p:cNvPr name="Freeform 34" id="34"/>
            <p:cNvSpPr/>
            <p:nvPr/>
          </p:nvSpPr>
          <p:spPr>
            <a:xfrm flipH="false" flipV="false" rot="0">
              <a:off x="0" y="0"/>
              <a:ext cx="3566160" cy="1280160"/>
            </a:xfrm>
            <a:custGeom>
              <a:avLst/>
              <a:gdLst/>
              <a:ahLst/>
              <a:cxnLst/>
              <a:rect r="r" b="b" t="t" l="l"/>
              <a:pathLst>
                <a:path h="1280160" w="3566160">
                  <a:moveTo>
                    <a:pt x="0" y="0"/>
                  </a:moveTo>
                  <a:lnTo>
                    <a:pt x="3566160" y="0"/>
                  </a:lnTo>
                  <a:lnTo>
                    <a:pt x="3566160" y="1280160"/>
                  </a:lnTo>
                  <a:lnTo>
                    <a:pt x="0" y="1280160"/>
                  </a:lnTo>
                  <a:close/>
                </a:path>
              </a:pathLst>
            </a:custGeom>
            <a:blipFill>
              <a:blip r:embed="rId2">
                <a:alphaModFix amt="0"/>
              </a:blip>
              <a:stretch>
                <a:fillRect l="0" t="-4279" r="0" b="-4279"/>
              </a:stretch>
            </a:blipFill>
          </p:spPr>
        </p:sp>
        <p:sp>
          <p:nvSpPr>
            <p:cNvPr name="TextBox 35" id="35"/>
            <p:cNvSpPr txBox="true"/>
            <p:nvPr/>
          </p:nvSpPr>
          <p:spPr>
            <a:xfrm>
              <a:off x="0" y="-28575"/>
              <a:ext cx="3566160" cy="1308735"/>
            </a:xfrm>
            <a:prstGeom prst="rect">
              <a:avLst/>
            </a:prstGeom>
          </p:spPr>
          <p:txBody>
            <a:bodyPr anchor="ctr" rtlCol="false" tIns="0" lIns="0" bIns="0" rIns="0"/>
            <a:lstStyle/>
            <a:p>
              <a:pPr algn="l">
                <a:lnSpc>
                  <a:spcPts val="2250"/>
                </a:lnSpc>
              </a:pPr>
              <a:r>
                <a:rPr lang="en-US" sz="1875" b="true">
                  <a:solidFill>
                    <a:srgbClr val="A100FF"/>
                  </a:solidFill>
                  <a:latin typeface="Arial Bold"/>
                  <a:ea typeface="Arial Bold"/>
                  <a:cs typeface="Arial Bold"/>
                  <a:sym typeface="Arial Bold"/>
                </a:rPr>
                <a:t>Granularity</a:t>
              </a:r>
            </a:p>
          </p:txBody>
        </p:sp>
      </p:grpSp>
      <p:grpSp>
        <p:nvGrpSpPr>
          <p:cNvPr name="Group 36" id="36"/>
          <p:cNvGrpSpPr/>
          <p:nvPr/>
        </p:nvGrpSpPr>
        <p:grpSpPr>
          <a:xfrm rot="0">
            <a:off x="12966925" y="5733288"/>
            <a:ext cx="5074920" cy="960120"/>
            <a:chOff x="0" y="0"/>
            <a:chExt cx="6766560" cy="1280160"/>
          </a:xfrm>
        </p:grpSpPr>
        <p:sp>
          <p:nvSpPr>
            <p:cNvPr name="Freeform 37" id="37"/>
            <p:cNvSpPr/>
            <p:nvPr/>
          </p:nvSpPr>
          <p:spPr>
            <a:xfrm flipH="false" flipV="false" rot="0">
              <a:off x="0" y="0"/>
              <a:ext cx="6766560" cy="1280160"/>
            </a:xfrm>
            <a:custGeom>
              <a:avLst/>
              <a:gdLst/>
              <a:ahLst/>
              <a:cxnLst/>
              <a:rect r="r" b="b" t="t" l="l"/>
              <a:pathLst>
                <a:path h="1280160" w="6766560">
                  <a:moveTo>
                    <a:pt x="0" y="0"/>
                  </a:moveTo>
                  <a:lnTo>
                    <a:pt x="6766560" y="0"/>
                  </a:lnTo>
                  <a:lnTo>
                    <a:pt x="6766560" y="1280160"/>
                  </a:lnTo>
                  <a:lnTo>
                    <a:pt x="0" y="1280160"/>
                  </a:lnTo>
                  <a:close/>
                </a:path>
              </a:pathLst>
            </a:custGeom>
            <a:blipFill>
              <a:blip r:embed="rId2">
                <a:alphaModFix amt="0"/>
              </a:blip>
              <a:stretch>
                <a:fillRect l="0" t="-52992" r="0" b="-52992"/>
              </a:stretch>
            </a:blipFill>
          </p:spPr>
        </p:sp>
        <p:sp>
          <p:nvSpPr>
            <p:cNvPr name="TextBox 38" id="38"/>
            <p:cNvSpPr txBox="true"/>
            <p:nvPr/>
          </p:nvSpPr>
          <p:spPr>
            <a:xfrm>
              <a:off x="0" y="-19050"/>
              <a:ext cx="6766560" cy="1299210"/>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One row per learner-course enrollment. No repeated Student_IDs</a:t>
              </a:r>
            </a:p>
          </p:txBody>
        </p:sp>
      </p:grpSp>
      <p:grpSp>
        <p:nvGrpSpPr>
          <p:cNvPr name="Group 39" id="39"/>
          <p:cNvGrpSpPr/>
          <p:nvPr/>
        </p:nvGrpSpPr>
        <p:grpSpPr>
          <a:xfrm rot="0">
            <a:off x="10223725" y="6665976"/>
            <a:ext cx="7818120" cy="13716"/>
            <a:chOff x="0" y="0"/>
            <a:chExt cx="10424160" cy="18288"/>
          </a:xfrm>
        </p:grpSpPr>
        <p:sp>
          <p:nvSpPr>
            <p:cNvPr name="Freeform 40" id="40"/>
            <p:cNvSpPr/>
            <p:nvPr/>
          </p:nvSpPr>
          <p:spPr>
            <a:xfrm flipH="false" flipV="false" rot="0">
              <a:off x="0" y="0"/>
              <a:ext cx="10424160" cy="18288"/>
            </a:xfrm>
            <a:custGeom>
              <a:avLst/>
              <a:gdLst/>
              <a:ahLst/>
              <a:cxnLst/>
              <a:rect r="r" b="b" t="t" l="l"/>
              <a:pathLst>
                <a:path h="18288" w="10424160">
                  <a:moveTo>
                    <a:pt x="0" y="0"/>
                  </a:moveTo>
                  <a:lnTo>
                    <a:pt x="10424160" y="0"/>
                  </a:lnTo>
                  <a:lnTo>
                    <a:pt x="10424160" y="18288"/>
                  </a:lnTo>
                  <a:lnTo>
                    <a:pt x="0" y="18288"/>
                  </a:lnTo>
                  <a:close/>
                </a:path>
              </a:pathLst>
            </a:custGeom>
            <a:solidFill>
              <a:srgbClr val="E3E3E3"/>
            </a:solidFill>
          </p:spPr>
        </p:sp>
      </p:grpSp>
      <p:grpSp>
        <p:nvGrpSpPr>
          <p:cNvPr name="Group 41" id="41"/>
          <p:cNvGrpSpPr/>
          <p:nvPr/>
        </p:nvGrpSpPr>
        <p:grpSpPr>
          <a:xfrm rot="0">
            <a:off x="10223725" y="6803136"/>
            <a:ext cx="2674620" cy="960120"/>
            <a:chOff x="0" y="0"/>
            <a:chExt cx="3566160" cy="1280160"/>
          </a:xfrm>
        </p:grpSpPr>
        <p:sp>
          <p:nvSpPr>
            <p:cNvPr name="Freeform 42" id="42"/>
            <p:cNvSpPr/>
            <p:nvPr/>
          </p:nvSpPr>
          <p:spPr>
            <a:xfrm flipH="false" flipV="false" rot="0">
              <a:off x="0" y="0"/>
              <a:ext cx="3566160" cy="1280160"/>
            </a:xfrm>
            <a:custGeom>
              <a:avLst/>
              <a:gdLst/>
              <a:ahLst/>
              <a:cxnLst/>
              <a:rect r="r" b="b" t="t" l="l"/>
              <a:pathLst>
                <a:path h="1280160" w="3566160">
                  <a:moveTo>
                    <a:pt x="0" y="0"/>
                  </a:moveTo>
                  <a:lnTo>
                    <a:pt x="3566160" y="0"/>
                  </a:lnTo>
                  <a:lnTo>
                    <a:pt x="3566160" y="1280160"/>
                  </a:lnTo>
                  <a:lnTo>
                    <a:pt x="0" y="1280160"/>
                  </a:lnTo>
                  <a:close/>
                </a:path>
              </a:pathLst>
            </a:custGeom>
            <a:blipFill>
              <a:blip r:embed="rId2">
                <a:alphaModFix amt="0"/>
              </a:blip>
              <a:stretch>
                <a:fillRect l="0" t="-4279" r="0" b="-4279"/>
              </a:stretch>
            </a:blipFill>
          </p:spPr>
        </p:sp>
        <p:sp>
          <p:nvSpPr>
            <p:cNvPr name="TextBox 43" id="43"/>
            <p:cNvSpPr txBox="true"/>
            <p:nvPr/>
          </p:nvSpPr>
          <p:spPr>
            <a:xfrm>
              <a:off x="0" y="-28575"/>
              <a:ext cx="3566160" cy="1308735"/>
            </a:xfrm>
            <a:prstGeom prst="rect">
              <a:avLst/>
            </a:prstGeom>
          </p:spPr>
          <p:txBody>
            <a:bodyPr anchor="ctr" rtlCol="false" tIns="0" lIns="0" bIns="0" rIns="0"/>
            <a:lstStyle/>
            <a:p>
              <a:pPr algn="l">
                <a:lnSpc>
                  <a:spcPts val="2250"/>
                </a:lnSpc>
              </a:pPr>
              <a:r>
                <a:rPr lang="en-US" sz="1875" b="true">
                  <a:solidFill>
                    <a:srgbClr val="A100FF"/>
                  </a:solidFill>
                  <a:latin typeface="Arial Bold"/>
                  <a:ea typeface="Arial Bold"/>
                  <a:cs typeface="Arial Bold"/>
                  <a:sym typeface="Arial Bold"/>
                </a:rPr>
                <a:t>Excluded</a:t>
              </a:r>
            </a:p>
          </p:txBody>
        </p:sp>
      </p:grpSp>
      <p:grpSp>
        <p:nvGrpSpPr>
          <p:cNvPr name="Group 44" id="44"/>
          <p:cNvGrpSpPr/>
          <p:nvPr/>
        </p:nvGrpSpPr>
        <p:grpSpPr>
          <a:xfrm rot="0">
            <a:off x="12966925" y="6803136"/>
            <a:ext cx="5074920" cy="960120"/>
            <a:chOff x="0" y="0"/>
            <a:chExt cx="6766560" cy="1280160"/>
          </a:xfrm>
        </p:grpSpPr>
        <p:sp>
          <p:nvSpPr>
            <p:cNvPr name="Freeform 45" id="45"/>
            <p:cNvSpPr/>
            <p:nvPr/>
          </p:nvSpPr>
          <p:spPr>
            <a:xfrm flipH="false" flipV="false" rot="0">
              <a:off x="0" y="0"/>
              <a:ext cx="6766560" cy="1280160"/>
            </a:xfrm>
            <a:custGeom>
              <a:avLst/>
              <a:gdLst/>
              <a:ahLst/>
              <a:cxnLst/>
              <a:rect r="r" b="b" t="t" l="l"/>
              <a:pathLst>
                <a:path h="1280160" w="6766560">
                  <a:moveTo>
                    <a:pt x="0" y="0"/>
                  </a:moveTo>
                  <a:lnTo>
                    <a:pt x="6766560" y="0"/>
                  </a:lnTo>
                  <a:lnTo>
                    <a:pt x="6766560" y="1280160"/>
                  </a:lnTo>
                  <a:lnTo>
                    <a:pt x="0" y="1280160"/>
                  </a:lnTo>
                  <a:close/>
                </a:path>
              </a:pathLst>
            </a:custGeom>
            <a:blipFill>
              <a:blip r:embed="rId2">
                <a:alphaModFix amt="0"/>
              </a:blip>
              <a:stretch>
                <a:fillRect l="0" t="-52992" r="0" b="-52992"/>
              </a:stretch>
            </a:blipFill>
          </p:spPr>
        </p:sp>
        <p:sp>
          <p:nvSpPr>
            <p:cNvPr name="TextBox 46" id="46"/>
            <p:cNvSpPr txBox="true"/>
            <p:nvPr/>
          </p:nvSpPr>
          <p:spPr>
            <a:xfrm>
              <a:off x="0" y="-19050"/>
              <a:ext cx="6766560" cy="1299210"/>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Name dropped from all analysis and from the dashboard as personally identifying</a:t>
              </a:r>
            </a:p>
          </p:txBody>
        </p:sp>
      </p:grpSp>
      <p:grpSp>
        <p:nvGrpSpPr>
          <p:cNvPr name="Group 47" id="47"/>
          <p:cNvGrpSpPr/>
          <p:nvPr/>
        </p:nvGrpSpPr>
        <p:grpSpPr>
          <a:xfrm rot="0">
            <a:off x="987552" y="8435340"/>
            <a:ext cx="16322040" cy="822960"/>
            <a:chOff x="0" y="0"/>
            <a:chExt cx="21762720" cy="1097280"/>
          </a:xfrm>
        </p:grpSpPr>
        <p:sp>
          <p:nvSpPr>
            <p:cNvPr name="Freeform 48" id="48"/>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2">
                <a:alphaModFix amt="0"/>
              </a:blip>
              <a:stretch>
                <a:fillRect l="0" t="-336453" r="0" b="-336453"/>
              </a:stretch>
            </a:blipFill>
          </p:spPr>
        </p:sp>
        <p:sp>
          <p:nvSpPr>
            <p:cNvPr name="TextBox 49" id="49"/>
            <p:cNvSpPr txBox="true"/>
            <p:nvPr/>
          </p:nvSpPr>
          <p:spPr>
            <a:xfrm>
              <a:off x="0" y="-28575"/>
              <a:ext cx="21762720" cy="1125855"/>
            </a:xfrm>
            <a:prstGeom prst="rect">
              <a:avLst/>
            </a:prstGeom>
          </p:spPr>
          <p:txBody>
            <a:bodyPr anchor="ctr" rtlCol="false" tIns="0" lIns="0" bIns="0" rIns="0"/>
            <a:lstStyle/>
            <a:p>
              <a:pPr algn="l">
                <a:lnSpc>
                  <a:spcPts val="2250"/>
                </a:lnSpc>
              </a:pPr>
              <a:r>
                <a:rPr lang="en-US" sz="1875" i="true">
                  <a:solidFill>
                    <a:srgbClr val="585858"/>
                  </a:solidFill>
                  <a:latin typeface="Arial Italics"/>
                  <a:ea typeface="Arial Italics"/>
                  <a:cs typeface="Arial Italics"/>
                  <a:sym typeface="Arial Italics"/>
                </a:rPr>
                <a:t>Behaviour is the richest part of this dataset - 11 of 40 fields describe what a learner did, against 7 describing who they are. That balance is what made a behavioural hypothesis testable at all.</a:t>
              </a:r>
            </a:p>
          </p:txBody>
        </p:sp>
      </p:grpSp>
      <p:grpSp>
        <p:nvGrpSpPr>
          <p:cNvPr name="Group 50" id="50"/>
          <p:cNvGrpSpPr/>
          <p:nvPr/>
        </p:nvGrpSpPr>
        <p:grpSpPr>
          <a:xfrm rot="0">
            <a:off x="10424160" y="411480"/>
            <a:ext cx="5966460" cy="342900"/>
            <a:chOff x="0" y="0"/>
            <a:chExt cx="7955280" cy="457200"/>
          </a:xfrm>
        </p:grpSpPr>
        <p:sp>
          <p:nvSpPr>
            <p:cNvPr name="Freeform 51" id="51"/>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52" id="52"/>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53" id="53"/>
          <p:cNvGrpSpPr/>
          <p:nvPr/>
        </p:nvGrpSpPr>
        <p:grpSpPr>
          <a:xfrm rot="0">
            <a:off x="16486632" y="411480"/>
            <a:ext cx="205740" cy="342900"/>
            <a:chOff x="0" y="0"/>
            <a:chExt cx="274320" cy="457200"/>
          </a:xfrm>
        </p:grpSpPr>
        <p:sp>
          <p:nvSpPr>
            <p:cNvPr name="Freeform 54" id="54"/>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55" id="55"/>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56" id="56"/>
          <p:cNvGrpSpPr/>
          <p:nvPr/>
        </p:nvGrpSpPr>
        <p:grpSpPr>
          <a:xfrm rot="0">
            <a:off x="16664940" y="411480"/>
            <a:ext cx="685800" cy="342900"/>
            <a:chOff x="0" y="0"/>
            <a:chExt cx="914400" cy="457200"/>
          </a:xfrm>
        </p:grpSpPr>
        <p:sp>
          <p:nvSpPr>
            <p:cNvPr name="Freeform 57" id="57"/>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58" id="58"/>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8</a:t>
              </a:r>
            </a:p>
          </p:txBody>
        </p:sp>
      </p:grpSp>
      <p:grpSp>
        <p:nvGrpSpPr>
          <p:cNvPr name="Group 59" id="59"/>
          <p:cNvGrpSpPr/>
          <p:nvPr/>
        </p:nvGrpSpPr>
        <p:grpSpPr>
          <a:xfrm rot="0">
            <a:off x="987552" y="9601200"/>
            <a:ext cx="8229600" cy="342900"/>
            <a:chOff x="0" y="0"/>
            <a:chExt cx="10972800" cy="457200"/>
          </a:xfrm>
        </p:grpSpPr>
        <p:sp>
          <p:nvSpPr>
            <p:cNvPr name="Freeform 60" id="60"/>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61" id="61"/>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62" id="62"/>
          <p:cNvGrpSpPr/>
          <p:nvPr/>
        </p:nvGrpSpPr>
        <p:grpSpPr>
          <a:xfrm rot="0">
            <a:off x="0" y="9464040"/>
            <a:ext cx="18288000" cy="822960"/>
            <a:chOff x="0" y="0"/>
            <a:chExt cx="24384000" cy="1097280"/>
          </a:xfrm>
        </p:grpSpPr>
        <p:grpSp>
          <p:nvGrpSpPr>
            <p:cNvPr name="Group 63" id="63"/>
            <p:cNvGrpSpPr/>
            <p:nvPr/>
          </p:nvGrpSpPr>
          <p:grpSpPr>
            <a:xfrm rot="0">
              <a:off x="0" y="0"/>
              <a:ext cx="24384000" cy="1097280"/>
              <a:chOff x="0" y="0"/>
              <a:chExt cx="16256000" cy="731520"/>
            </a:xfrm>
          </p:grpSpPr>
          <p:sp>
            <p:nvSpPr>
              <p:cNvPr name="Freeform 64" id="64">
                <a:hlinkClick r:id="rId4"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5"/>
                <a:stretch>
                  <a:fillRect l="0" t="0" r="-45" b="-609"/>
                </a:stretch>
              </a:blipFill>
            </p:spPr>
          </p:sp>
        </p:grpSp>
        <p:grpSp>
          <p:nvGrpSpPr>
            <p:cNvPr name="Group 65" id="65"/>
            <p:cNvGrpSpPr/>
            <p:nvPr/>
          </p:nvGrpSpPr>
          <p:grpSpPr>
            <a:xfrm rot="0">
              <a:off x="1316736" y="182880"/>
              <a:ext cx="10972800" cy="641433"/>
              <a:chOff x="0" y="0"/>
              <a:chExt cx="10972800" cy="641433"/>
            </a:xfrm>
          </p:grpSpPr>
          <p:sp>
            <p:nvSpPr>
              <p:cNvPr name="Freeform 66" id="66">
                <a:hlinkClick r:id="rId6" tooltip="https://canva.link/j1m0vdglw23sasg"/>
              </p:cNvPr>
              <p:cNvSpPr/>
              <p:nvPr/>
            </p:nvSpPr>
            <p:spPr>
              <a:xfrm flipH="false" flipV="false" rot="0">
                <a:off x="0" y="0"/>
                <a:ext cx="10972800" cy="641433"/>
              </a:xfrm>
              <a:custGeom>
                <a:avLst/>
                <a:gdLst/>
                <a:ahLst/>
                <a:cxnLst/>
                <a:rect r="r" b="b" t="t" l="l"/>
                <a:pathLst>
                  <a:path h="641433" w="10972800">
                    <a:moveTo>
                      <a:pt x="0" y="0"/>
                    </a:moveTo>
                    <a:lnTo>
                      <a:pt x="10972800" y="0"/>
                    </a:lnTo>
                    <a:lnTo>
                      <a:pt x="10972800" y="641433"/>
                    </a:lnTo>
                    <a:lnTo>
                      <a:pt x="0" y="641433"/>
                    </a:lnTo>
                    <a:close/>
                  </a:path>
                </a:pathLst>
              </a:custGeom>
              <a:blipFill>
                <a:blip r:embed="rId2">
                  <a:alphaModFix amt="0"/>
                </a:blip>
                <a:stretch>
                  <a:fillRect l="0" t="-297685" r="0" b="-268963"/>
                </a:stretch>
              </a:blipFill>
            </p:spPr>
          </p:sp>
          <p:sp>
            <p:nvSpPr>
              <p:cNvPr name="TextBox 67" id="67"/>
              <p:cNvSpPr txBox="true"/>
              <p:nvPr/>
            </p:nvSpPr>
            <p:spPr>
              <a:xfrm>
                <a:off x="0" y="-19050"/>
                <a:ext cx="10972800" cy="660483"/>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7" tooltip="https://canva.link/j1m0vdglw23sasg"/>
                  </a:rPr>
                  <a:t>Group 6  |  Data Analytics Capstone</a:t>
                </a:r>
              </a:p>
            </p:txBody>
          </p:sp>
        </p:grpSp>
        <p:sp>
          <p:nvSpPr>
            <p:cNvPr name="Freeform 68" id="68">
              <a:hlinkClick r:id="rId10"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4320"/>
                </a:lnSpc>
              </a:pPr>
              <a:r>
                <a:rPr lang="en-US" sz="3600" b="true">
                  <a:solidFill>
                    <a:srgbClr val="A100FF"/>
                  </a:solidFill>
                  <a:latin typeface="Arial Bold"/>
                  <a:ea typeface="Arial Bold"/>
                  <a:cs typeface="Arial Bold"/>
                  <a:sym typeface="Arial Bold"/>
                </a:rPr>
                <a:t>Zero missing values - and 23,106 rows that contradict themselves</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Standard checks came back clean. Cross-field logic checks did not.</a:t>
              </a:r>
            </a:p>
          </p:txBody>
        </p:sp>
      </p:grpSp>
      <p:grpSp>
        <p:nvGrpSpPr>
          <p:cNvPr name="Group 8" id="8"/>
          <p:cNvGrpSpPr/>
          <p:nvPr/>
        </p:nvGrpSpPr>
        <p:grpSpPr>
          <a:xfrm rot="0">
            <a:off x="987552" y="2674620"/>
            <a:ext cx="7680960" cy="2057400"/>
            <a:chOff x="0" y="0"/>
            <a:chExt cx="10241280" cy="2743200"/>
          </a:xfrm>
        </p:grpSpPr>
        <p:sp>
          <p:nvSpPr>
            <p:cNvPr name="Freeform 9" id="9"/>
            <p:cNvSpPr/>
            <p:nvPr/>
          </p:nvSpPr>
          <p:spPr>
            <a:xfrm flipH="false" flipV="false" rot="0">
              <a:off x="0" y="0"/>
              <a:ext cx="10241280" cy="2743200"/>
            </a:xfrm>
            <a:custGeom>
              <a:avLst/>
              <a:gdLst/>
              <a:ahLst/>
              <a:cxnLst/>
              <a:rect r="r" b="b" t="t" l="l"/>
              <a:pathLst>
                <a:path h="2743200" w="10241280">
                  <a:moveTo>
                    <a:pt x="0" y="0"/>
                  </a:moveTo>
                  <a:lnTo>
                    <a:pt x="10241280" y="0"/>
                  </a:lnTo>
                  <a:lnTo>
                    <a:pt x="10241280" y="2743200"/>
                  </a:lnTo>
                  <a:lnTo>
                    <a:pt x="0" y="2743200"/>
                  </a:lnTo>
                  <a:close/>
                </a:path>
              </a:pathLst>
            </a:custGeom>
            <a:solidFill>
              <a:srgbClr val="F1F1F1"/>
            </a:solidFill>
          </p:spPr>
        </p:sp>
      </p:grpSp>
      <p:grpSp>
        <p:nvGrpSpPr>
          <p:cNvPr name="Group 10" id="10"/>
          <p:cNvGrpSpPr/>
          <p:nvPr/>
        </p:nvGrpSpPr>
        <p:grpSpPr>
          <a:xfrm rot="0">
            <a:off x="1330452" y="2811780"/>
            <a:ext cx="6995160" cy="411480"/>
            <a:chOff x="0" y="0"/>
            <a:chExt cx="9326880" cy="548640"/>
          </a:xfrm>
        </p:grpSpPr>
        <p:sp>
          <p:nvSpPr>
            <p:cNvPr name="Freeform 11" id="11"/>
            <p:cNvSpPr/>
            <p:nvPr/>
          </p:nvSpPr>
          <p:spPr>
            <a:xfrm flipH="false" flipV="false" rot="0">
              <a:off x="0" y="0"/>
              <a:ext cx="9326880" cy="548640"/>
            </a:xfrm>
            <a:custGeom>
              <a:avLst/>
              <a:gdLst/>
              <a:ahLst/>
              <a:cxnLst/>
              <a:rect r="r" b="b" t="t" l="l"/>
              <a:pathLst>
                <a:path h="548640" w="9326880">
                  <a:moveTo>
                    <a:pt x="0" y="0"/>
                  </a:moveTo>
                  <a:lnTo>
                    <a:pt x="9326880" y="0"/>
                  </a:lnTo>
                  <a:lnTo>
                    <a:pt x="9326880" y="548640"/>
                  </a:lnTo>
                  <a:lnTo>
                    <a:pt x="0" y="548640"/>
                  </a:lnTo>
                  <a:close/>
                </a:path>
              </a:pathLst>
            </a:custGeom>
            <a:blipFill>
              <a:blip r:embed="rId2">
                <a:alphaModFix amt="0"/>
              </a:blip>
              <a:stretch>
                <a:fillRect l="0" t="-281245" r="0" b="-281245"/>
              </a:stretch>
            </a:blipFill>
          </p:spPr>
        </p:sp>
        <p:sp>
          <p:nvSpPr>
            <p:cNvPr name="TextBox 12" id="12"/>
            <p:cNvSpPr txBox="true"/>
            <p:nvPr/>
          </p:nvSpPr>
          <p:spPr>
            <a:xfrm>
              <a:off x="0" y="-9525"/>
              <a:ext cx="9326880" cy="558165"/>
            </a:xfrm>
            <a:prstGeom prst="rect">
              <a:avLst/>
            </a:prstGeom>
          </p:spPr>
          <p:txBody>
            <a:bodyPr anchor="ctr" rtlCol="false" tIns="0" lIns="0" bIns="0" rIns="0"/>
            <a:lstStyle/>
            <a:p>
              <a:pPr algn="l">
                <a:lnSpc>
                  <a:spcPts val="1889"/>
                </a:lnSpc>
              </a:pPr>
              <a:r>
                <a:rPr lang="en-US" b="true" sz="1575" spc="150">
                  <a:solidFill>
                    <a:srgbClr val="585858"/>
                  </a:solidFill>
                  <a:latin typeface="Arial Bold"/>
                  <a:ea typeface="Arial Bold"/>
                  <a:cs typeface="Arial Bold"/>
                  <a:sym typeface="Arial Bold"/>
                </a:rPr>
                <a:t>WHAT STANDARD CHECKS FOUND</a:t>
              </a:r>
            </a:p>
          </p:txBody>
        </p:sp>
      </p:grpSp>
      <p:grpSp>
        <p:nvGrpSpPr>
          <p:cNvPr name="Group 13" id="13"/>
          <p:cNvGrpSpPr/>
          <p:nvPr/>
        </p:nvGrpSpPr>
        <p:grpSpPr>
          <a:xfrm rot="0">
            <a:off x="1330452" y="3319272"/>
            <a:ext cx="7132320" cy="1165860"/>
            <a:chOff x="0" y="0"/>
            <a:chExt cx="9509760" cy="1554480"/>
          </a:xfrm>
        </p:grpSpPr>
        <p:sp>
          <p:nvSpPr>
            <p:cNvPr name="Freeform 14" id="14"/>
            <p:cNvSpPr/>
            <p:nvPr/>
          </p:nvSpPr>
          <p:spPr>
            <a:xfrm flipH="false" flipV="false" rot="0">
              <a:off x="0" y="0"/>
              <a:ext cx="9509760" cy="1554480"/>
            </a:xfrm>
            <a:custGeom>
              <a:avLst/>
              <a:gdLst/>
              <a:ahLst/>
              <a:cxnLst/>
              <a:rect r="r" b="b" t="t" l="l"/>
              <a:pathLst>
                <a:path h="1554480" w="9509760">
                  <a:moveTo>
                    <a:pt x="0" y="0"/>
                  </a:moveTo>
                  <a:lnTo>
                    <a:pt x="9509760" y="0"/>
                  </a:lnTo>
                  <a:lnTo>
                    <a:pt x="9509760" y="1554480"/>
                  </a:lnTo>
                  <a:lnTo>
                    <a:pt x="0" y="1554480"/>
                  </a:lnTo>
                  <a:close/>
                </a:path>
              </a:pathLst>
            </a:custGeom>
            <a:blipFill>
              <a:blip r:embed="rId2">
                <a:alphaModFix amt="0"/>
              </a:blip>
              <a:stretch>
                <a:fillRect l="0" t="-69202" r="0" b="-69202"/>
              </a:stretch>
            </a:blipFill>
          </p:spPr>
        </p:sp>
        <p:sp>
          <p:nvSpPr>
            <p:cNvPr name="TextBox 15" id="15"/>
            <p:cNvSpPr txBox="true"/>
            <p:nvPr/>
          </p:nvSpPr>
          <p:spPr>
            <a:xfrm>
              <a:off x="0" y="-19050"/>
              <a:ext cx="9509760" cy="1573530"/>
            </a:xfrm>
            <a:prstGeom prst="rect">
              <a:avLst/>
            </a:prstGeom>
          </p:spPr>
          <p:txBody>
            <a:bodyPr anchor="ctr" rtlCol="false" tIns="0" lIns="0" bIns="0" rIns="0"/>
            <a:lstStyle/>
            <a:p>
              <a:pPr algn="l">
                <a:lnSpc>
                  <a:spcPts val="2160"/>
                </a:lnSpc>
              </a:pPr>
              <a:r>
                <a:rPr lang="en-US" sz="1800" b="true">
                  <a:solidFill>
                    <a:srgbClr val="585858"/>
                  </a:solidFill>
                  <a:latin typeface="Arial Bold"/>
                  <a:ea typeface="Arial Bold"/>
                  <a:cs typeface="Arial Bold"/>
                  <a:sym typeface="Arial Bold"/>
                </a:rPr>
                <a:t>0</a:t>
              </a:r>
              <a:r>
                <a:rPr lang="en-US" sz="1800">
                  <a:solidFill>
                    <a:srgbClr val="585858"/>
                  </a:solidFill>
                  <a:latin typeface="Arial"/>
                  <a:ea typeface="Arial"/>
                  <a:cs typeface="Arial"/>
                  <a:sym typeface="Arial"/>
                </a:rPr>
                <a:t>  missing     </a:t>
              </a:r>
              <a:r>
                <a:rPr lang="en-US" sz="1800" b="true">
                  <a:solidFill>
                    <a:srgbClr val="585858"/>
                  </a:solidFill>
                  <a:latin typeface="Arial Bold"/>
                  <a:ea typeface="Arial Bold"/>
                  <a:cs typeface="Arial Bold"/>
                  <a:sym typeface="Arial Bold"/>
                </a:rPr>
                <a:t>0</a:t>
              </a:r>
              <a:r>
                <a:rPr lang="en-US" sz="1800">
                  <a:solidFill>
                    <a:srgbClr val="585858"/>
                  </a:solidFill>
                  <a:latin typeface="Arial"/>
                  <a:ea typeface="Arial"/>
                  <a:cs typeface="Arial"/>
                  <a:sym typeface="Arial"/>
                </a:rPr>
                <a:t>  duplicates     </a:t>
              </a:r>
              <a:r>
                <a:rPr lang="en-US" sz="1800" b="true">
                  <a:solidFill>
                    <a:srgbClr val="585858"/>
                  </a:solidFill>
                  <a:latin typeface="Arial Bold"/>
                  <a:ea typeface="Arial Bold"/>
                  <a:cs typeface="Arial Bold"/>
                  <a:sym typeface="Arial Bold"/>
                </a:rPr>
                <a:t>0</a:t>
              </a:r>
              <a:r>
                <a:rPr lang="en-US" sz="1800">
                  <a:solidFill>
                    <a:srgbClr val="585858"/>
                  </a:solidFill>
                  <a:latin typeface="Arial"/>
                  <a:ea typeface="Arial"/>
                  <a:cs typeface="Arial"/>
                  <a:sym typeface="Arial"/>
                </a:rPr>
                <a:t>  out of range</a:t>
              </a:r>
            </a:p>
          </p:txBody>
        </p:sp>
      </p:grpSp>
      <p:grpSp>
        <p:nvGrpSpPr>
          <p:cNvPr name="Group 16" id="16"/>
          <p:cNvGrpSpPr/>
          <p:nvPr/>
        </p:nvGrpSpPr>
        <p:grpSpPr>
          <a:xfrm rot="0">
            <a:off x="9121140" y="2674620"/>
            <a:ext cx="8229600" cy="2057400"/>
            <a:chOff x="0" y="0"/>
            <a:chExt cx="10972800" cy="2743200"/>
          </a:xfrm>
        </p:grpSpPr>
        <p:sp>
          <p:nvSpPr>
            <p:cNvPr name="Freeform 17" id="17"/>
            <p:cNvSpPr/>
            <p:nvPr/>
          </p:nvSpPr>
          <p:spPr>
            <a:xfrm flipH="false" flipV="false" rot="0">
              <a:off x="0" y="0"/>
              <a:ext cx="10972800" cy="2743200"/>
            </a:xfrm>
            <a:custGeom>
              <a:avLst/>
              <a:gdLst/>
              <a:ahLst/>
              <a:cxnLst/>
              <a:rect r="r" b="b" t="t" l="l"/>
              <a:pathLst>
                <a:path h="2743200" w="10972800">
                  <a:moveTo>
                    <a:pt x="0" y="0"/>
                  </a:moveTo>
                  <a:lnTo>
                    <a:pt x="10972800" y="0"/>
                  </a:lnTo>
                  <a:lnTo>
                    <a:pt x="10972800" y="2743200"/>
                  </a:lnTo>
                  <a:lnTo>
                    <a:pt x="0" y="2743200"/>
                  </a:lnTo>
                  <a:close/>
                </a:path>
              </a:pathLst>
            </a:custGeom>
            <a:solidFill>
              <a:srgbClr val="460073"/>
            </a:solidFill>
          </p:spPr>
        </p:sp>
      </p:grpSp>
      <p:grpSp>
        <p:nvGrpSpPr>
          <p:cNvPr name="Group 18" id="18"/>
          <p:cNvGrpSpPr/>
          <p:nvPr/>
        </p:nvGrpSpPr>
        <p:grpSpPr>
          <a:xfrm rot="0">
            <a:off x="9464040" y="2811780"/>
            <a:ext cx="7543800" cy="411480"/>
            <a:chOff x="0" y="0"/>
            <a:chExt cx="10058400" cy="548640"/>
          </a:xfrm>
        </p:grpSpPr>
        <p:sp>
          <p:nvSpPr>
            <p:cNvPr name="Freeform 19" id="19"/>
            <p:cNvSpPr/>
            <p:nvPr/>
          </p:nvSpPr>
          <p:spPr>
            <a:xfrm flipH="false" flipV="false" rot="0">
              <a:off x="0" y="0"/>
              <a:ext cx="10058400" cy="548640"/>
            </a:xfrm>
            <a:custGeom>
              <a:avLst/>
              <a:gdLst/>
              <a:ahLst/>
              <a:cxnLst/>
              <a:rect r="r" b="b" t="t" l="l"/>
              <a:pathLst>
                <a:path h="548640" w="10058400">
                  <a:moveTo>
                    <a:pt x="0" y="0"/>
                  </a:moveTo>
                  <a:lnTo>
                    <a:pt x="10058400" y="0"/>
                  </a:lnTo>
                  <a:lnTo>
                    <a:pt x="10058400" y="548640"/>
                  </a:lnTo>
                  <a:lnTo>
                    <a:pt x="0" y="548640"/>
                  </a:lnTo>
                  <a:close/>
                </a:path>
              </a:pathLst>
            </a:custGeom>
            <a:blipFill>
              <a:blip r:embed="rId2">
                <a:alphaModFix amt="0"/>
              </a:blip>
              <a:stretch>
                <a:fillRect l="0" t="-307225" r="0" b="-307225"/>
              </a:stretch>
            </a:blipFill>
          </p:spPr>
        </p:sp>
        <p:sp>
          <p:nvSpPr>
            <p:cNvPr name="TextBox 20" id="20"/>
            <p:cNvSpPr txBox="true"/>
            <p:nvPr/>
          </p:nvSpPr>
          <p:spPr>
            <a:xfrm>
              <a:off x="0" y="-9525"/>
              <a:ext cx="10058400" cy="558165"/>
            </a:xfrm>
            <a:prstGeom prst="rect">
              <a:avLst/>
            </a:prstGeom>
          </p:spPr>
          <p:txBody>
            <a:bodyPr anchor="ctr" rtlCol="false" tIns="0" lIns="0" bIns="0" rIns="0"/>
            <a:lstStyle/>
            <a:p>
              <a:pPr algn="l">
                <a:lnSpc>
                  <a:spcPts val="1889"/>
                </a:lnSpc>
              </a:pPr>
              <a:r>
                <a:rPr lang="en-US" b="true" sz="1575" spc="150">
                  <a:solidFill>
                    <a:srgbClr val="DCAFFF"/>
                  </a:solidFill>
                  <a:latin typeface="Arial Bold"/>
                  <a:ea typeface="Arial Bold"/>
                  <a:cs typeface="Arial Bold"/>
                  <a:sym typeface="Arial Bold"/>
                </a:rPr>
                <a:t>WHAT CROSS-FIELD LOGIC CHECKS FOUND</a:t>
              </a:r>
            </a:p>
          </p:txBody>
        </p:sp>
      </p:grpSp>
      <p:grpSp>
        <p:nvGrpSpPr>
          <p:cNvPr name="Group 21" id="21"/>
          <p:cNvGrpSpPr/>
          <p:nvPr/>
        </p:nvGrpSpPr>
        <p:grpSpPr>
          <a:xfrm rot="0">
            <a:off x="9464040" y="3360420"/>
            <a:ext cx="7543800" cy="1097280"/>
            <a:chOff x="0" y="0"/>
            <a:chExt cx="10058400" cy="1463040"/>
          </a:xfrm>
        </p:grpSpPr>
        <p:sp>
          <p:nvSpPr>
            <p:cNvPr name="Freeform 22" id="22"/>
            <p:cNvSpPr/>
            <p:nvPr/>
          </p:nvSpPr>
          <p:spPr>
            <a:xfrm flipH="false" flipV="false" rot="0">
              <a:off x="0" y="0"/>
              <a:ext cx="10058400" cy="1463040"/>
            </a:xfrm>
            <a:custGeom>
              <a:avLst/>
              <a:gdLst/>
              <a:ahLst/>
              <a:cxnLst/>
              <a:rect r="r" b="b" t="t" l="l"/>
              <a:pathLst>
                <a:path h="1463040" w="10058400">
                  <a:moveTo>
                    <a:pt x="0" y="0"/>
                  </a:moveTo>
                  <a:lnTo>
                    <a:pt x="10058400" y="0"/>
                  </a:lnTo>
                  <a:lnTo>
                    <a:pt x="10058400" y="1463040"/>
                  </a:lnTo>
                  <a:lnTo>
                    <a:pt x="0" y="1463040"/>
                  </a:lnTo>
                  <a:close/>
                </a:path>
              </a:pathLst>
            </a:custGeom>
            <a:blipFill>
              <a:blip r:embed="rId2">
                <a:alphaModFix amt="0"/>
              </a:blip>
              <a:stretch>
                <a:fillRect l="0" t="-83959" r="0" b="-83959"/>
              </a:stretch>
            </a:blipFill>
          </p:spPr>
        </p:sp>
        <p:sp>
          <p:nvSpPr>
            <p:cNvPr name="TextBox 23" id="23"/>
            <p:cNvSpPr txBox="true"/>
            <p:nvPr/>
          </p:nvSpPr>
          <p:spPr>
            <a:xfrm>
              <a:off x="0" y="-19050"/>
              <a:ext cx="10058400" cy="1482090"/>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23,106</a:t>
              </a:r>
              <a:r>
                <a:rPr lang="en-US" sz="1950">
                  <a:solidFill>
                    <a:srgbClr val="FFFFFF"/>
                  </a:solidFill>
                  <a:latin typeface="Arial"/>
                  <a:ea typeface="Arial"/>
                  <a:cs typeface="Arial"/>
                  <a:sym typeface="Arial"/>
                </a:rPr>
                <a:t>   rows where fields disagree with each other</a:t>
              </a:r>
            </a:p>
          </p:txBody>
        </p:sp>
      </p:grpSp>
      <p:graphicFrame>
        <p:nvGraphicFramePr>
          <p:cNvPr name="Table 24" id="24"/>
          <p:cNvGraphicFramePr>
            <a:graphicFrameLocks noGrp="true"/>
          </p:cNvGraphicFramePr>
          <p:nvPr/>
        </p:nvGraphicFramePr>
        <p:xfrm>
          <a:off x="987552" y="4965192"/>
          <a:ext cx="16306800" cy="3429000"/>
        </p:xfrm>
        <a:graphic>
          <a:graphicData uri="http://schemas.openxmlformats.org/drawingml/2006/table">
            <a:tbl>
              <a:tblPr/>
              <a:tblGrid>
                <a:gridCol w="5480960"/>
                <a:gridCol w="3439775"/>
                <a:gridCol w="7386066"/>
              </a:tblGrid>
              <a:tr h="571500">
                <a:tc>
                  <a:txBody>
                    <a:bodyPr anchor="t" rtlCol="false"/>
                    <a:lstStyle/>
                    <a:p>
                      <a:pPr algn="l">
                        <a:lnSpc>
                          <a:spcPts val="2070"/>
                        </a:lnSpc>
                        <a:defRPr/>
                      </a:pPr>
                      <a:r>
                        <a:rPr lang="en-US" sz="1725" b="true">
                          <a:solidFill>
                            <a:srgbClr val="FFFFFF"/>
                          </a:solidFill>
                          <a:latin typeface="Arial Bold"/>
                          <a:ea typeface="Arial Bold"/>
                          <a:cs typeface="Arial Bold"/>
                          <a:sym typeface="Arial Bold"/>
                        </a:rPr>
                        <a:t>Issue</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100FF"/>
                    </a:solidFill>
                  </a:tcPr>
                </a:tc>
                <a:tc>
                  <a:txBody>
                    <a:bodyPr anchor="t" rtlCol="false"/>
                    <a:lstStyle/>
                    <a:p>
                      <a:pPr algn="l">
                        <a:lnSpc>
                          <a:spcPts val="2070"/>
                        </a:lnSpc>
                        <a:defRPr/>
                      </a:pPr>
                      <a:r>
                        <a:rPr lang="en-US" sz="1725" b="true">
                          <a:solidFill>
                            <a:srgbClr val="FFFFFF"/>
                          </a:solidFill>
                          <a:latin typeface="Arial Bold"/>
                          <a:ea typeface="Arial Bold"/>
                          <a:cs typeface="Arial Bold"/>
                          <a:sym typeface="Arial Bold"/>
                        </a:rPr>
                        <a:t>Scale</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100FF"/>
                    </a:solidFill>
                  </a:tcPr>
                </a:tc>
                <a:tc>
                  <a:txBody>
                    <a:bodyPr anchor="t" rtlCol="false"/>
                    <a:lstStyle/>
                    <a:p>
                      <a:pPr algn="l">
                        <a:lnSpc>
                          <a:spcPts val="2070"/>
                        </a:lnSpc>
                        <a:defRPr/>
                      </a:pPr>
                      <a:r>
                        <a:rPr lang="en-US" sz="1725" b="true">
                          <a:solidFill>
                            <a:srgbClr val="FFFFFF"/>
                          </a:solidFill>
                          <a:latin typeface="Arial Bold"/>
                          <a:ea typeface="Arial Bold"/>
                          <a:cs typeface="Arial Bold"/>
                          <a:sym typeface="Arial Bold"/>
                        </a:rPr>
                        <a:t>Resolution</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100FF"/>
                    </a:solidFill>
                  </a:tcPr>
                </a:tc>
              </a:tr>
              <a:tr h="571500">
                <a:tc>
                  <a:txBody>
                    <a:bodyPr anchor="t" rtlCol="false"/>
                    <a:lstStyle/>
                    <a:p>
                      <a:pPr algn="l">
                        <a:lnSpc>
                          <a:spcPts val="1980"/>
                        </a:lnSpc>
                        <a:defRPr/>
                      </a:pPr>
                      <a:r>
                        <a:rPr lang="en-US" sz="1650">
                          <a:solidFill>
                            <a:srgbClr val="000000"/>
                          </a:solidFill>
                          <a:latin typeface="Arial"/>
                          <a:ea typeface="Arial"/>
                          <a:cs typeface="Arial"/>
                          <a:sym typeface="Arial"/>
                        </a:rPr>
                        <a:t>Missing values / duplicate rows / out-of-range numerics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0 of 100,000</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None needed</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000000"/>
                          </a:solidFill>
                          <a:latin typeface="Arial"/>
                          <a:ea typeface="Arial"/>
                          <a:cs typeface="Arial"/>
                          <a:sym typeface="Arial"/>
                        </a:rPr>
                        <a:t>Enrollment_Date stored as text</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100% of rows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Parsed to datetime, dd-mm-yyyy</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571500">
                <a:tc>
                  <a:txBody>
                    <a:bodyPr anchor="t" rtlCol="false"/>
                    <a:lstStyle/>
                    <a:p>
                      <a:pPr algn="l">
                        <a:lnSpc>
                          <a:spcPts val="1980"/>
                        </a:lnSpc>
                        <a:defRPr/>
                      </a:pPr>
                      <a:r>
                        <a:rPr lang="en-US" sz="1650" b="true">
                          <a:solidFill>
                            <a:srgbClr val="000000"/>
                          </a:solidFill>
                          <a:latin typeface="Arial Bold"/>
                          <a:ea typeface="Arial Bold"/>
                          <a:cs typeface="Arial Bold"/>
                          <a:sym typeface="Arial Bold"/>
                        </a:rPr>
                        <a:t>Fee_Paid = No but Payment_Amount &gt; 0</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b="true">
                          <a:solidFill>
                            <a:srgbClr val="A100FF"/>
                          </a:solidFill>
                          <a:latin typeface="Arial Bold"/>
                          <a:ea typeface="Arial Bold"/>
                          <a:cs typeface="Arial Bold"/>
                          <a:sym typeface="Arial Bold"/>
                        </a:rPr>
                        <a:t>10,039  (10.0%)</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Traced to the Scholarship rule. Flagged as is_scholarship_partial_pay, not overwritten</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571500">
                <a:tc>
                  <a:txBody>
                    <a:bodyPr anchor="t" rtlCol="false"/>
                    <a:lstStyle/>
                    <a:p>
                      <a:pPr algn="l">
                        <a:lnSpc>
                          <a:spcPts val="1980"/>
                        </a:lnSpc>
                        <a:defRPr/>
                      </a:pPr>
                      <a:r>
                        <a:rPr lang="en-US" sz="1650" b="true">
                          <a:solidFill>
                            <a:srgbClr val="000000"/>
                          </a:solidFill>
                          <a:latin typeface="Arial Bold"/>
                          <a:ea typeface="Arial Bold"/>
                          <a:cs typeface="Arial Bold"/>
                          <a:sym typeface="Arial Bold"/>
                        </a:rPr>
                        <a:t>Completed = Yes but Progress &lt; 50%</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b="true">
                          <a:solidFill>
                            <a:srgbClr val="A100FF"/>
                          </a:solidFill>
                          <a:latin typeface="Arial Bold"/>
                          <a:ea typeface="Arial Bold"/>
                          <a:cs typeface="Arial Bold"/>
                          <a:sym typeface="Arial Bold"/>
                        </a:rPr>
                        <a:t>14,342  (29.3% of completers)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Not a data error. Escalated to EDA and became finding 3</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000000"/>
                          </a:solidFill>
                          <a:latin typeface="Arial"/>
                          <a:ea typeface="Arial"/>
                          <a:cs typeface="Arial"/>
                          <a:sym typeface="Arial"/>
                        </a:rPr>
                        <a:t>Statistical outliers (IQR method)</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0.15% - 6.19% per field</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980"/>
                        </a:lnSpc>
                        <a:defRPr/>
                      </a:pPr>
                      <a:r>
                        <a:rPr lang="en-US" sz="1650">
                          <a:solidFill>
                            <a:srgbClr val="000000"/>
                          </a:solidFill>
                          <a:latin typeface="Arial"/>
                          <a:ea typeface="Arial"/>
                          <a:cs typeface="Arial"/>
                          <a:sym typeface="Arial"/>
                        </a:rPr>
                        <a:t>Retained as genuine learner behaviour, not capped</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bl>
          </a:graphicData>
        </a:graphic>
      </p:graphicFrame>
      <p:grpSp>
        <p:nvGrpSpPr>
          <p:cNvPr name="Group 25" id="25"/>
          <p:cNvGrpSpPr/>
          <p:nvPr/>
        </p:nvGrpSpPr>
        <p:grpSpPr>
          <a:xfrm rot="0">
            <a:off x="987552" y="8709660"/>
            <a:ext cx="16322040" cy="754380"/>
            <a:chOff x="0" y="0"/>
            <a:chExt cx="21762720" cy="1005840"/>
          </a:xfrm>
        </p:grpSpPr>
        <p:sp>
          <p:nvSpPr>
            <p:cNvPr name="Freeform 26" id="26"/>
            <p:cNvSpPr/>
            <p:nvPr/>
          </p:nvSpPr>
          <p:spPr>
            <a:xfrm flipH="false" flipV="false" rot="0">
              <a:off x="0" y="0"/>
              <a:ext cx="21762720" cy="1005840"/>
            </a:xfrm>
            <a:custGeom>
              <a:avLst/>
              <a:gdLst/>
              <a:ahLst/>
              <a:cxnLst/>
              <a:rect r="r" b="b" t="t" l="l"/>
              <a:pathLst>
                <a:path h="1005840" w="21762720">
                  <a:moveTo>
                    <a:pt x="0" y="0"/>
                  </a:moveTo>
                  <a:lnTo>
                    <a:pt x="21762720" y="0"/>
                  </a:lnTo>
                  <a:lnTo>
                    <a:pt x="21762720" y="1005840"/>
                  </a:lnTo>
                  <a:lnTo>
                    <a:pt x="0" y="1005840"/>
                  </a:lnTo>
                  <a:close/>
                </a:path>
              </a:pathLst>
            </a:custGeom>
            <a:blipFill>
              <a:blip r:embed="rId2">
                <a:alphaModFix amt="0"/>
              </a:blip>
              <a:stretch>
                <a:fillRect l="0" t="-371585" r="0" b="-371585"/>
              </a:stretch>
            </a:blipFill>
          </p:spPr>
        </p:sp>
        <p:sp>
          <p:nvSpPr>
            <p:cNvPr name="TextBox 27" id="27"/>
            <p:cNvSpPr txBox="true"/>
            <p:nvPr/>
          </p:nvSpPr>
          <p:spPr>
            <a:xfrm>
              <a:off x="0" y="-28575"/>
              <a:ext cx="21762720" cy="1034415"/>
            </a:xfrm>
            <a:prstGeom prst="rect">
              <a:avLst/>
            </a:prstGeom>
          </p:spPr>
          <p:txBody>
            <a:bodyPr anchor="ctr" rtlCol="false" tIns="0" lIns="0" bIns="0" rIns="0"/>
            <a:lstStyle/>
            <a:p>
              <a:pPr algn="l">
                <a:lnSpc>
                  <a:spcPts val="2250"/>
                </a:lnSpc>
              </a:pPr>
              <a:r>
                <a:rPr lang="en-US" sz="1875" i="true">
                  <a:solidFill>
                    <a:srgbClr val="460073"/>
                  </a:solidFill>
                  <a:latin typeface="Arial Italics"/>
                  <a:ea typeface="Arial Italics"/>
                  <a:cs typeface="Arial Italics"/>
                  <a:sym typeface="Arial Italics"/>
                </a:rPr>
                <a:t>A clean dataset is a trap. Zero nulls invites you to declare the data fine and move on - so we tested whether fields agree with each other, not just whether they are populated.</a:t>
              </a:r>
            </a:p>
          </p:txBody>
        </p:sp>
      </p:grpSp>
      <p:grpSp>
        <p:nvGrpSpPr>
          <p:cNvPr name="Group 28" id="28"/>
          <p:cNvGrpSpPr/>
          <p:nvPr/>
        </p:nvGrpSpPr>
        <p:grpSpPr>
          <a:xfrm rot="0">
            <a:off x="10424160" y="411480"/>
            <a:ext cx="5966460" cy="342900"/>
            <a:chOff x="0" y="0"/>
            <a:chExt cx="7955280" cy="457200"/>
          </a:xfrm>
        </p:grpSpPr>
        <p:sp>
          <p:nvSpPr>
            <p:cNvPr name="Freeform 29" id="29"/>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30" id="30"/>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31" id="31"/>
          <p:cNvGrpSpPr/>
          <p:nvPr/>
        </p:nvGrpSpPr>
        <p:grpSpPr>
          <a:xfrm rot="0">
            <a:off x="16486632" y="411480"/>
            <a:ext cx="205740" cy="342900"/>
            <a:chOff x="0" y="0"/>
            <a:chExt cx="274320" cy="457200"/>
          </a:xfrm>
        </p:grpSpPr>
        <p:sp>
          <p:nvSpPr>
            <p:cNvPr name="Freeform 32" id="32"/>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33" id="33"/>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34" id="34"/>
          <p:cNvGrpSpPr/>
          <p:nvPr/>
        </p:nvGrpSpPr>
        <p:grpSpPr>
          <a:xfrm rot="0">
            <a:off x="16664940" y="411480"/>
            <a:ext cx="685800" cy="342900"/>
            <a:chOff x="0" y="0"/>
            <a:chExt cx="914400" cy="457200"/>
          </a:xfrm>
        </p:grpSpPr>
        <p:sp>
          <p:nvSpPr>
            <p:cNvPr name="Freeform 35" id="35"/>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36" id="36"/>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9</a:t>
              </a:r>
            </a:p>
          </p:txBody>
        </p:sp>
      </p:grpSp>
      <p:grpSp>
        <p:nvGrpSpPr>
          <p:cNvPr name="Group 37" id="37"/>
          <p:cNvGrpSpPr/>
          <p:nvPr/>
        </p:nvGrpSpPr>
        <p:grpSpPr>
          <a:xfrm rot="0">
            <a:off x="15663672" y="9422892"/>
            <a:ext cx="1618488" cy="484175"/>
            <a:chOff x="0" y="0"/>
            <a:chExt cx="2157984" cy="645566"/>
          </a:xfrm>
        </p:grpSpPr>
        <p:sp>
          <p:nvSpPr>
            <p:cNvPr name="Freeform 38" id="38" descr="logo/logo_dark.png"/>
            <p:cNvSpPr/>
            <p:nvPr/>
          </p:nvSpPr>
          <p:spPr>
            <a:xfrm flipH="false" flipV="false" rot="0">
              <a:off x="0" y="0"/>
              <a:ext cx="2157984" cy="645541"/>
            </a:xfrm>
            <a:custGeom>
              <a:avLst/>
              <a:gdLst/>
              <a:ahLst/>
              <a:cxnLst/>
              <a:rect r="r" b="b" t="t" l="l"/>
              <a:pathLst>
                <a:path h="645541" w="2157984">
                  <a:moveTo>
                    <a:pt x="0" y="0"/>
                  </a:moveTo>
                  <a:lnTo>
                    <a:pt x="2157984" y="0"/>
                  </a:lnTo>
                  <a:lnTo>
                    <a:pt x="2157984" y="645541"/>
                  </a:lnTo>
                  <a:lnTo>
                    <a:pt x="0" y="645541"/>
                  </a:lnTo>
                  <a:lnTo>
                    <a:pt x="0" y="0"/>
                  </a:lnTo>
                  <a:close/>
                </a:path>
              </a:pathLst>
            </a:custGeom>
            <a:blipFill>
              <a:blip r:embed="rId3"/>
              <a:stretch>
                <a:fillRect l="0" t="-49" r="0" b="-51"/>
              </a:stretch>
            </a:blipFill>
          </p:spPr>
        </p:sp>
      </p:grpSp>
      <p:grpSp>
        <p:nvGrpSpPr>
          <p:cNvPr name="Group 39" id="39"/>
          <p:cNvGrpSpPr/>
          <p:nvPr/>
        </p:nvGrpSpPr>
        <p:grpSpPr>
          <a:xfrm rot="0">
            <a:off x="987552" y="9601200"/>
            <a:ext cx="8229600" cy="342900"/>
            <a:chOff x="0" y="0"/>
            <a:chExt cx="10972800" cy="457200"/>
          </a:xfrm>
        </p:grpSpPr>
        <p:sp>
          <p:nvSpPr>
            <p:cNvPr name="Freeform 40" id="40"/>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41" id="41"/>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We tested who they are against how they behave</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Nine demographic and course variables. None of them move completion.</a:t>
              </a:r>
            </a:p>
          </p:txBody>
        </p:sp>
      </p:grpSp>
      <p:pic>
        <p:nvPicPr>
          <p:cNvPr name="Picture 8" id="8"/>
          <p:cNvPicPr>
            <a:picLocks noChangeAspect="true"/>
          </p:cNvPicPr>
          <p:nvPr/>
        </p:nvPicPr>
        <p:blipFill>
          <a:blip r:embed="rId3"/>
          <a:stretch>
            <a:fillRect/>
          </a:stretch>
        </p:blipFill>
        <p:spPr>
          <a:xfrm rot="0">
            <a:off x="-1157464" y="1920450"/>
            <a:ext cx="13889567" cy="8214761"/>
          </a:xfrm>
          <a:prstGeom prst="rect">
            <a:avLst/>
          </a:prstGeom>
        </p:spPr>
      </p:pic>
      <p:grpSp>
        <p:nvGrpSpPr>
          <p:cNvPr name="Group 9" id="9"/>
          <p:cNvGrpSpPr/>
          <p:nvPr/>
        </p:nvGrpSpPr>
        <p:grpSpPr>
          <a:xfrm rot="0">
            <a:off x="11741499" y="2703316"/>
            <a:ext cx="6172200" cy="438912"/>
            <a:chOff x="0" y="0"/>
            <a:chExt cx="8229600" cy="585216"/>
          </a:xfrm>
        </p:grpSpPr>
        <p:sp>
          <p:nvSpPr>
            <p:cNvPr name="Freeform 10" id="10"/>
            <p:cNvSpPr/>
            <p:nvPr/>
          </p:nvSpPr>
          <p:spPr>
            <a:xfrm flipH="false" flipV="false" rot="0">
              <a:off x="0" y="0"/>
              <a:ext cx="8229600" cy="585216"/>
            </a:xfrm>
            <a:custGeom>
              <a:avLst/>
              <a:gdLst/>
              <a:ahLst/>
              <a:cxnLst/>
              <a:rect r="r" b="b" t="t" l="l"/>
              <a:pathLst>
                <a:path h="585216" w="8229600">
                  <a:moveTo>
                    <a:pt x="0" y="0"/>
                  </a:moveTo>
                  <a:lnTo>
                    <a:pt x="8229600" y="0"/>
                  </a:lnTo>
                  <a:lnTo>
                    <a:pt x="8229600" y="585216"/>
                  </a:lnTo>
                  <a:lnTo>
                    <a:pt x="0" y="585216"/>
                  </a:lnTo>
                  <a:close/>
                </a:path>
              </a:pathLst>
            </a:custGeom>
            <a:blipFill>
              <a:blip r:embed="rId2">
                <a:alphaModFix amt="0"/>
              </a:blip>
              <a:stretch>
                <a:fillRect l="0" t="-224008" r="0" b="-224008"/>
              </a:stretch>
            </a:blipFill>
          </p:spPr>
        </p:sp>
        <p:sp>
          <p:nvSpPr>
            <p:cNvPr name="TextBox 11" id="11"/>
            <p:cNvSpPr txBox="true"/>
            <p:nvPr/>
          </p:nvSpPr>
          <p:spPr>
            <a:xfrm>
              <a:off x="0" y="-9525"/>
              <a:ext cx="8229600" cy="594741"/>
            </a:xfrm>
            <a:prstGeom prst="rect">
              <a:avLst/>
            </a:prstGeom>
          </p:spPr>
          <p:txBody>
            <a:bodyPr anchor="ctr" rtlCol="false" tIns="0" lIns="0" bIns="0" rIns="0"/>
            <a:lstStyle/>
            <a:p>
              <a:pPr algn="l">
                <a:lnSpc>
                  <a:spcPts val="2430"/>
                </a:lnSpc>
              </a:pPr>
              <a:r>
                <a:rPr lang="en-US" sz="2025" b="true">
                  <a:solidFill>
                    <a:srgbClr val="A100FF"/>
                  </a:solidFill>
                  <a:latin typeface="Arial Bold"/>
                  <a:ea typeface="Arial Bold"/>
                  <a:cs typeface="Arial Bold"/>
                  <a:sym typeface="Arial Bold"/>
                </a:rPr>
                <a:t>Method</a:t>
              </a:r>
            </a:p>
          </p:txBody>
        </p:sp>
      </p:grpSp>
      <p:grpSp>
        <p:nvGrpSpPr>
          <p:cNvPr name="Group 12" id="12"/>
          <p:cNvGrpSpPr/>
          <p:nvPr/>
        </p:nvGrpSpPr>
        <p:grpSpPr>
          <a:xfrm rot="0">
            <a:off x="11741499" y="3251956"/>
            <a:ext cx="6172200" cy="2880360"/>
            <a:chOff x="0" y="0"/>
            <a:chExt cx="8229600" cy="3840480"/>
          </a:xfrm>
        </p:grpSpPr>
        <p:sp>
          <p:nvSpPr>
            <p:cNvPr name="Freeform 13" id="13"/>
            <p:cNvSpPr/>
            <p:nvPr/>
          </p:nvSpPr>
          <p:spPr>
            <a:xfrm flipH="false" flipV="false" rot="0">
              <a:off x="0" y="0"/>
              <a:ext cx="8229600" cy="3840480"/>
            </a:xfrm>
            <a:custGeom>
              <a:avLst/>
              <a:gdLst/>
              <a:ahLst/>
              <a:cxnLst/>
              <a:rect r="r" b="b" t="t" l="l"/>
              <a:pathLst>
                <a:path h="3840480" w="8229600">
                  <a:moveTo>
                    <a:pt x="0" y="0"/>
                  </a:moveTo>
                  <a:lnTo>
                    <a:pt x="8229600" y="0"/>
                  </a:lnTo>
                  <a:lnTo>
                    <a:pt x="8229600" y="3840480"/>
                  </a:lnTo>
                  <a:lnTo>
                    <a:pt x="0" y="3840480"/>
                  </a:lnTo>
                  <a:close/>
                </a:path>
              </a:pathLst>
            </a:custGeom>
            <a:blipFill>
              <a:blip r:embed="rId2">
                <a:alphaModFix amt="0"/>
              </a:blip>
              <a:stretch>
                <a:fillRect l="-9874" t="0" r="-9875" b="0"/>
              </a:stretch>
            </a:blipFill>
          </p:spPr>
        </p:sp>
        <p:sp>
          <p:nvSpPr>
            <p:cNvPr name="TextBox 14" id="14"/>
            <p:cNvSpPr txBox="true"/>
            <p:nvPr/>
          </p:nvSpPr>
          <p:spPr>
            <a:xfrm>
              <a:off x="0" y="-19050"/>
              <a:ext cx="8229600" cy="3859530"/>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000000"/>
                  </a:solidFill>
                  <a:latin typeface="Arial"/>
                  <a:ea typeface="Arial"/>
                  <a:cs typeface="Arial"/>
                  <a:sym typeface="Arial"/>
                </a:rPr>
                <a:t>16 charts across univariate, bivariate and multivariate analysis</a:t>
              </a:r>
            </a:p>
            <a:p>
              <a:pPr algn="l" marL="325755" indent="-162878" lvl="1">
                <a:lnSpc>
                  <a:spcPts val="2160"/>
                </a:lnSpc>
                <a:buFont typeface="Arial"/>
                <a:buChar char="•"/>
              </a:pPr>
              <a:r>
                <a:rPr lang="en-US" sz="1800">
                  <a:solidFill>
                    <a:srgbClr val="000000"/>
                  </a:solidFill>
                  <a:latin typeface="Arial"/>
                  <a:ea typeface="Arial"/>
                  <a:cs typeface="Arial"/>
                  <a:sym typeface="Arial"/>
                </a:rPr>
                <a:t>Correlation ranking cross-checked against Random Forest feature importance - both agree</a:t>
              </a:r>
            </a:p>
            <a:p>
              <a:pPr algn="l" marL="325755" indent="-162878" lvl="1">
                <a:lnSpc>
                  <a:spcPts val="2160"/>
                </a:lnSpc>
                <a:buFont typeface="Arial"/>
                <a:buChar char="•"/>
              </a:pPr>
              <a:r>
                <a:rPr lang="en-US" sz="1800">
                  <a:solidFill>
                    <a:srgbClr val="000000"/>
                  </a:solidFill>
                  <a:latin typeface="Arial"/>
                  <a:ea typeface="Arial"/>
                  <a:cs typeface="Arial"/>
                  <a:sym typeface="Arial"/>
                </a:rPr>
                <a:t>At n = 100,000 almost everything is statistically significant, so we report effect size and segment gaps instead of p-values</a:t>
              </a:r>
            </a:p>
          </p:txBody>
        </p:sp>
      </p:grpSp>
      <p:grpSp>
        <p:nvGrpSpPr>
          <p:cNvPr name="Group 15" id="15"/>
          <p:cNvGrpSpPr/>
          <p:nvPr/>
        </p:nvGrpSpPr>
        <p:grpSpPr>
          <a:xfrm rot="0">
            <a:off x="11741499" y="6228328"/>
            <a:ext cx="6172200" cy="2400300"/>
            <a:chOff x="0" y="0"/>
            <a:chExt cx="8229600" cy="3200400"/>
          </a:xfrm>
        </p:grpSpPr>
        <p:sp>
          <p:nvSpPr>
            <p:cNvPr name="Freeform 16" id="16"/>
            <p:cNvSpPr/>
            <p:nvPr/>
          </p:nvSpPr>
          <p:spPr>
            <a:xfrm flipH="false" flipV="false" rot="0">
              <a:off x="0" y="0"/>
              <a:ext cx="8229600" cy="3200400"/>
            </a:xfrm>
            <a:custGeom>
              <a:avLst/>
              <a:gdLst/>
              <a:ahLst/>
              <a:cxnLst/>
              <a:rect r="r" b="b" t="t" l="l"/>
              <a:pathLst>
                <a:path h="3200400" w="8229600">
                  <a:moveTo>
                    <a:pt x="0" y="0"/>
                  </a:moveTo>
                  <a:lnTo>
                    <a:pt x="8229600" y="0"/>
                  </a:lnTo>
                  <a:lnTo>
                    <a:pt x="8229600" y="3200400"/>
                  </a:lnTo>
                  <a:lnTo>
                    <a:pt x="0" y="3200400"/>
                  </a:lnTo>
                  <a:close/>
                </a:path>
              </a:pathLst>
            </a:custGeom>
            <a:solidFill>
              <a:srgbClr val="F1F1F1"/>
            </a:solidFill>
          </p:spPr>
        </p:sp>
      </p:grpSp>
      <p:grpSp>
        <p:nvGrpSpPr>
          <p:cNvPr name="Group 17" id="17"/>
          <p:cNvGrpSpPr/>
          <p:nvPr/>
        </p:nvGrpSpPr>
        <p:grpSpPr>
          <a:xfrm rot="0">
            <a:off x="12043251" y="6434068"/>
            <a:ext cx="5623560" cy="466344"/>
            <a:chOff x="0" y="0"/>
            <a:chExt cx="7498080" cy="621792"/>
          </a:xfrm>
        </p:grpSpPr>
        <p:sp>
          <p:nvSpPr>
            <p:cNvPr name="Freeform 18" id="18"/>
            <p:cNvSpPr/>
            <p:nvPr/>
          </p:nvSpPr>
          <p:spPr>
            <a:xfrm flipH="false" flipV="false" rot="0">
              <a:off x="0" y="0"/>
              <a:ext cx="7498080" cy="621792"/>
            </a:xfrm>
            <a:custGeom>
              <a:avLst/>
              <a:gdLst/>
              <a:ahLst/>
              <a:cxnLst/>
              <a:rect r="r" b="b" t="t" l="l"/>
              <a:pathLst>
                <a:path h="621792" w="7498080">
                  <a:moveTo>
                    <a:pt x="0" y="0"/>
                  </a:moveTo>
                  <a:lnTo>
                    <a:pt x="7498080" y="0"/>
                  </a:lnTo>
                  <a:lnTo>
                    <a:pt x="7498080" y="621792"/>
                  </a:lnTo>
                  <a:lnTo>
                    <a:pt x="0" y="621792"/>
                  </a:lnTo>
                  <a:close/>
                </a:path>
              </a:pathLst>
            </a:custGeom>
            <a:blipFill>
              <a:blip r:embed="rId2">
                <a:alphaModFix amt="0"/>
              </a:blip>
              <a:stretch>
                <a:fillRect l="0" t="-184966" r="0" b="-184966"/>
              </a:stretch>
            </a:blipFill>
          </p:spPr>
        </p:sp>
        <p:sp>
          <p:nvSpPr>
            <p:cNvPr name="TextBox 19" id="19"/>
            <p:cNvSpPr txBox="true"/>
            <p:nvPr/>
          </p:nvSpPr>
          <p:spPr>
            <a:xfrm>
              <a:off x="0" y="-19050"/>
              <a:ext cx="7498080" cy="640842"/>
            </a:xfrm>
            <a:prstGeom prst="rect">
              <a:avLst/>
            </a:prstGeom>
          </p:spPr>
          <p:txBody>
            <a:bodyPr anchor="ctr" rtlCol="false" tIns="0" lIns="0" bIns="0" rIns="0"/>
            <a:lstStyle/>
            <a:p>
              <a:pPr algn="l">
                <a:lnSpc>
                  <a:spcPts val="2340"/>
                </a:lnSpc>
              </a:pPr>
              <a:r>
                <a:rPr lang="en-US" sz="1950" b="true">
                  <a:solidFill>
                    <a:srgbClr val="460073"/>
                  </a:solidFill>
                  <a:latin typeface="Arial Bold"/>
                  <a:ea typeface="Arial Bold"/>
                  <a:cs typeface="Arial Bold"/>
                  <a:sym typeface="Arial Bold"/>
                </a:rPr>
                <a:t>The null result is the point</a:t>
              </a:r>
            </a:p>
          </p:txBody>
        </p:sp>
      </p:grpSp>
      <p:grpSp>
        <p:nvGrpSpPr>
          <p:cNvPr name="Group 20" id="20"/>
          <p:cNvGrpSpPr/>
          <p:nvPr/>
        </p:nvGrpSpPr>
        <p:grpSpPr>
          <a:xfrm rot="0">
            <a:off x="12043251" y="6955276"/>
            <a:ext cx="5623560" cy="1508760"/>
            <a:chOff x="0" y="0"/>
            <a:chExt cx="7498080" cy="2011680"/>
          </a:xfrm>
        </p:grpSpPr>
        <p:sp>
          <p:nvSpPr>
            <p:cNvPr name="Freeform 21" id="21"/>
            <p:cNvSpPr/>
            <p:nvPr/>
          </p:nvSpPr>
          <p:spPr>
            <a:xfrm flipH="false" flipV="false" rot="0">
              <a:off x="0" y="0"/>
              <a:ext cx="7498080" cy="2011680"/>
            </a:xfrm>
            <a:custGeom>
              <a:avLst/>
              <a:gdLst/>
              <a:ahLst/>
              <a:cxnLst/>
              <a:rect r="r" b="b" t="t" l="l"/>
              <a:pathLst>
                <a:path h="2011680" w="7498080">
                  <a:moveTo>
                    <a:pt x="0" y="0"/>
                  </a:moveTo>
                  <a:lnTo>
                    <a:pt x="7498080" y="0"/>
                  </a:lnTo>
                  <a:lnTo>
                    <a:pt x="7498080" y="2011680"/>
                  </a:lnTo>
                  <a:lnTo>
                    <a:pt x="0" y="2011680"/>
                  </a:lnTo>
                  <a:close/>
                </a:path>
              </a:pathLst>
            </a:custGeom>
            <a:blipFill>
              <a:blip r:embed="rId2">
                <a:alphaModFix amt="0"/>
              </a:blip>
              <a:stretch>
                <a:fillRect l="0" t="-22626" r="0" b="-22626"/>
              </a:stretch>
            </a:blipFill>
          </p:spPr>
        </p:sp>
        <p:sp>
          <p:nvSpPr>
            <p:cNvPr name="TextBox 22" id="22"/>
            <p:cNvSpPr txBox="true"/>
            <p:nvPr/>
          </p:nvSpPr>
          <p:spPr>
            <a:xfrm>
              <a:off x="0" y="-19050"/>
              <a:ext cx="7498080" cy="2030730"/>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We expected course difficulty to drive drop-off. It moves completion by 0.2 points. Reporting that honestly is what tells you the engagement finding on the next slide is not an accident.</a:t>
              </a:r>
            </a:p>
          </p:txBody>
        </p:sp>
      </p:grpSp>
      <p:grpSp>
        <p:nvGrpSpPr>
          <p:cNvPr name="Group 23" id="23"/>
          <p:cNvGrpSpPr/>
          <p:nvPr/>
        </p:nvGrpSpPr>
        <p:grpSpPr>
          <a:xfrm rot="0">
            <a:off x="10424160" y="411480"/>
            <a:ext cx="5966460" cy="342900"/>
            <a:chOff x="0" y="0"/>
            <a:chExt cx="7955280" cy="457200"/>
          </a:xfrm>
        </p:grpSpPr>
        <p:sp>
          <p:nvSpPr>
            <p:cNvPr name="Freeform 24" id="24"/>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25" id="25"/>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26" id="26"/>
          <p:cNvGrpSpPr/>
          <p:nvPr/>
        </p:nvGrpSpPr>
        <p:grpSpPr>
          <a:xfrm rot="0">
            <a:off x="16486632" y="411480"/>
            <a:ext cx="205740" cy="342900"/>
            <a:chOff x="0" y="0"/>
            <a:chExt cx="274320" cy="457200"/>
          </a:xfrm>
        </p:grpSpPr>
        <p:sp>
          <p:nvSpPr>
            <p:cNvPr name="Freeform 27" id="27"/>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28" id="28"/>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29" id="29"/>
          <p:cNvGrpSpPr/>
          <p:nvPr/>
        </p:nvGrpSpPr>
        <p:grpSpPr>
          <a:xfrm rot="0">
            <a:off x="16664940" y="411480"/>
            <a:ext cx="685800" cy="342900"/>
            <a:chOff x="0" y="0"/>
            <a:chExt cx="914400" cy="457200"/>
          </a:xfrm>
        </p:grpSpPr>
        <p:sp>
          <p:nvSpPr>
            <p:cNvPr name="Freeform 30" id="30"/>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31" id="31"/>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10</a:t>
              </a:r>
            </a:p>
          </p:txBody>
        </p:sp>
      </p:grpSp>
      <p:grpSp>
        <p:nvGrpSpPr>
          <p:cNvPr name="Group 32" id="32"/>
          <p:cNvGrpSpPr/>
          <p:nvPr/>
        </p:nvGrpSpPr>
        <p:grpSpPr>
          <a:xfrm rot="0">
            <a:off x="15663672" y="9422892"/>
            <a:ext cx="1618488" cy="484175"/>
            <a:chOff x="0" y="0"/>
            <a:chExt cx="2157984" cy="645566"/>
          </a:xfrm>
        </p:grpSpPr>
        <p:sp>
          <p:nvSpPr>
            <p:cNvPr name="Freeform 33" id="33" descr="logo/logo_dark.png"/>
            <p:cNvSpPr/>
            <p:nvPr/>
          </p:nvSpPr>
          <p:spPr>
            <a:xfrm flipH="false" flipV="false" rot="0">
              <a:off x="0" y="0"/>
              <a:ext cx="2157984" cy="645541"/>
            </a:xfrm>
            <a:custGeom>
              <a:avLst/>
              <a:gdLst/>
              <a:ahLst/>
              <a:cxnLst/>
              <a:rect r="r" b="b" t="t" l="l"/>
              <a:pathLst>
                <a:path h="645541" w="2157984">
                  <a:moveTo>
                    <a:pt x="0" y="0"/>
                  </a:moveTo>
                  <a:lnTo>
                    <a:pt x="2157984" y="0"/>
                  </a:lnTo>
                  <a:lnTo>
                    <a:pt x="2157984" y="645541"/>
                  </a:lnTo>
                  <a:lnTo>
                    <a:pt x="0" y="645541"/>
                  </a:lnTo>
                  <a:lnTo>
                    <a:pt x="0" y="0"/>
                  </a:lnTo>
                  <a:close/>
                </a:path>
              </a:pathLst>
            </a:custGeom>
            <a:blipFill>
              <a:blip r:embed="rId4"/>
              <a:stretch>
                <a:fillRect l="0" t="-49" r="0" b="-51"/>
              </a:stretch>
            </a:blipFill>
          </p:spPr>
        </p:sp>
      </p:grpSp>
      <p:grpSp>
        <p:nvGrpSpPr>
          <p:cNvPr name="Group 34" id="34"/>
          <p:cNvGrpSpPr/>
          <p:nvPr/>
        </p:nvGrpSpPr>
        <p:grpSpPr>
          <a:xfrm rot="0">
            <a:off x="987552" y="9601200"/>
            <a:ext cx="8229600" cy="342900"/>
            <a:chOff x="0" y="0"/>
            <a:chExt cx="10972800" cy="457200"/>
          </a:xfrm>
        </p:grpSpPr>
        <p:sp>
          <p:nvSpPr>
            <p:cNvPr name="Freeform 35" id="35"/>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36" id="36"/>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An 18.4-point gap - the largest in the dataset</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Three equal thirds of the learner base. The only thing separating them is behaviour.</a:t>
              </a:r>
            </a:p>
          </p:txBody>
        </p:sp>
      </p:grpSp>
      <p:grpSp>
        <p:nvGrpSpPr>
          <p:cNvPr name="Group 8" id="8"/>
          <p:cNvGrpSpPr/>
          <p:nvPr/>
        </p:nvGrpSpPr>
        <p:grpSpPr>
          <a:xfrm rot="0">
            <a:off x="987552" y="4167349"/>
            <a:ext cx="2606040" cy="2320319"/>
            <a:chOff x="0" y="0"/>
            <a:chExt cx="3474720" cy="3093758"/>
          </a:xfrm>
        </p:grpSpPr>
        <p:sp>
          <p:nvSpPr>
            <p:cNvPr name="Freeform 9" id="9"/>
            <p:cNvSpPr/>
            <p:nvPr/>
          </p:nvSpPr>
          <p:spPr>
            <a:xfrm flipH="false" flipV="false" rot="0">
              <a:off x="0" y="0"/>
              <a:ext cx="3474720" cy="3093720"/>
            </a:xfrm>
            <a:custGeom>
              <a:avLst/>
              <a:gdLst/>
              <a:ahLst/>
              <a:cxnLst/>
              <a:rect r="r" b="b" t="t" l="l"/>
              <a:pathLst>
                <a:path h="3093720" w="3474720">
                  <a:moveTo>
                    <a:pt x="342900" y="0"/>
                  </a:moveTo>
                  <a:lnTo>
                    <a:pt x="3131820" y="0"/>
                  </a:lnTo>
                  <a:cubicBezTo>
                    <a:pt x="3321198" y="0"/>
                    <a:pt x="3474720" y="153522"/>
                    <a:pt x="3474720" y="342900"/>
                  </a:cubicBezTo>
                  <a:lnTo>
                    <a:pt x="3474720" y="2750820"/>
                  </a:lnTo>
                  <a:cubicBezTo>
                    <a:pt x="3474720" y="2841763"/>
                    <a:pt x="3438593" y="2928981"/>
                    <a:pt x="3374287" y="2993287"/>
                  </a:cubicBezTo>
                  <a:cubicBezTo>
                    <a:pt x="3309981" y="3057593"/>
                    <a:pt x="3222763" y="3093720"/>
                    <a:pt x="3131820" y="3093720"/>
                  </a:cubicBezTo>
                  <a:lnTo>
                    <a:pt x="342900" y="3093720"/>
                  </a:lnTo>
                  <a:cubicBezTo>
                    <a:pt x="251957" y="3093720"/>
                    <a:pt x="164739" y="3057593"/>
                    <a:pt x="100433" y="2993287"/>
                  </a:cubicBezTo>
                  <a:cubicBezTo>
                    <a:pt x="36127" y="2928981"/>
                    <a:pt x="0" y="2841763"/>
                    <a:pt x="0" y="2750820"/>
                  </a:cubicBezTo>
                  <a:lnTo>
                    <a:pt x="0" y="342900"/>
                  </a:lnTo>
                  <a:cubicBezTo>
                    <a:pt x="0" y="153522"/>
                    <a:pt x="153522" y="0"/>
                    <a:pt x="342900" y="0"/>
                  </a:cubicBezTo>
                  <a:close/>
                </a:path>
              </a:pathLst>
            </a:custGeom>
            <a:solidFill>
              <a:srgbClr val="A6A6A6"/>
            </a:solidFill>
          </p:spPr>
        </p:sp>
      </p:grpSp>
      <p:grpSp>
        <p:nvGrpSpPr>
          <p:cNvPr name="Group 10" id="10"/>
          <p:cNvGrpSpPr/>
          <p:nvPr/>
        </p:nvGrpSpPr>
        <p:grpSpPr>
          <a:xfrm rot="0">
            <a:off x="987552" y="3454117"/>
            <a:ext cx="2606040" cy="685800"/>
            <a:chOff x="0" y="0"/>
            <a:chExt cx="3474720" cy="914400"/>
          </a:xfrm>
        </p:grpSpPr>
        <p:sp>
          <p:nvSpPr>
            <p:cNvPr name="Freeform 11" id="11"/>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12" id="12"/>
            <p:cNvSpPr txBox="true"/>
            <p:nvPr/>
          </p:nvSpPr>
          <p:spPr>
            <a:xfrm>
              <a:off x="0" y="-38100"/>
              <a:ext cx="3474720" cy="952500"/>
            </a:xfrm>
            <a:prstGeom prst="rect">
              <a:avLst/>
            </a:prstGeom>
          </p:spPr>
          <p:txBody>
            <a:bodyPr anchor="ctr" rtlCol="false" tIns="0" lIns="0" bIns="0" rIns="0"/>
            <a:lstStyle/>
            <a:p>
              <a:pPr algn="ctr">
                <a:lnSpc>
                  <a:spcPts val="4500"/>
                </a:lnSpc>
              </a:pPr>
              <a:r>
                <a:rPr lang="en-US" sz="3750" b="true">
                  <a:solidFill>
                    <a:srgbClr val="000000"/>
                  </a:solidFill>
                  <a:latin typeface="Arial Bold"/>
                  <a:ea typeface="Arial Bold"/>
                  <a:cs typeface="Arial Bold"/>
                  <a:sym typeface="Arial Bold"/>
                </a:rPr>
                <a:t>39.7%</a:t>
              </a:r>
            </a:p>
          </p:txBody>
        </p:sp>
      </p:grpSp>
      <p:grpSp>
        <p:nvGrpSpPr>
          <p:cNvPr name="Group 13" id="13"/>
          <p:cNvGrpSpPr/>
          <p:nvPr/>
        </p:nvGrpSpPr>
        <p:grpSpPr>
          <a:xfrm rot="0">
            <a:off x="987552" y="6569964"/>
            <a:ext cx="2606040" cy="466344"/>
            <a:chOff x="0" y="0"/>
            <a:chExt cx="3474720" cy="621792"/>
          </a:xfrm>
        </p:grpSpPr>
        <p:sp>
          <p:nvSpPr>
            <p:cNvPr name="Freeform 14" id="14"/>
            <p:cNvSpPr/>
            <p:nvPr/>
          </p:nvSpPr>
          <p:spPr>
            <a:xfrm flipH="false" flipV="false" rot="0">
              <a:off x="0" y="0"/>
              <a:ext cx="3474720" cy="621792"/>
            </a:xfrm>
            <a:custGeom>
              <a:avLst/>
              <a:gdLst/>
              <a:ahLst/>
              <a:cxnLst/>
              <a:rect r="r" b="b" t="t" l="l"/>
              <a:pathLst>
                <a:path h="621792" w="3474720">
                  <a:moveTo>
                    <a:pt x="0" y="0"/>
                  </a:moveTo>
                  <a:lnTo>
                    <a:pt x="3474720" y="0"/>
                  </a:lnTo>
                  <a:lnTo>
                    <a:pt x="3474720" y="621792"/>
                  </a:lnTo>
                  <a:lnTo>
                    <a:pt x="0" y="621792"/>
                  </a:lnTo>
                  <a:close/>
                </a:path>
              </a:pathLst>
            </a:custGeom>
            <a:blipFill>
              <a:blip r:embed="rId2">
                <a:alphaModFix amt="0"/>
              </a:blip>
              <a:stretch>
                <a:fillRect l="0" t="-58886" r="0" b="-58886"/>
              </a:stretch>
            </a:blipFill>
          </p:spPr>
        </p:sp>
        <p:sp>
          <p:nvSpPr>
            <p:cNvPr name="TextBox 15" id="15"/>
            <p:cNvSpPr txBox="true"/>
            <p:nvPr/>
          </p:nvSpPr>
          <p:spPr>
            <a:xfrm>
              <a:off x="0" y="-19050"/>
              <a:ext cx="3474720" cy="640842"/>
            </a:xfrm>
            <a:prstGeom prst="rect">
              <a:avLst/>
            </a:prstGeom>
          </p:spPr>
          <p:txBody>
            <a:bodyPr anchor="ctr" rtlCol="false" tIns="0" lIns="0" bIns="0" rIns="0"/>
            <a:lstStyle/>
            <a:p>
              <a:pPr algn="ctr">
                <a:lnSpc>
                  <a:spcPts val="2700"/>
                </a:lnSpc>
              </a:pPr>
              <a:r>
                <a:rPr lang="en-US" sz="2250" b="true">
                  <a:solidFill>
                    <a:srgbClr val="000000"/>
                  </a:solidFill>
                  <a:latin typeface="Arial Bold"/>
                  <a:ea typeface="Arial Bold"/>
                  <a:cs typeface="Arial Bold"/>
                  <a:sym typeface="Arial Bold"/>
                </a:rPr>
                <a:t>Low</a:t>
              </a:r>
            </a:p>
          </p:txBody>
        </p:sp>
      </p:grpSp>
      <p:grpSp>
        <p:nvGrpSpPr>
          <p:cNvPr name="Group 16" id="16"/>
          <p:cNvGrpSpPr/>
          <p:nvPr/>
        </p:nvGrpSpPr>
        <p:grpSpPr>
          <a:xfrm rot="0">
            <a:off x="987552" y="7036308"/>
            <a:ext cx="2606040" cy="384048"/>
            <a:chOff x="0" y="0"/>
            <a:chExt cx="3474720" cy="512064"/>
          </a:xfrm>
        </p:grpSpPr>
        <p:sp>
          <p:nvSpPr>
            <p:cNvPr name="Freeform 17" id="17"/>
            <p:cNvSpPr/>
            <p:nvPr/>
          </p:nvSpPr>
          <p:spPr>
            <a:xfrm flipH="false" flipV="false" rot="0">
              <a:off x="0" y="0"/>
              <a:ext cx="3474720" cy="512064"/>
            </a:xfrm>
            <a:custGeom>
              <a:avLst/>
              <a:gdLst/>
              <a:ahLst/>
              <a:cxnLst/>
              <a:rect r="r" b="b" t="t" l="l"/>
              <a:pathLst>
                <a:path h="512064" w="3474720">
                  <a:moveTo>
                    <a:pt x="0" y="0"/>
                  </a:moveTo>
                  <a:lnTo>
                    <a:pt x="3474720" y="0"/>
                  </a:lnTo>
                  <a:lnTo>
                    <a:pt x="3474720" y="512064"/>
                  </a:lnTo>
                  <a:lnTo>
                    <a:pt x="0" y="512064"/>
                  </a:lnTo>
                  <a:close/>
                </a:path>
              </a:pathLst>
            </a:custGeom>
            <a:blipFill>
              <a:blip r:embed="rId2">
                <a:alphaModFix amt="0"/>
              </a:blip>
              <a:stretch>
                <a:fillRect l="0" t="-82219" r="0" b="-82219"/>
              </a:stretch>
            </a:blipFill>
          </p:spPr>
        </p:sp>
        <p:sp>
          <p:nvSpPr>
            <p:cNvPr name="TextBox 18" id="18"/>
            <p:cNvSpPr txBox="true"/>
            <p:nvPr/>
          </p:nvSpPr>
          <p:spPr>
            <a:xfrm>
              <a:off x="0" y="-19050"/>
              <a:ext cx="3474720" cy="531114"/>
            </a:xfrm>
            <a:prstGeom prst="rect">
              <a:avLst/>
            </a:prstGeom>
          </p:spPr>
          <p:txBody>
            <a:bodyPr anchor="ctr" rtlCol="false" tIns="0" lIns="0" bIns="0" rIns="0"/>
            <a:lstStyle/>
            <a:p>
              <a:pPr algn="ctr">
                <a:lnSpc>
                  <a:spcPts val="1800"/>
                </a:lnSpc>
              </a:pPr>
              <a:r>
                <a:rPr lang="en-US" sz="1500">
                  <a:solidFill>
                    <a:srgbClr val="585858"/>
                  </a:solidFill>
                  <a:latin typeface="Arial"/>
                  <a:ea typeface="Arial"/>
                  <a:cs typeface="Arial"/>
                  <a:sym typeface="Arial"/>
                </a:rPr>
                <a:t>33,334 learners</a:t>
              </a:r>
            </a:p>
          </p:txBody>
        </p:sp>
      </p:grpSp>
      <p:grpSp>
        <p:nvGrpSpPr>
          <p:cNvPr name="Group 19" id="19"/>
          <p:cNvGrpSpPr/>
          <p:nvPr/>
        </p:nvGrpSpPr>
        <p:grpSpPr>
          <a:xfrm rot="0">
            <a:off x="4210812" y="3612118"/>
            <a:ext cx="2606040" cy="2875550"/>
            <a:chOff x="0" y="0"/>
            <a:chExt cx="3474720" cy="3834066"/>
          </a:xfrm>
        </p:grpSpPr>
        <p:sp>
          <p:nvSpPr>
            <p:cNvPr name="Freeform 20" id="20"/>
            <p:cNvSpPr/>
            <p:nvPr/>
          </p:nvSpPr>
          <p:spPr>
            <a:xfrm flipH="false" flipV="false" rot="0">
              <a:off x="0" y="0"/>
              <a:ext cx="3474720" cy="3834130"/>
            </a:xfrm>
            <a:custGeom>
              <a:avLst/>
              <a:gdLst/>
              <a:ahLst/>
              <a:cxnLst/>
              <a:rect r="r" b="b" t="t" l="l"/>
              <a:pathLst>
                <a:path h="3834130" w="3474720">
                  <a:moveTo>
                    <a:pt x="266700" y="0"/>
                  </a:moveTo>
                  <a:lnTo>
                    <a:pt x="3208020" y="0"/>
                  </a:lnTo>
                  <a:cubicBezTo>
                    <a:pt x="3355315" y="0"/>
                    <a:pt x="3474720" y="119406"/>
                    <a:pt x="3474720" y="266700"/>
                  </a:cubicBezTo>
                  <a:lnTo>
                    <a:pt x="3474720" y="3567430"/>
                  </a:lnTo>
                  <a:cubicBezTo>
                    <a:pt x="3474720" y="3638163"/>
                    <a:pt x="3446621" y="3705999"/>
                    <a:pt x="3396605" y="3756015"/>
                  </a:cubicBezTo>
                  <a:cubicBezTo>
                    <a:pt x="3346590" y="3806031"/>
                    <a:pt x="3278753" y="3834130"/>
                    <a:pt x="3208020" y="3834130"/>
                  </a:cubicBezTo>
                  <a:lnTo>
                    <a:pt x="266700" y="3834130"/>
                  </a:lnTo>
                  <a:cubicBezTo>
                    <a:pt x="119406" y="3834130"/>
                    <a:pt x="0" y="3714724"/>
                    <a:pt x="0" y="3567430"/>
                  </a:cubicBezTo>
                  <a:lnTo>
                    <a:pt x="0" y="266700"/>
                  </a:lnTo>
                  <a:cubicBezTo>
                    <a:pt x="0" y="119406"/>
                    <a:pt x="119406" y="0"/>
                    <a:pt x="266700" y="0"/>
                  </a:cubicBezTo>
                  <a:close/>
                </a:path>
              </a:pathLst>
            </a:custGeom>
            <a:solidFill>
              <a:srgbClr val="8E7FA8"/>
            </a:solidFill>
          </p:spPr>
        </p:sp>
      </p:grpSp>
      <p:grpSp>
        <p:nvGrpSpPr>
          <p:cNvPr name="Group 21" id="21"/>
          <p:cNvGrpSpPr/>
          <p:nvPr/>
        </p:nvGrpSpPr>
        <p:grpSpPr>
          <a:xfrm rot="0">
            <a:off x="4210812" y="2898886"/>
            <a:ext cx="2606040" cy="685800"/>
            <a:chOff x="0" y="0"/>
            <a:chExt cx="3474720" cy="914400"/>
          </a:xfrm>
        </p:grpSpPr>
        <p:sp>
          <p:nvSpPr>
            <p:cNvPr name="Freeform 22" id="22"/>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23" id="23"/>
            <p:cNvSpPr txBox="true"/>
            <p:nvPr/>
          </p:nvSpPr>
          <p:spPr>
            <a:xfrm>
              <a:off x="0" y="-38100"/>
              <a:ext cx="3474720" cy="952500"/>
            </a:xfrm>
            <a:prstGeom prst="rect">
              <a:avLst/>
            </a:prstGeom>
          </p:spPr>
          <p:txBody>
            <a:bodyPr anchor="ctr" rtlCol="false" tIns="0" lIns="0" bIns="0" rIns="0"/>
            <a:lstStyle/>
            <a:p>
              <a:pPr algn="ctr">
                <a:lnSpc>
                  <a:spcPts val="4500"/>
                </a:lnSpc>
              </a:pPr>
              <a:r>
                <a:rPr lang="en-US" sz="3750" b="true">
                  <a:solidFill>
                    <a:srgbClr val="000000"/>
                  </a:solidFill>
                  <a:latin typeface="Arial Bold"/>
                  <a:ea typeface="Arial Bold"/>
                  <a:cs typeface="Arial Bold"/>
                  <a:sym typeface="Arial Bold"/>
                </a:rPr>
                <a:t>49.2%</a:t>
              </a:r>
            </a:p>
          </p:txBody>
        </p:sp>
      </p:grpSp>
      <p:grpSp>
        <p:nvGrpSpPr>
          <p:cNvPr name="Group 24" id="24"/>
          <p:cNvGrpSpPr/>
          <p:nvPr/>
        </p:nvGrpSpPr>
        <p:grpSpPr>
          <a:xfrm rot="0">
            <a:off x="4210812" y="6569964"/>
            <a:ext cx="2606040" cy="466344"/>
            <a:chOff x="0" y="0"/>
            <a:chExt cx="3474720" cy="621792"/>
          </a:xfrm>
        </p:grpSpPr>
        <p:sp>
          <p:nvSpPr>
            <p:cNvPr name="Freeform 25" id="25"/>
            <p:cNvSpPr/>
            <p:nvPr/>
          </p:nvSpPr>
          <p:spPr>
            <a:xfrm flipH="false" flipV="false" rot="0">
              <a:off x="0" y="0"/>
              <a:ext cx="3474720" cy="621792"/>
            </a:xfrm>
            <a:custGeom>
              <a:avLst/>
              <a:gdLst/>
              <a:ahLst/>
              <a:cxnLst/>
              <a:rect r="r" b="b" t="t" l="l"/>
              <a:pathLst>
                <a:path h="621792" w="3474720">
                  <a:moveTo>
                    <a:pt x="0" y="0"/>
                  </a:moveTo>
                  <a:lnTo>
                    <a:pt x="3474720" y="0"/>
                  </a:lnTo>
                  <a:lnTo>
                    <a:pt x="3474720" y="621792"/>
                  </a:lnTo>
                  <a:lnTo>
                    <a:pt x="0" y="621792"/>
                  </a:lnTo>
                  <a:close/>
                </a:path>
              </a:pathLst>
            </a:custGeom>
            <a:blipFill>
              <a:blip r:embed="rId2">
                <a:alphaModFix amt="0"/>
              </a:blip>
              <a:stretch>
                <a:fillRect l="0" t="-58886" r="0" b="-58886"/>
              </a:stretch>
            </a:blipFill>
          </p:spPr>
        </p:sp>
        <p:sp>
          <p:nvSpPr>
            <p:cNvPr name="TextBox 26" id="26"/>
            <p:cNvSpPr txBox="true"/>
            <p:nvPr/>
          </p:nvSpPr>
          <p:spPr>
            <a:xfrm>
              <a:off x="0" y="-19050"/>
              <a:ext cx="3474720" cy="640842"/>
            </a:xfrm>
            <a:prstGeom prst="rect">
              <a:avLst/>
            </a:prstGeom>
          </p:spPr>
          <p:txBody>
            <a:bodyPr anchor="ctr" rtlCol="false" tIns="0" lIns="0" bIns="0" rIns="0"/>
            <a:lstStyle/>
            <a:p>
              <a:pPr algn="ctr">
                <a:lnSpc>
                  <a:spcPts val="2700"/>
                </a:lnSpc>
              </a:pPr>
              <a:r>
                <a:rPr lang="en-US" sz="2250" b="true">
                  <a:solidFill>
                    <a:srgbClr val="000000"/>
                  </a:solidFill>
                  <a:latin typeface="Arial Bold"/>
                  <a:ea typeface="Arial Bold"/>
                  <a:cs typeface="Arial Bold"/>
                  <a:sym typeface="Arial Bold"/>
                </a:rPr>
                <a:t>Medium</a:t>
              </a:r>
            </a:p>
          </p:txBody>
        </p:sp>
      </p:grpSp>
      <p:grpSp>
        <p:nvGrpSpPr>
          <p:cNvPr name="Group 27" id="27"/>
          <p:cNvGrpSpPr/>
          <p:nvPr/>
        </p:nvGrpSpPr>
        <p:grpSpPr>
          <a:xfrm rot="0">
            <a:off x="4210812" y="7036308"/>
            <a:ext cx="2606040" cy="384048"/>
            <a:chOff x="0" y="0"/>
            <a:chExt cx="3474720" cy="512064"/>
          </a:xfrm>
        </p:grpSpPr>
        <p:sp>
          <p:nvSpPr>
            <p:cNvPr name="Freeform 28" id="28"/>
            <p:cNvSpPr/>
            <p:nvPr/>
          </p:nvSpPr>
          <p:spPr>
            <a:xfrm flipH="false" flipV="false" rot="0">
              <a:off x="0" y="0"/>
              <a:ext cx="3474720" cy="512064"/>
            </a:xfrm>
            <a:custGeom>
              <a:avLst/>
              <a:gdLst/>
              <a:ahLst/>
              <a:cxnLst/>
              <a:rect r="r" b="b" t="t" l="l"/>
              <a:pathLst>
                <a:path h="512064" w="3474720">
                  <a:moveTo>
                    <a:pt x="0" y="0"/>
                  </a:moveTo>
                  <a:lnTo>
                    <a:pt x="3474720" y="0"/>
                  </a:lnTo>
                  <a:lnTo>
                    <a:pt x="3474720" y="512064"/>
                  </a:lnTo>
                  <a:lnTo>
                    <a:pt x="0" y="512064"/>
                  </a:lnTo>
                  <a:close/>
                </a:path>
              </a:pathLst>
            </a:custGeom>
            <a:blipFill>
              <a:blip r:embed="rId2">
                <a:alphaModFix amt="0"/>
              </a:blip>
              <a:stretch>
                <a:fillRect l="0" t="-82219" r="0" b="-82219"/>
              </a:stretch>
            </a:blipFill>
          </p:spPr>
        </p:sp>
        <p:sp>
          <p:nvSpPr>
            <p:cNvPr name="TextBox 29" id="29"/>
            <p:cNvSpPr txBox="true"/>
            <p:nvPr/>
          </p:nvSpPr>
          <p:spPr>
            <a:xfrm>
              <a:off x="0" y="-19050"/>
              <a:ext cx="3474720" cy="531114"/>
            </a:xfrm>
            <a:prstGeom prst="rect">
              <a:avLst/>
            </a:prstGeom>
          </p:spPr>
          <p:txBody>
            <a:bodyPr anchor="ctr" rtlCol="false" tIns="0" lIns="0" bIns="0" rIns="0"/>
            <a:lstStyle/>
            <a:p>
              <a:pPr algn="ctr">
                <a:lnSpc>
                  <a:spcPts val="1800"/>
                </a:lnSpc>
              </a:pPr>
              <a:r>
                <a:rPr lang="en-US" sz="1500">
                  <a:solidFill>
                    <a:srgbClr val="585858"/>
                  </a:solidFill>
                  <a:latin typeface="Arial"/>
                  <a:ea typeface="Arial"/>
                  <a:cs typeface="Arial"/>
                  <a:sym typeface="Arial"/>
                </a:rPr>
                <a:t>33,333 learners</a:t>
              </a:r>
            </a:p>
          </p:txBody>
        </p:sp>
      </p:grpSp>
      <p:grpSp>
        <p:nvGrpSpPr>
          <p:cNvPr name="Group 30" id="30"/>
          <p:cNvGrpSpPr/>
          <p:nvPr/>
        </p:nvGrpSpPr>
        <p:grpSpPr>
          <a:xfrm rot="0">
            <a:off x="7434072" y="3086100"/>
            <a:ext cx="2606040" cy="3401568"/>
            <a:chOff x="0" y="0"/>
            <a:chExt cx="3474720" cy="4535424"/>
          </a:xfrm>
        </p:grpSpPr>
        <p:sp>
          <p:nvSpPr>
            <p:cNvPr name="Freeform 31" id="31"/>
            <p:cNvSpPr/>
            <p:nvPr/>
          </p:nvSpPr>
          <p:spPr>
            <a:xfrm flipH="false" flipV="false" rot="0">
              <a:off x="0" y="0"/>
              <a:ext cx="3474720" cy="4535424"/>
            </a:xfrm>
            <a:custGeom>
              <a:avLst/>
              <a:gdLst/>
              <a:ahLst/>
              <a:cxnLst/>
              <a:rect r="r" b="b" t="t" l="l"/>
              <a:pathLst>
                <a:path h="4535424" w="3474720">
                  <a:moveTo>
                    <a:pt x="342900" y="0"/>
                  </a:moveTo>
                  <a:lnTo>
                    <a:pt x="3131820" y="0"/>
                  </a:lnTo>
                  <a:cubicBezTo>
                    <a:pt x="3321198" y="0"/>
                    <a:pt x="3474720" y="153522"/>
                    <a:pt x="3474720" y="342900"/>
                  </a:cubicBezTo>
                  <a:lnTo>
                    <a:pt x="3474720" y="4192524"/>
                  </a:lnTo>
                  <a:cubicBezTo>
                    <a:pt x="3474720" y="4283467"/>
                    <a:pt x="3438593" y="4370685"/>
                    <a:pt x="3374287" y="4434991"/>
                  </a:cubicBezTo>
                  <a:cubicBezTo>
                    <a:pt x="3309981" y="4499297"/>
                    <a:pt x="3222763" y="4535424"/>
                    <a:pt x="3131820" y="4535424"/>
                  </a:cubicBezTo>
                  <a:lnTo>
                    <a:pt x="342900" y="4535424"/>
                  </a:lnTo>
                  <a:cubicBezTo>
                    <a:pt x="153522" y="4535424"/>
                    <a:pt x="0" y="4381902"/>
                    <a:pt x="0" y="4192524"/>
                  </a:cubicBezTo>
                  <a:lnTo>
                    <a:pt x="0" y="342900"/>
                  </a:lnTo>
                  <a:cubicBezTo>
                    <a:pt x="0" y="153522"/>
                    <a:pt x="153522" y="0"/>
                    <a:pt x="342900" y="0"/>
                  </a:cubicBezTo>
                  <a:close/>
                </a:path>
              </a:pathLst>
            </a:custGeom>
            <a:solidFill>
              <a:srgbClr val="A100FF"/>
            </a:solidFill>
          </p:spPr>
        </p:sp>
      </p:grpSp>
      <p:grpSp>
        <p:nvGrpSpPr>
          <p:cNvPr name="Group 32" id="32"/>
          <p:cNvGrpSpPr/>
          <p:nvPr/>
        </p:nvGrpSpPr>
        <p:grpSpPr>
          <a:xfrm rot="0">
            <a:off x="7434072" y="2372868"/>
            <a:ext cx="2606040" cy="685800"/>
            <a:chOff x="0" y="0"/>
            <a:chExt cx="3474720" cy="914400"/>
          </a:xfrm>
        </p:grpSpPr>
        <p:sp>
          <p:nvSpPr>
            <p:cNvPr name="Freeform 33" id="33"/>
            <p:cNvSpPr/>
            <p:nvPr/>
          </p:nvSpPr>
          <p:spPr>
            <a:xfrm flipH="false" flipV="false" rot="0">
              <a:off x="0" y="0"/>
              <a:ext cx="3474720" cy="914400"/>
            </a:xfrm>
            <a:custGeom>
              <a:avLst/>
              <a:gdLst/>
              <a:ahLst/>
              <a:cxnLst/>
              <a:rect r="r" b="b" t="t" l="l"/>
              <a:pathLst>
                <a:path h="914400" w="3474720">
                  <a:moveTo>
                    <a:pt x="0" y="0"/>
                  </a:moveTo>
                  <a:lnTo>
                    <a:pt x="3474720" y="0"/>
                  </a:lnTo>
                  <a:lnTo>
                    <a:pt x="3474720" y="914400"/>
                  </a:lnTo>
                  <a:lnTo>
                    <a:pt x="0" y="914400"/>
                  </a:lnTo>
                  <a:close/>
                </a:path>
              </a:pathLst>
            </a:custGeom>
            <a:blipFill>
              <a:blip r:embed="rId2">
                <a:alphaModFix amt="0"/>
              </a:blip>
              <a:stretch>
                <a:fillRect l="0" t="-24043" r="0" b="-24043"/>
              </a:stretch>
            </a:blipFill>
          </p:spPr>
        </p:sp>
        <p:sp>
          <p:nvSpPr>
            <p:cNvPr name="TextBox 34" id="34"/>
            <p:cNvSpPr txBox="true"/>
            <p:nvPr/>
          </p:nvSpPr>
          <p:spPr>
            <a:xfrm>
              <a:off x="0" y="-38100"/>
              <a:ext cx="3474720" cy="952500"/>
            </a:xfrm>
            <a:prstGeom prst="rect">
              <a:avLst/>
            </a:prstGeom>
          </p:spPr>
          <p:txBody>
            <a:bodyPr anchor="ctr" rtlCol="false" tIns="0" lIns="0" bIns="0" rIns="0"/>
            <a:lstStyle/>
            <a:p>
              <a:pPr algn="ctr">
                <a:lnSpc>
                  <a:spcPts val="4500"/>
                </a:lnSpc>
              </a:pPr>
              <a:r>
                <a:rPr lang="en-US" sz="3750" b="true">
                  <a:solidFill>
                    <a:srgbClr val="A100FF"/>
                  </a:solidFill>
                  <a:latin typeface="Arial Bold"/>
                  <a:ea typeface="Arial Bold"/>
                  <a:cs typeface="Arial Bold"/>
                  <a:sym typeface="Arial Bold"/>
                </a:rPr>
                <a:t>58.2%</a:t>
              </a:r>
            </a:p>
          </p:txBody>
        </p:sp>
      </p:grpSp>
      <p:grpSp>
        <p:nvGrpSpPr>
          <p:cNvPr name="Group 35" id="35"/>
          <p:cNvGrpSpPr/>
          <p:nvPr/>
        </p:nvGrpSpPr>
        <p:grpSpPr>
          <a:xfrm rot="0">
            <a:off x="7434072" y="6569964"/>
            <a:ext cx="2606040" cy="466344"/>
            <a:chOff x="0" y="0"/>
            <a:chExt cx="3474720" cy="621792"/>
          </a:xfrm>
        </p:grpSpPr>
        <p:sp>
          <p:nvSpPr>
            <p:cNvPr name="Freeform 36" id="36"/>
            <p:cNvSpPr/>
            <p:nvPr/>
          </p:nvSpPr>
          <p:spPr>
            <a:xfrm flipH="false" flipV="false" rot="0">
              <a:off x="0" y="0"/>
              <a:ext cx="3474720" cy="621792"/>
            </a:xfrm>
            <a:custGeom>
              <a:avLst/>
              <a:gdLst/>
              <a:ahLst/>
              <a:cxnLst/>
              <a:rect r="r" b="b" t="t" l="l"/>
              <a:pathLst>
                <a:path h="621792" w="3474720">
                  <a:moveTo>
                    <a:pt x="0" y="0"/>
                  </a:moveTo>
                  <a:lnTo>
                    <a:pt x="3474720" y="0"/>
                  </a:lnTo>
                  <a:lnTo>
                    <a:pt x="3474720" y="621792"/>
                  </a:lnTo>
                  <a:lnTo>
                    <a:pt x="0" y="621792"/>
                  </a:lnTo>
                  <a:close/>
                </a:path>
              </a:pathLst>
            </a:custGeom>
            <a:blipFill>
              <a:blip r:embed="rId2">
                <a:alphaModFix amt="0"/>
              </a:blip>
              <a:stretch>
                <a:fillRect l="0" t="-58886" r="0" b="-58886"/>
              </a:stretch>
            </a:blipFill>
          </p:spPr>
        </p:sp>
        <p:sp>
          <p:nvSpPr>
            <p:cNvPr name="TextBox 37" id="37"/>
            <p:cNvSpPr txBox="true"/>
            <p:nvPr/>
          </p:nvSpPr>
          <p:spPr>
            <a:xfrm>
              <a:off x="0" y="-19050"/>
              <a:ext cx="3474720" cy="640842"/>
            </a:xfrm>
            <a:prstGeom prst="rect">
              <a:avLst/>
            </a:prstGeom>
          </p:spPr>
          <p:txBody>
            <a:bodyPr anchor="ctr" rtlCol="false" tIns="0" lIns="0" bIns="0" rIns="0"/>
            <a:lstStyle/>
            <a:p>
              <a:pPr algn="ctr">
                <a:lnSpc>
                  <a:spcPts val="2700"/>
                </a:lnSpc>
              </a:pPr>
              <a:r>
                <a:rPr lang="en-US" sz="2250" b="true">
                  <a:solidFill>
                    <a:srgbClr val="000000"/>
                  </a:solidFill>
                  <a:latin typeface="Arial Bold"/>
                  <a:ea typeface="Arial Bold"/>
                  <a:cs typeface="Arial Bold"/>
                  <a:sym typeface="Arial Bold"/>
                </a:rPr>
                <a:t>High</a:t>
              </a:r>
            </a:p>
          </p:txBody>
        </p:sp>
      </p:grpSp>
      <p:grpSp>
        <p:nvGrpSpPr>
          <p:cNvPr name="Group 38" id="38"/>
          <p:cNvGrpSpPr/>
          <p:nvPr/>
        </p:nvGrpSpPr>
        <p:grpSpPr>
          <a:xfrm rot="0">
            <a:off x="7434072" y="7036308"/>
            <a:ext cx="2606040" cy="384048"/>
            <a:chOff x="0" y="0"/>
            <a:chExt cx="3474720" cy="512064"/>
          </a:xfrm>
        </p:grpSpPr>
        <p:sp>
          <p:nvSpPr>
            <p:cNvPr name="Freeform 39" id="39"/>
            <p:cNvSpPr/>
            <p:nvPr/>
          </p:nvSpPr>
          <p:spPr>
            <a:xfrm flipH="false" flipV="false" rot="0">
              <a:off x="0" y="0"/>
              <a:ext cx="3474720" cy="512064"/>
            </a:xfrm>
            <a:custGeom>
              <a:avLst/>
              <a:gdLst/>
              <a:ahLst/>
              <a:cxnLst/>
              <a:rect r="r" b="b" t="t" l="l"/>
              <a:pathLst>
                <a:path h="512064" w="3474720">
                  <a:moveTo>
                    <a:pt x="0" y="0"/>
                  </a:moveTo>
                  <a:lnTo>
                    <a:pt x="3474720" y="0"/>
                  </a:lnTo>
                  <a:lnTo>
                    <a:pt x="3474720" y="512064"/>
                  </a:lnTo>
                  <a:lnTo>
                    <a:pt x="0" y="512064"/>
                  </a:lnTo>
                  <a:close/>
                </a:path>
              </a:pathLst>
            </a:custGeom>
            <a:blipFill>
              <a:blip r:embed="rId2">
                <a:alphaModFix amt="0"/>
              </a:blip>
              <a:stretch>
                <a:fillRect l="0" t="-82219" r="0" b="-82219"/>
              </a:stretch>
            </a:blipFill>
          </p:spPr>
        </p:sp>
        <p:sp>
          <p:nvSpPr>
            <p:cNvPr name="TextBox 40" id="40"/>
            <p:cNvSpPr txBox="true"/>
            <p:nvPr/>
          </p:nvSpPr>
          <p:spPr>
            <a:xfrm>
              <a:off x="0" y="-19050"/>
              <a:ext cx="3474720" cy="531114"/>
            </a:xfrm>
            <a:prstGeom prst="rect">
              <a:avLst/>
            </a:prstGeom>
          </p:spPr>
          <p:txBody>
            <a:bodyPr anchor="ctr" rtlCol="false" tIns="0" lIns="0" bIns="0" rIns="0"/>
            <a:lstStyle/>
            <a:p>
              <a:pPr algn="ctr">
                <a:lnSpc>
                  <a:spcPts val="1800"/>
                </a:lnSpc>
              </a:pPr>
              <a:r>
                <a:rPr lang="en-US" sz="1500">
                  <a:solidFill>
                    <a:srgbClr val="585858"/>
                  </a:solidFill>
                  <a:latin typeface="Arial"/>
                  <a:ea typeface="Arial"/>
                  <a:cs typeface="Arial"/>
                  <a:sym typeface="Arial"/>
                </a:rPr>
                <a:t>33,333 learners</a:t>
              </a:r>
            </a:p>
          </p:txBody>
        </p:sp>
      </p:grpSp>
      <p:sp>
        <p:nvSpPr>
          <p:cNvPr name="AutoShape 41" id="41"/>
          <p:cNvSpPr/>
          <p:nvPr/>
        </p:nvSpPr>
        <p:spPr>
          <a:xfrm rot="6720">
            <a:off x="978017" y="6510338"/>
            <a:ext cx="9757429" cy="0"/>
          </a:xfrm>
          <a:prstGeom prst="line">
            <a:avLst/>
          </a:prstGeom>
          <a:ln cap="rnd" w="9525">
            <a:solidFill>
              <a:srgbClr val="A6A6A6"/>
            </a:solidFill>
            <a:prstDash val="solid"/>
            <a:headEnd type="none" len="sm" w="sm"/>
            <a:tailEnd type="none" len="sm" w="sm"/>
          </a:ln>
        </p:spPr>
      </p:sp>
      <p:grpSp>
        <p:nvGrpSpPr>
          <p:cNvPr name="Group 42" id="42"/>
          <p:cNvGrpSpPr/>
          <p:nvPr/>
        </p:nvGrpSpPr>
        <p:grpSpPr>
          <a:xfrm rot="0">
            <a:off x="987552" y="7653528"/>
            <a:ext cx="9738360" cy="1042416"/>
            <a:chOff x="0" y="0"/>
            <a:chExt cx="12984480" cy="1389888"/>
          </a:xfrm>
        </p:grpSpPr>
        <p:sp>
          <p:nvSpPr>
            <p:cNvPr name="Freeform 43" id="43"/>
            <p:cNvSpPr/>
            <p:nvPr/>
          </p:nvSpPr>
          <p:spPr>
            <a:xfrm flipH="false" flipV="false" rot="0">
              <a:off x="0" y="0"/>
              <a:ext cx="12984480" cy="1389888"/>
            </a:xfrm>
            <a:custGeom>
              <a:avLst/>
              <a:gdLst/>
              <a:ahLst/>
              <a:cxnLst/>
              <a:rect r="r" b="b" t="t" l="l"/>
              <a:pathLst>
                <a:path h="1389888" w="12984480">
                  <a:moveTo>
                    <a:pt x="0" y="0"/>
                  </a:moveTo>
                  <a:lnTo>
                    <a:pt x="12984480" y="0"/>
                  </a:lnTo>
                  <a:lnTo>
                    <a:pt x="12984480" y="1389888"/>
                  </a:lnTo>
                  <a:lnTo>
                    <a:pt x="0" y="1389888"/>
                  </a:lnTo>
                  <a:close/>
                </a:path>
              </a:pathLst>
            </a:custGeom>
            <a:solidFill>
              <a:srgbClr val="A100FF"/>
            </a:solidFill>
          </p:spPr>
        </p:sp>
      </p:grpSp>
      <p:grpSp>
        <p:nvGrpSpPr>
          <p:cNvPr name="Group 44" id="44"/>
          <p:cNvGrpSpPr/>
          <p:nvPr/>
        </p:nvGrpSpPr>
        <p:grpSpPr>
          <a:xfrm rot="0">
            <a:off x="1399032" y="7653528"/>
            <a:ext cx="9052560" cy="1042416"/>
            <a:chOff x="0" y="0"/>
            <a:chExt cx="12070080" cy="1389888"/>
          </a:xfrm>
        </p:grpSpPr>
        <p:sp>
          <p:nvSpPr>
            <p:cNvPr name="Freeform 45" id="45"/>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2">
                <a:alphaModFix amt="0"/>
              </a:blip>
              <a:stretch>
                <a:fillRect l="0" t="-119212" r="0" b="-119212"/>
              </a:stretch>
            </a:blipFill>
          </p:spPr>
        </p:sp>
        <p:sp>
          <p:nvSpPr>
            <p:cNvPr name="TextBox 46" id="46"/>
            <p:cNvSpPr txBox="true"/>
            <p:nvPr/>
          </p:nvSpPr>
          <p:spPr>
            <a:xfrm>
              <a:off x="0" y="-19050"/>
              <a:ext cx="12070080" cy="1408938"/>
            </a:xfrm>
            <a:prstGeom prst="rect">
              <a:avLst/>
            </a:prstGeom>
          </p:spPr>
          <p:txBody>
            <a:bodyPr anchor="ctr" rtlCol="false" tIns="0" lIns="0" bIns="0" rIns="0"/>
            <a:lstStyle/>
            <a:p>
              <a:pPr algn="l">
                <a:lnSpc>
                  <a:spcPts val="2340"/>
                </a:lnSpc>
              </a:pPr>
              <a:r>
                <a:rPr lang="en-US" sz="1950" b="true">
                  <a:solidFill>
                    <a:srgbClr val="FFFFFF"/>
                  </a:solidFill>
                  <a:latin typeface="Arial Bold"/>
                  <a:ea typeface="Arial Bold"/>
                  <a:cs typeface="Arial Bold"/>
                  <a:sym typeface="Arial Bold"/>
                </a:rPr>
                <a:t>+18.4 pts</a:t>
              </a:r>
              <a:r>
                <a:rPr lang="en-US" sz="1950">
                  <a:solidFill>
                    <a:srgbClr val="E6DCFF"/>
                  </a:solidFill>
                  <a:latin typeface="Arial"/>
                  <a:ea typeface="Arial"/>
                  <a:cs typeface="Arial"/>
                  <a:sym typeface="Arial"/>
                </a:rPr>
                <a:t>     High versus Low engagement tier</a:t>
              </a:r>
            </a:p>
          </p:txBody>
        </p:sp>
      </p:grpSp>
      <p:grpSp>
        <p:nvGrpSpPr>
          <p:cNvPr name="Group 47" id="47"/>
          <p:cNvGrpSpPr/>
          <p:nvPr/>
        </p:nvGrpSpPr>
        <p:grpSpPr>
          <a:xfrm rot="0">
            <a:off x="987552" y="8846820"/>
            <a:ext cx="9738360" cy="480060"/>
            <a:chOff x="0" y="0"/>
            <a:chExt cx="12984480" cy="640080"/>
          </a:xfrm>
        </p:grpSpPr>
        <p:sp>
          <p:nvSpPr>
            <p:cNvPr name="Freeform 48" id="48"/>
            <p:cNvSpPr/>
            <p:nvPr/>
          </p:nvSpPr>
          <p:spPr>
            <a:xfrm flipH="false" flipV="false" rot="0">
              <a:off x="0" y="0"/>
              <a:ext cx="12984480" cy="640080"/>
            </a:xfrm>
            <a:custGeom>
              <a:avLst/>
              <a:gdLst/>
              <a:ahLst/>
              <a:cxnLst/>
              <a:rect r="r" b="b" t="t" l="l"/>
              <a:pathLst>
                <a:path h="640080" w="12984480">
                  <a:moveTo>
                    <a:pt x="0" y="0"/>
                  </a:moveTo>
                  <a:lnTo>
                    <a:pt x="12984480" y="0"/>
                  </a:lnTo>
                  <a:lnTo>
                    <a:pt x="12984480" y="640080"/>
                  </a:lnTo>
                  <a:lnTo>
                    <a:pt x="0" y="640080"/>
                  </a:lnTo>
                  <a:close/>
                </a:path>
              </a:pathLst>
            </a:custGeom>
            <a:blipFill>
              <a:blip r:embed="rId2">
                <a:alphaModFix amt="0"/>
              </a:blip>
              <a:stretch>
                <a:fillRect l="0" t="-345267" r="0" b="-345267"/>
              </a:stretch>
            </a:blipFill>
          </p:spPr>
        </p:sp>
        <p:sp>
          <p:nvSpPr>
            <p:cNvPr name="TextBox 49" id="49"/>
            <p:cNvSpPr txBox="true"/>
            <p:nvPr/>
          </p:nvSpPr>
          <p:spPr>
            <a:xfrm>
              <a:off x="0" y="-9525"/>
              <a:ext cx="12984480" cy="649605"/>
            </a:xfrm>
            <a:prstGeom prst="rect">
              <a:avLst/>
            </a:prstGeom>
          </p:spPr>
          <p:txBody>
            <a:bodyPr anchor="ctr" rtlCol="false" tIns="0" lIns="0" bIns="0" rIns="0"/>
            <a:lstStyle/>
            <a:p>
              <a:pPr algn="l">
                <a:lnSpc>
                  <a:spcPts val="2520"/>
                </a:lnSpc>
              </a:pPr>
              <a:r>
                <a:rPr lang="en-US" sz="2100" b="true">
                  <a:solidFill>
                    <a:srgbClr val="460073"/>
                  </a:solidFill>
                  <a:latin typeface="Arial Bold"/>
                  <a:ea typeface="Arial Bold"/>
                  <a:cs typeface="Arial Bold"/>
                  <a:sym typeface="Arial Bold"/>
                </a:rPr>
                <a:t>The gap is behavioural, not academic.</a:t>
              </a:r>
            </a:p>
          </p:txBody>
        </p:sp>
      </p:grpSp>
      <p:grpSp>
        <p:nvGrpSpPr>
          <p:cNvPr name="Group 50" id="50"/>
          <p:cNvGrpSpPr/>
          <p:nvPr/>
        </p:nvGrpSpPr>
        <p:grpSpPr>
          <a:xfrm rot="0">
            <a:off x="11452860" y="3017520"/>
            <a:ext cx="5966460" cy="466344"/>
            <a:chOff x="0" y="0"/>
            <a:chExt cx="7955280" cy="621792"/>
          </a:xfrm>
        </p:grpSpPr>
        <p:sp>
          <p:nvSpPr>
            <p:cNvPr name="Freeform 51" id="51"/>
            <p:cNvSpPr/>
            <p:nvPr/>
          </p:nvSpPr>
          <p:spPr>
            <a:xfrm flipH="false" flipV="false" rot="0">
              <a:off x="0" y="0"/>
              <a:ext cx="7955280" cy="621792"/>
            </a:xfrm>
            <a:custGeom>
              <a:avLst/>
              <a:gdLst/>
              <a:ahLst/>
              <a:cxnLst/>
              <a:rect r="r" b="b" t="t" l="l"/>
              <a:pathLst>
                <a:path h="621792" w="7955280">
                  <a:moveTo>
                    <a:pt x="0" y="0"/>
                  </a:moveTo>
                  <a:lnTo>
                    <a:pt x="7955280" y="0"/>
                  </a:lnTo>
                  <a:lnTo>
                    <a:pt x="7955280" y="621792"/>
                  </a:lnTo>
                  <a:lnTo>
                    <a:pt x="0" y="621792"/>
                  </a:lnTo>
                  <a:close/>
                </a:path>
              </a:pathLst>
            </a:custGeom>
            <a:blipFill>
              <a:blip r:embed="rId2">
                <a:alphaModFix amt="0"/>
              </a:blip>
              <a:stretch>
                <a:fillRect l="0" t="-199293" r="0" b="-199293"/>
              </a:stretch>
            </a:blipFill>
          </p:spPr>
        </p:sp>
        <p:sp>
          <p:nvSpPr>
            <p:cNvPr name="TextBox 52" id="52"/>
            <p:cNvSpPr txBox="true"/>
            <p:nvPr/>
          </p:nvSpPr>
          <p:spPr>
            <a:xfrm>
              <a:off x="0" y="-19050"/>
              <a:ext cx="7955280" cy="640842"/>
            </a:xfrm>
            <a:prstGeom prst="rect">
              <a:avLst/>
            </a:prstGeom>
          </p:spPr>
          <p:txBody>
            <a:bodyPr anchor="ctr" rtlCol="false" tIns="0" lIns="0" bIns="0" rIns="0"/>
            <a:lstStyle/>
            <a:p>
              <a:pPr algn="l">
                <a:lnSpc>
                  <a:spcPts val="2340"/>
                </a:lnSpc>
              </a:pPr>
              <a:r>
                <a:rPr lang="en-US" b="true" sz="1950" spc="300">
                  <a:solidFill>
                    <a:srgbClr val="A100FF"/>
                  </a:solidFill>
                  <a:latin typeface="Arial Bold"/>
                  <a:ea typeface="Arial Bold"/>
                  <a:cs typeface="Arial Bold"/>
                  <a:sym typeface="Arial Bold"/>
                </a:rPr>
                <a:t>EFFORT</a:t>
              </a:r>
            </a:p>
          </p:txBody>
        </p:sp>
      </p:grpSp>
      <p:grpSp>
        <p:nvGrpSpPr>
          <p:cNvPr name="Group 53" id="53"/>
          <p:cNvGrpSpPr/>
          <p:nvPr/>
        </p:nvGrpSpPr>
        <p:grpSpPr>
          <a:xfrm rot="0">
            <a:off x="11452860" y="3538728"/>
            <a:ext cx="5966460" cy="1042416"/>
            <a:chOff x="0" y="0"/>
            <a:chExt cx="7955280" cy="1389888"/>
          </a:xfrm>
        </p:grpSpPr>
        <p:sp>
          <p:nvSpPr>
            <p:cNvPr name="Freeform 54" id="54"/>
            <p:cNvSpPr/>
            <p:nvPr/>
          </p:nvSpPr>
          <p:spPr>
            <a:xfrm flipH="false" flipV="false" rot="0">
              <a:off x="0" y="0"/>
              <a:ext cx="7955280" cy="1389888"/>
            </a:xfrm>
            <a:custGeom>
              <a:avLst/>
              <a:gdLst/>
              <a:ahLst/>
              <a:cxnLst/>
              <a:rect r="r" b="b" t="t" l="l"/>
              <a:pathLst>
                <a:path h="1389888" w="7955280">
                  <a:moveTo>
                    <a:pt x="0" y="0"/>
                  </a:moveTo>
                  <a:lnTo>
                    <a:pt x="7955280" y="0"/>
                  </a:lnTo>
                  <a:lnTo>
                    <a:pt x="7955280" y="1389888"/>
                  </a:lnTo>
                  <a:lnTo>
                    <a:pt x="0" y="1389888"/>
                  </a:lnTo>
                  <a:close/>
                </a:path>
              </a:pathLst>
            </a:custGeom>
            <a:solidFill>
              <a:srgbClr val="F3E8FC"/>
            </a:solidFill>
          </p:spPr>
        </p:sp>
      </p:grpSp>
      <p:grpSp>
        <p:nvGrpSpPr>
          <p:cNvPr name="Group 55" id="55"/>
          <p:cNvGrpSpPr/>
          <p:nvPr/>
        </p:nvGrpSpPr>
        <p:grpSpPr>
          <a:xfrm rot="0">
            <a:off x="11727180" y="3538728"/>
            <a:ext cx="1851660" cy="1042416"/>
            <a:chOff x="0" y="0"/>
            <a:chExt cx="2468880" cy="1389888"/>
          </a:xfrm>
        </p:grpSpPr>
        <p:sp>
          <p:nvSpPr>
            <p:cNvPr name="Freeform 56" id="56"/>
            <p:cNvSpPr/>
            <p:nvPr/>
          </p:nvSpPr>
          <p:spPr>
            <a:xfrm flipH="false" flipV="false" rot="0">
              <a:off x="0" y="0"/>
              <a:ext cx="2468880" cy="1389888"/>
            </a:xfrm>
            <a:custGeom>
              <a:avLst/>
              <a:gdLst/>
              <a:ahLst/>
              <a:cxnLst/>
              <a:rect r="r" b="b" t="t" l="l"/>
              <a:pathLst>
                <a:path h="1389888" w="2468880">
                  <a:moveTo>
                    <a:pt x="0" y="0"/>
                  </a:moveTo>
                  <a:lnTo>
                    <a:pt x="2468880" y="0"/>
                  </a:lnTo>
                  <a:lnTo>
                    <a:pt x="2468880" y="1389888"/>
                  </a:lnTo>
                  <a:lnTo>
                    <a:pt x="0" y="1389888"/>
                  </a:lnTo>
                  <a:close/>
                </a:path>
              </a:pathLst>
            </a:custGeom>
            <a:blipFill>
              <a:blip r:embed="rId2">
                <a:alphaModFix amt="0"/>
              </a:blip>
              <a:stretch>
                <a:fillRect l="-22230" t="0" r="-22230" b="0"/>
              </a:stretch>
            </a:blipFill>
          </p:spPr>
        </p:sp>
        <p:sp>
          <p:nvSpPr>
            <p:cNvPr name="TextBox 57" id="57"/>
            <p:cNvSpPr txBox="true"/>
            <p:nvPr/>
          </p:nvSpPr>
          <p:spPr>
            <a:xfrm>
              <a:off x="0" y="-19050"/>
              <a:ext cx="2468880" cy="1408938"/>
            </a:xfrm>
            <a:prstGeom prst="rect">
              <a:avLst/>
            </a:prstGeom>
          </p:spPr>
          <p:txBody>
            <a:bodyPr anchor="ctr" rtlCol="false" tIns="0" lIns="0" bIns="0" rIns="0"/>
            <a:lstStyle/>
            <a:p>
              <a:pPr algn="l">
                <a:lnSpc>
                  <a:spcPts val="3600"/>
                </a:lnSpc>
              </a:pPr>
              <a:r>
                <a:rPr lang="en-US" sz="3000" b="true">
                  <a:solidFill>
                    <a:srgbClr val="A100FF"/>
                  </a:solidFill>
                  <a:latin typeface="Arial Bold"/>
                  <a:ea typeface="Arial Bold"/>
                  <a:cs typeface="Arial Bold"/>
                  <a:sym typeface="Arial Bold"/>
                </a:rPr>
                <a:t>+45%</a:t>
              </a:r>
            </a:p>
          </p:txBody>
        </p:sp>
      </p:grpSp>
      <p:grpSp>
        <p:nvGrpSpPr>
          <p:cNvPr name="Group 58" id="58"/>
          <p:cNvGrpSpPr/>
          <p:nvPr/>
        </p:nvGrpSpPr>
        <p:grpSpPr>
          <a:xfrm rot="0">
            <a:off x="13578840" y="3675888"/>
            <a:ext cx="3703320" cy="438912"/>
            <a:chOff x="0" y="0"/>
            <a:chExt cx="4937760" cy="585216"/>
          </a:xfrm>
        </p:grpSpPr>
        <p:sp>
          <p:nvSpPr>
            <p:cNvPr name="Freeform 59" id="59"/>
            <p:cNvSpPr/>
            <p:nvPr/>
          </p:nvSpPr>
          <p:spPr>
            <a:xfrm flipH="false" flipV="false" rot="0">
              <a:off x="0" y="0"/>
              <a:ext cx="4937760" cy="585216"/>
            </a:xfrm>
            <a:custGeom>
              <a:avLst/>
              <a:gdLst/>
              <a:ahLst/>
              <a:cxnLst/>
              <a:rect r="r" b="b" t="t" l="l"/>
              <a:pathLst>
                <a:path h="585216" w="4937760">
                  <a:moveTo>
                    <a:pt x="0" y="0"/>
                  </a:moveTo>
                  <a:lnTo>
                    <a:pt x="4937760" y="0"/>
                  </a:lnTo>
                  <a:lnTo>
                    <a:pt x="4937760" y="585216"/>
                  </a:lnTo>
                  <a:lnTo>
                    <a:pt x="0" y="585216"/>
                  </a:lnTo>
                  <a:close/>
                </a:path>
              </a:pathLst>
            </a:custGeom>
            <a:blipFill>
              <a:blip r:embed="rId2">
                <a:alphaModFix amt="0"/>
              </a:blip>
              <a:stretch>
                <a:fillRect l="0" t="-114405" r="0" b="-114405"/>
              </a:stretch>
            </a:blipFill>
          </p:spPr>
        </p:sp>
        <p:sp>
          <p:nvSpPr>
            <p:cNvPr name="TextBox 60" id="60"/>
            <p:cNvSpPr txBox="true"/>
            <p:nvPr/>
          </p:nvSpPr>
          <p:spPr>
            <a:xfrm>
              <a:off x="0" y="-28575"/>
              <a:ext cx="4937760" cy="613791"/>
            </a:xfrm>
            <a:prstGeom prst="rect">
              <a:avLst/>
            </a:prstGeom>
          </p:spPr>
          <p:txBody>
            <a:bodyPr anchor="ctr" rtlCol="false" tIns="0" lIns="0" bIns="0" rIns="0"/>
            <a:lstStyle/>
            <a:p>
              <a:pPr algn="l">
                <a:lnSpc>
                  <a:spcPts val="2250"/>
                </a:lnSpc>
              </a:pPr>
              <a:r>
                <a:rPr lang="en-US" sz="1875" b="true">
                  <a:solidFill>
                    <a:srgbClr val="000000"/>
                  </a:solidFill>
                  <a:latin typeface="Arial Bold"/>
                  <a:ea typeface="Arial Bold"/>
                  <a:cs typeface="Arial Bold"/>
                  <a:sym typeface="Arial Bold"/>
                </a:rPr>
                <a:t>more time spent</a:t>
              </a:r>
            </a:p>
          </p:txBody>
        </p:sp>
      </p:grpSp>
      <p:grpSp>
        <p:nvGrpSpPr>
          <p:cNvPr name="Group 61" id="61"/>
          <p:cNvGrpSpPr/>
          <p:nvPr/>
        </p:nvGrpSpPr>
        <p:grpSpPr>
          <a:xfrm rot="0">
            <a:off x="13578840" y="4087368"/>
            <a:ext cx="3703320" cy="384048"/>
            <a:chOff x="0" y="0"/>
            <a:chExt cx="4937760" cy="512064"/>
          </a:xfrm>
        </p:grpSpPr>
        <p:sp>
          <p:nvSpPr>
            <p:cNvPr name="Freeform 62" id="62"/>
            <p:cNvSpPr/>
            <p:nvPr/>
          </p:nvSpPr>
          <p:spPr>
            <a:xfrm flipH="false" flipV="false" rot="0">
              <a:off x="0" y="0"/>
              <a:ext cx="4937760" cy="512064"/>
            </a:xfrm>
            <a:custGeom>
              <a:avLst/>
              <a:gdLst/>
              <a:ahLst/>
              <a:cxnLst/>
              <a:rect r="r" b="b" t="t" l="l"/>
              <a:pathLst>
                <a:path h="512064" w="4937760">
                  <a:moveTo>
                    <a:pt x="0" y="0"/>
                  </a:moveTo>
                  <a:lnTo>
                    <a:pt x="4937760" y="0"/>
                  </a:lnTo>
                  <a:lnTo>
                    <a:pt x="4937760" y="512064"/>
                  </a:lnTo>
                  <a:lnTo>
                    <a:pt x="0" y="512064"/>
                  </a:lnTo>
                  <a:close/>
                </a:path>
              </a:pathLst>
            </a:custGeom>
            <a:blipFill>
              <a:blip r:embed="rId2">
                <a:alphaModFix amt="0"/>
              </a:blip>
              <a:stretch>
                <a:fillRect l="0" t="-137891" r="0" b="-137891"/>
              </a:stretch>
            </a:blipFill>
          </p:spPr>
        </p:sp>
        <p:sp>
          <p:nvSpPr>
            <p:cNvPr name="TextBox 63" id="63"/>
            <p:cNvSpPr txBox="true"/>
            <p:nvPr/>
          </p:nvSpPr>
          <p:spPr>
            <a:xfrm>
              <a:off x="0" y="-9525"/>
              <a:ext cx="4937760" cy="521589"/>
            </a:xfrm>
            <a:prstGeom prst="rect">
              <a:avLst/>
            </a:prstGeom>
          </p:spPr>
          <p:txBody>
            <a:bodyPr anchor="ctr" rtlCol="false" tIns="0" lIns="0" bIns="0" rIns="0"/>
            <a:lstStyle/>
            <a:p>
              <a:pPr algn="l">
                <a:lnSpc>
                  <a:spcPts val="1889"/>
                </a:lnSpc>
              </a:pPr>
              <a:r>
                <a:rPr lang="en-US" sz="1575">
                  <a:solidFill>
                    <a:srgbClr val="585858"/>
                  </a:solidFill>
                  <a:latin typeface="Arial"/>
                  <a:ea typeface="Arial"/>
                  <a:cs typeface="Arial"/>
                  <a:sym typeface="Arial"/>
                </a:rPr>
                <a:t>3.2 hrs vs 2.2 hrs</a:t>
              </a:r>
            </a:p>
          </p:txBody>
        </p:sp>
      </p:grpSp>
      <p:grpSp>
        <p:nvGrpSpPr>
          <p:cNvPr name="Group 64" id="64"/>
          <p:cNvGrpSpPr/>
          <p:nvPr/>
        </p:nvGrpSpPr>
        <p:grpSpPr>
          <a:xfrm rot="0">
            <a:off x="11452860" y="4718304"/>
            <a:ext cx="5966460" cy="1042416"/>
            <a:chOff x="0" y="0"/>
            <a:chExt cx="7955280" cy="1389888"/>
          </a:xfrm>
        </p:grpSpPr>
        <p:sp>
          <p:nvSpPr>
            <p:cNvPr name="Freeform 65" id="65"/>
            <p:cNvSpPr/>
            <p:nvPr/>
          </p:nvSpPr>
          <p:spPr>
            <a:xfrm flipH="false" flipV="false" rot="0">
              <a:off x="0" y="0"/>
              <a:ext cx="7955280" cy="1389888"/>
            </a:xfrm>
            <a:custGeom>
              <a:avLst/>
              <a:gdLst/>
              <a:ahLst/>
              <a:cxnLst/>
              <a:rect r="r" b="b" t="t" l="l"/>
              <a:pathLst>
                <a:path h="1389888" w="7955280">
                  <a:moveTo>
                    <a:pt x="0" y="0"/>
                  </a:moveTo>
                  <a:lnTo>
                    <a:pt x="7955280" y="0"/>
                  </a:lnTo>
                  <a:lnTo>
                    <a:pt x="7955280" y="1389888"/>
                  </a:lnTo>
                  <a:lnTo>
                    <a:pt x="0" y="1389888"/>
                  </a:lnTo>
                  <a:close/>
                </a:path>
              </a:pathLst>
            </a:custGeom>
            <a:solidFill>
              <a:srgbClr val="F3E8FC"/>
            </a:solidFill>
          </p:spPr>
        </p:sp>
      </p:grpSp>
      <p:grpSp>
        <p:nvGrpSpPr>
          <p:cNvPr name="Group 66" id="66"/>
          <p:cNvGrpSpPr/>
          <p:nvPr/>
        </p:nvGrpSpPr>
        <p:grpSpPr>
          <a:xfrm rot="0">
            <a:off x="11727180" y="4718304"/>
            <a:ext cx="1851660" cy="1042416"/>
            <a:chOff x="0" y="0"/>
            <a:chExt cx="2468880" cy="1389888"/>
          </a:xfrm>
        </p:grpSpPr>
        <p:sp>
          <p:nvSpPr>
            <p:cNvPr name="Freeform 67" id="67"/>
            <p:cNvSpPr/>
            <p:nvPr/>
          </p:nvSpPr>
          <p:spPr>
            <a:xfrm flipH="false" flipV="false" rot="0">
              <a:off x="0" y="0"/>
              <a:ext cx="2468880" cy="1389888"/>
            </a:xfrm>
            <a:custGeom>
              <a:avLst/>
              <a:gdLst/>
              <a:ahLst/>
              <a:cxnLst/>
              <a:rect r="r" b="b" t="t" l="l"/>
              <a:pathLst>
                <a:path h="1389888" w="2468880">
                  <a:moveTo>
                    <a:pt x="0" y="0"/>
                  </a:moveTo>
                  <a:lnTo>
                    <a:pt x="2468880" y="0"/>
                  </a:lnTo>
                  <a:lnTo>
                    <a:pt x="2468880" y="1389888"/>
                  </a:lnTo>
                  <a:lnTo>
                    <a:pt x="0" y="1389888"/>
                  </a:lnTo>
                  <a:close/>
                </a:path>
              </a:pathLst>
            </a:custGeom>
            <a:blipFill>
              <a:blip r:embed="rId2">
                <a:alphaModFix amt="0"/>
              </a:blip>
              <a:stretch>
                <a:fillRect l="-22230" t="0" r="-22230" b="0"/>
              </a:stretch>
            </a:blipFill>
          </p:spPr>
        </p:sp>
        <p:sp>
          <p:nvSpPr>
            <p:cNvPr name="TextBox 68" id="68"/>
            <p:cNvSpPr txBox="true"/>
            <p:nvPr/>
          </p:nvSpPr>
          <p:spPr>
            <a:xfrm>
              <a:off x="0" y="-19050"/>
              <a:ext cx="2468880" cy="1408938"/>
            </a:xfrm>
            <a:prstGeom prst="rect">
              <a:avLst/>
            </a:prstGeom>
          </p:spPr>
          <p:txBody>
            <a:bodyPr anchor="ctr" rtlCol="false" tIns="0" lIns="0" bIns="0" rIns="0"/>
            <a:lstStyle/>
            <a:p>
              <a:pPr algn="l">
                <a:lnSpc>
                  <a:spcPts val="3600"/>
                </a:lnSpc>
              </a:pPr>
              <a:r>
                <a:rPr lang="en-US" sz="3000" b="true">
                  <a:solidFill>
                    <a:srgbClr val="A100FF"/>
                  </a:solidFill>
                  <a:latin typeface="Arial Bold"/>
                  <a:ea typeface="Arial Bold"/>
                  <a:cs typeface="Arial Bold"/>
                  <a:sym typeface="Arial Bold"/>
                </a:rPr>
                <a:t>+7.7 pts</a:t>
              </a:r>
            </a:p>
          </p:txBody>
        </p:sp>
      </p:grpSp>
      <p:grpSp>
        <p:nvGrpSpPr>
          <p:cNvPr name="Group 69" id="69"/>
          <p:cNvGrpSpPr/>
          <p:nvPr/>
        </p:nvGrpSpPr>
        <p:grpSpPr>
          <a:xfrm rot="0">
            <a:off x="13578840" y="4855464"/>
            <a:ext cx="3703320" cy="438912"/>
            <a:chOff x="0" y="0"/>
            <a:chExt cx="4937760" cy="585216"/>
          </a:xfrm>
        </p:grpSpPr>
        <p:sp>
          <p:nvSpPr>
            <p:cNvPr name="Freeform 70" id="70"/>
            <p:cNvSpPr/>
            <p:nvPr/>
          </p:nvSpPr>
          <p:spPr>
            <a:xfrm flipH="false" flipV="false" rot="0">
              <a:off x="0" y="0"/>
              <a:ext cx="4937760" cy="585216"/>
            </a:xfrm>
            <a:custGeom>
              <a:avLst/>
              <a:gdLst/>
              <a:ahLst/>
              <a:cxnLst/>
              <a:rect r="r" b="b" t="t" l="l"/>
              <a:pathLst>
                <a:path h="585216" w="4937760">
                  <a:moveTo>
                    <a:pt x="0" y="0"/>
                  </a:moveTo>
                  <a:lnTo>
                    <a:pt x="4937760" y="0"/>
                  </a:lnTo>
                  <a:lnTo>
                    <a:pt x="4937760" y="585216"/>
                  </a:lnTo>
                  <a:lnTo>
                    <a:pt x="0" y="585216"/>
                  </a:lnTo>
                  <a:close/>
                </a:path>
              </a:pathLst>
            </a:custGeom>
            <a:blipFill>
              <a:blip r:embed="rId2">
                <a:alphaModFix amt="0"/>
              </a:blip>
              <a:stretch>
                <a:fillRect l="0" t="-114405" r="0" b="-114405"/>
              </a:stretch>
            </a:blipFill>
          </p:spPr>
        </p:sp>
        <p:sp>
          <p:nvSpPr>
            <p:cNvPr name="TextBox 71" id="71"/>
            <p:cNvSpPr txBox="true"/>
            <p:nvPr/>
          </p:nvSpPr>
          <p:spPr>
            <a:xfrm>
              <a:off x="0" y="-28575"/>
              <a:ext cx="4937760" cy="613791"/>
            </a:xfrm>
            <a:prstGeom prst="rect">
              <a:avLst/>
            </a:prstGeom>
          </p:spPr>
          <p:txBody>
            <a:bodyPr anchor="ctr" rtlCol="false" tIns="0" lIns="0" bIns="0" rIns="0"/>
            <a:lstStyle/>
            <a:p>
              <a:pPr algn="l">
                <a:lnSpc>
                  <a:spcPts val="2250"/>
                </a:lnSpc>
              </a:pPr>
              <a:r>
                <a:rPr lang="en-US" sz="1875" b="true">
                  <a:solidFill>
                    <a:srgbClr val="000000"/>
                  </a:solidFill>
                  <a:latin typeface="Arial Bold"/>
                  <a:ea typeface="Arial Bold"/>
                  <a:cs typeface="Arial Bold"/>
                  <a:sym typeface="Arial Bold"/>
                </a:rPr>
                <a:t>more video watched</a:t>
              </a:r>
            </a:p>
          </p:txBody>
        </p:sp>
      </p:grpSp>
      <p:grpSp>
        <p:nvGrpSpPr>
          <p:cNvPr name="Group 72" id="72"/>
          <p:cNvGrpSpPr/>
          <p:nvPr/>
        </p:nvGrpSpPr>
        <p:grpSpPr>
          <a:xfrm rot="0">
            <a:off x="13578840" y="5266944"/>
            <a:ext cx="3703320" cy="384048"/>
            <a:chOff x="0" y="0"/>
            <a:chExt cx="4937760" cy="512064"/>
          </a:xfrm>
        </p:grpSpPr>
        <p:sp>
          <p:nvSpPr>
            <p:cNvPr name="Freeform 73" id="73"/>
            <p:cNvSpPr/>
            <p:nvPr/>
          </p:nvSpPr>
          <p:spPr>
            <a:xfrm flipH="false" flipV="false" rot="0">
              <a:off x="0" y="0"/>
              <a:ext cx="4937760" cy="512064"/>
            </a:xfrm>
            <a:custGeom>
              <a:avLst/>
              <a:gdLst/>
              <a:ahLst/>
              <a:cxnLst/>
              <a:rect r="r" b="b" t="t" l="l"/>
              <a:pathLst>
                <a:path h="512064" w="4937760">
                  <a:moveTo>
                    <a:pt x="0" y="0"/>
                  </a:moveTo>
                  <a:lnTo>
                    <a:pt x="4937760" y="0"/>
                  </a:lnTo>
                  <a:lnTo>
                    <a:pt x="4937760" y="512064"/>
                  </a:lnTo>
                  <a:lnTo>
                    <a:pt x="0" y="512064"/>
                  </a:lnTo>
                  <a:close/>
                </a:path>
              </a:pathLst>
            </a:custGeom>
            <a:blipFill>
              <a:blip r:embed="rId2">
                <a:alphaModFix amt="0"/>
              </a:blip>
              <a:stretch>
                <a:fillRect l="0" t="-137891" r="0" b="-137891"/>
              </a:stretch>
            </a:blipFill>
          </p:spPr>
        </p:sp>
        <p:sp>
          <p:nvSpPr>
            <p:cNvPr name="TextBox 74" id="74"/>
            <p:cNvSpPr txBox="true"/>
            <p:nvPr/>
          </p:nvSpPr>
          <p:spPr>
            <a:xfrm>
              <a:off x="0" y="-9525"/>
              <a:ext cx="4937760" cy="521589"/>
            </a:xfrm>
            <a:prstGeom prst="rect">
              <a:avLst/>
            </a:prstGeom>
          </p:spPr>
          <p:txBody>
            <a:bodyPr anchor="ctr" rtlCol="false" tIns="0" lIns="0" bIns="0" rIns="0"/>
            <a:lstStyle/>
            <a:p>
              <a:pPr algn="l">
                <a:lnSpc>
                  <a:spcPts val="1889"/>
                </a:lnSpc>
              </a:pPr>
              <a:r>
                <a:rPr lang="en-US" sz="1575">
                  <a:solidFill>
                    <a:srgbClr val="585858"/>
                  </a:solidFill>
                  <a:latin typeface="Arial"/>
                  <a:ea typeface="Arial"/>
                  <a:cs typeface="Arial"/>
                  <a:sym typeface="Arial"/>
                </a:rPr>
                <a:t>67.7% vs 60.0%</a:t>
              </a:r>
            </a:p>
          </p:txBody>
        </p:sp>
      </p:grpSp>
      <p:grpSp>
        <p:nvGrpSpPr>
          <p:cNvPr name="Group 75" id="75"/>
          <p:cNvGrpSpPr/>
          <p:nvPr/>
        </p:nvGrpSpPr>
        <p:grpSpPr>
          <a:xfrm rot="0">
            <a:off x="11452860" y="6062472"/>
            <a:ext cx="5966460" cy="466344"/>
            <a:chOff x="0" y="0"/>
            <a:chExt cx="7955280" cy="621792"/>
          </a:xfrm>
        </p:grpSpPr>
        <p:sp>
          <p:nvSpPr>
            <p:cNvPr name="Freeform 76" id="76"/>
            <p:cNvSpPr/>
            <p:nvPr/>
          </p:nvSpPr>
          <p:spPr>
            <a:xfrm flipH="false" flipV="false" rot="0">
              <a:off x="0" y="0"/>
              <a:ext cx="7955280" cy="621792"/>
            </a:xfrm>
            <a:custGeom>
              <a:avLst/>
              <a:gdLst/>
              <a:ahLst/>
              <a:cxnLst/>
              <a:rect r="r" b="b" t="t" l="l"/>
              <a:pathLst>
                <a:path h="621792" w="7955280">
                  <a:moveTo>
                    <a:pt x="0" y="0"/>
                  </a:moveTo>
                  <a:lnTo>
                    <a:pt x="7955280" y="0"/>
                  </a:lnTo>
                  <a:lnTo>
                    <a:pt x="7955280" y="621792"/>
                  </a:lnTo>
                  <a:lnTo>
                    <a:pt x="0" y="621792"/>
                  </a:lnTo>
                  <a:close/>
                </a:path>
              </a:pathLst>
            </a:custGeom>
            <a:blipFill>
              <a:blip r:embed="rId2">
                <a:alphaModFix amt="0"/>
              </a:blip>
              <a:stretch>
                <a:fillRect l="0" t="-199293" r="0" b="-199293"/>
              </a:stretch>
            </a:blipFill>
          </p:spPr>
        </p:sp>
        <p:sp>
          <p:nvSpPr>
            <p:cNvPr name="TextBox 77" id="77"/>
            <p:cNvSpPr txBox="true"/>
            <p:nvPr/>
          </p:nvSpPr>
          <p:spPr>
            <a:xfrm>
              <a:off x="0" y="-19050"/>
              <a:ext cx="7955280" cy="640842"/>
            </a:xfrm>
            <a:prstGeom prst="rect">
              <a:avLst/>
            </a:prstGeom>
          </p:spPr>
          <p:txBody>
            <a:bodyPr anchor="ctr" rtlCol="false" tIns="0" lIns="0" bIns="0" rIns="0"/>
            <a:lstStyle/>
            <a:p>
              <a:pPr algn="l">
                <a:lnSpc>
                  <a:spcPts val="2340"/>
                </a:lnSpc>
              </a:pPr>
              <a:r>
                <a:rPr lang="en-US" b="true" sz="1950" spc="300">
                  <a:solidFill>
                    <a:srgbClr val="585858"/>
                  </a:solidFill>
                  <a:latin typeface="Arial Bold"/>
                  <a:ea typeface="Arial Bold"/>
                  <a:cs typeface="Arial Bold"/>
                  <a:sym typeface="Arial Bold"/>
                </a:rPr>
                <a:t>ABILITY</a:t>
              </a:r>
            </a:p>
          </p:txBody>
        </p:sp>
      </p:grpSp>
      <p:grpSp>
        <p:nvGrpSpPr>
          <p:cNvPr name="Group 78" id="78"/>
          <p:cNvGrpSpPr/>
          <p:nvPr/>
        </p:nvGrpSpPr>
        <p:grpSpPr>
          <a:xfrm rot="0">
            <a:off x="11452860" y="6583680"/>
            <a:ext cx="5966460" cy="740664"/>
            <a:chOff x="0" y="0"/>
            <a:chExt cx="7955280" cy="987552"/>
          </a:xfrm>
        </p:grpSpPr>
        <p:sp>
          <p:nvSpPr>
            <p:cNvPr name="Freeform 79" id="79"/>
            <p:cNvSpPr/>
            <p:nvPr/>
          </p:nvSpPr>
          <p:spPr>
            <a:xfrm flipH="false" flipV="false" rot="0">
              <a:off x="0" y="0"/>
              <a:ext cx="7955280" cy="987552"/>
            </a:xfrm>
            <a:custGeom>
              <a:avLst/>
              <a:gdLst/>
              <a:ahLst/>
              <a:cxnLst/>
              <a:rect r="r" b="b" t="t" l="l"/>
              <a:pathLst>
                <a:path h="987552" w="7955280">
                  <a:moveTo>
                    <a:pt x="0" y="0"/>
                  </a:moveTo>
                  <a:lnTo>
                    <a:pt x="7955280" y="0"/>
                  </a:lnTo>
                  <a:lnTo>
                    <a:pt x="7955280" y="987552"/>
                  </a:lnTo>
                  <a:lnTo>
                    <a:pt x="0" y="987552"/>
                  </a:lnTo>
                  <a:close/>
                </a:path>
              </a:pathLst>
            </a:custGeom>
            <a:solidFill>
              <a:srgbClr val="F1F1F1"/>
            </a:solidFill>
          </p:spPr>
        </p:sp>
      </p:grpSp>
      <p:grpSp>
        <p:nvGrpSpPr>
          <p:cNvPr name="Group 80" id="80"/>
          <p:cNvGrpSpPr/>
          <p:nvPr/>
        </p:nvGrpSpPr>
        <p:grpSpPr>
          <a:xfrm rot="0">
            <a:off x="11727180" y="6583680"/>
            <a:ext cx="1851660" cy="740664"/>
            <a:chOff x="0" y="0"/>
            <a:chExt cx="2468880" cy="987552"/>
          </a:xfrm>
        </p:grpSpPr>
        <p:sp>
          <p:nvSpPr>
            <p:cNvPr name="Freeform 81" id="81"/>
            <p:cNvSpPr/>
            <p:nvPr/>
          </p:nvSpPr>
          <p:spPr>
            <a:xfrm flipH="false" flipV="false" rot="0">
              <a:off x="0" y="0"/>
              <a:ext cx="2468880" cy="987552"/>
            </a:xfrm>
            <a:custGeom>
              <a:avLst/>
              <a:gdLst/>
              <a:ahLst/>
              <a:cxnLst/>
              <a:rect r="r" b="b" t="t" l="l"/>
              <a:pathLst>
                <a:path h="987552" w="2468880">
                  <a:moveTo>
                    <a:pt x="0" y="0"/>
                  </a:moveTo>
                  <a:lnTo>
                    <a:pt x="2468880" y="0"/>
                  </a:lnTo>
                  <a:lnTo>
                    <a:pt x="2468880" y="987552"/>
                  </a:lnTo>
                  <a:lnTo>
                    <a:pt x="0" y="987552"/>
                  </a:lnTo>
                  <a:close/>
                </a:path>
              </a:pathLst>
            </a:custGeom>
            <a:blipFill>
              <a:blip r:embed="rId2">
                <a:alphaModFix amt="0"/>
              </a:blip>
              <a:stretch>
                <a:fillRect l="-1321" t="0" r="-1321" b="0"/>
              </a:stretch>
            </a:blipFill>
          </p:spPr>
        </p:sp>
        <p:sp>
          <p:nvSpPr>
            <p:cNvPr name="TextBox 82" id="82"/>
            <p:cNvSpPr txBox="true"/>
            <p:nvPr/>
          </p:nvSpPr>
          <p:spPr>
            <a:xfrm>
              <a:off x="0" y="-9525"/>
              <a:ext cx="2468880" cy="997077"/>
            </a:xfrm>
            <a:prstGeom prst="rect">
              <a:avLst/>
            </a:prstGeom>
          </p:spPr>
          <p:txBody>
            <a:bodyPr anchor="ctr" rtlCol="false" tIns="0" lIns="0" bIns="0" rIns="0"/>
            <a:lstStyle/>
            <a:p>
              <a:pPr algn="l">
                <a:lnSpc>
                  <a:spcPts val="2879"/>
                </a:lnSpc>
              </a:pPr>
              <a:r>
                <a:rPr lang="en-US" sz="2400" b="true">
                  <a:solidFill>
                    <a:srgbClr val="585858"/>
                  </a:solidFill>
                  <a:latin typeface="Arial Bold"/>
                  <a:ea typeface="Arial Bold"/>
                  <a:cs typeface="Arial Bold"/>
                  <a:sym typeface="Arial Bold"/>
                </a:rPr>
                <a:t>+2.0</a:t>
              </a:r>
            </a:p>
          </p:txBody>
        </p:sp>
      </p:grpSp>
      <p:grpSp>
        <p:nvGrpSpPr>
          <p:cNvPr name="Group 83" id="83"/>
          <p:cNvGrpSpPr/>
          <p:nvPr/>
        </p:nvGrpSpPr>
        <p:grpSpPr>
          <a:xfrm rot="0">
            <a:off x="13578840" y="6583680"/>
            <a:ext cx="2194560" cy="740664"/>
            <a:chOff x="0" y="0"/>
            <a:chExt cx="2926080" cy="987552"/>
          </a:xfrm>
        </p:grpSpPr>
        <p:sp>
          <p:nvSpPr>
            <p:cNvPr name="Freeform 84" id="84"/>
            <p:cNvSpPr/>
            <p:nvPr/>
          </p:nvSpPr>
          <p:spPr>
            <a:xfrm flipH="false" flipV="false" rot="0">
              <a:off x="0" y="0"/>
              <a:ext cx="2926080" cy="987552"/>
            </a:xfrm>
            <a:custGeom>
              <a:avLst/>
              <a:gdLst/>
              <a:ahLst/>
              <a:cxnLst/>
              <a:rect r="r" b="b" t="t" l="l"/>
              <a:pathLst>
                <a:path h="987552" w="2926080">
                  <a:moveTo>
                    <a:pt x="0" y="0"/>
                  </a:moveTo>
                  <a:lnTo>
                    <a:pt x="2926080" y="0"/>
                  </a:lnTo>
                  <a:lnTo>
                    <a:pt x="2926080" y="987552"/>
                  </a:lnTo>
                  <a:lnTo>
                    <a:pt x="0" y="987552"/>
                  </a:lnTo>
                  <a:close/>
                </a:path>
              </a:pathLst>
            </a:custGeom>
            <a:blipFill>
              <a:blip r:embed="rId2">
                <a:alphaModFix amt="0"/>
              </a:blip>
              <a:stretch>
                <a:fillRect l="0" t="-7733" r="0" b="-7733"/>
              </a:stretch>
            </a:blipFill>
          </p:spPr>
        </p:sp>
        <p:sp>
          <p:nvSpPr>
            <p:cNvPr name="TextBox 85" id="85"/>
            <p:cNvSpPr txBox="true"/>
            <p:nvPr/>
          </p:nvSpPr>
          <p:spPr>
            <a:xfrm>
              <a:off x="0" y="-19050"/>
              <a:ext cx="2926080" cy="1006602"/>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quiz points</a:t>
              </a:r>
            </a:p>
          </p:txBody>
        </p:sp>
      </p:grpSp>
      <p:grpSp>
        <p:nvGrpSpPr>
          <p:cNvPr name="Group 86" id="86"/>
          <p:cNvGrpSpPr/>
          <p:nvPr/>
        </p:nvGrpSpPr>
        <p:grpSpPr>
          <a:xfrm rot="0">
            <a:off x="15636240" y="6583680"/>
            <a:ext cx="1645920" cy="740664"/>
            <a:chOff x="0" y="0"/>
            <a:chExt cx="2194560" cy="987552"/>
          </a:xfrm>
        </p:grpSpPr>
        <p:sp>
          <p:nvSpPr>
            <p:cNvPr name="Freeform 87" id="87"/>
            <p:cNvSpPr/>
            <p:nvPr/>
          </p:nvSpPr>
          <p:spPr>
            <a:xfrm flipH="false" flipV="false" rot="0">
              <a:off x="0" y="0"/>
              <a:ext cx="2194560" cy="987552"/>
            </a:xfrm>
            <a:custGeom>
              <a:avLst/>
              <a:gdLst/>
              <a:ahLst/>
              <a:cxnLst/>
              <a:rect r="r" b="b" t="t" l="l"/>
              <a:pathLst>
                <a:path h="987552" w="2194560">
                  <a:moveTo>
                    <a:pt x="0" y="0"/>
                  </a:moveTo>
                  <a:lnTo>
                    <a:pt x="2194560" y="0"/>
                  </a:lnTo>
                  <a:lnTo>
                    <a:pt x="2194560" y="987552"/>
                  </a:lnTo>
                  <a:lnTo>
                    <a:pt x="0" y="987552"/>
                  </a:lnTo>
                  <a:close/>
                </a:path>
              </a:pathLst>
            </a:custGeom>
            <a:blipFill>
              <a:blip r:embed="rId2">
                <a:alphaModFix amt="0"/>
              </a:blip>
              <a:stretch>
                <a:fillRect l="-7736" t="0" r="-7736" b="0"/>
              </a:stretch>
            </a:blipFill>
          </p:spPr>
        </p:sp>
        <p:sp>
          <p:nvSpPr>
            <p:cNvPr name="TextBox 88" id="88"/>
            <p:cNvSpPr txBox="true"/>
            <p:nvPr/>
          </p:nvSpPr>
          <p:spPr>
            <a:xfrm>
              <a:off x="0" y="-19050"/>
              <a:ext cx="2194560" cy="1006602"/>
            </a:xfrm>
            <a:prstGeom prst="rect">
              <a:avLst/>
            </a:prstGeom>
          </p:spPr>
          <p:txBody>
            <a:bodyPr anchor="ctr" rtlCol="false" tIns="0" lIns="0" bIns="0" rIns="0"/>
            <a:lstStyle/>
            <a:p>
              <a:pPr algn="l">
                <a:lnSpc>
                  <a:spcPts val="1800"/>
                </a:lnSpc>
              </a:pPr>
              <a:r>
                <a:rPr lang="en-US" sz="1500">
                  <a:solidFill>
                    <a:srgbClr val="585858"/>
                  </a:solidFill>
                  <a:latin typeface="Arial"/>
                  <a:ea typeface="Arial"/>
                  <a:cs typeface="Arial"/>
                  <a:sym typeface="Arial"/>
                </a:rPr>
                <a:t>74.4 vs 72.4</a:t>
              </a:r>
            </a:p>
          </p:txBody>
        </p:sp>
      </p:grpSp>
      <p:grpSp>
        <p:nvGrpSpPr>
          <p:cNvPr name="Group 89" id="89"/>
          <p:cNvGrpSpPr/>
          <p:nvPr/>
        </p:nvGrpSpPr>
        <p:grpSpPr>
          <a:xfrm rot="0">
            <a:off x="11452860" y="7434072"/>
            <a:ext cx="5966460" cy="740664"/>
            <a:chOff x="0" y="0"/>
            <a:chExt cx="7955280" cy="987552"/>
          </a:xfrm>
        </p:grpSpPr>
        <p:sp>
          <p:nvSpPr>
            <p:cNvPr name="Freeform 90" id="90"/>
            <p:cNvSpPr/>
            <p:nvPr/>
          </p:nvSpPr>
          <p:spPr>
            <a:xfrm flipH="false" flipV="false" rot="0">
              <a:off x="0" y="0"/>
              <a:ext cx="7955280" cy="987552"/>
            </a:xfrm>
            <a:custGeom>
              <a:avLst/>
              <a:gdLst/>
              <a:ahLst/>
              <a:cxnLst/>
              <a:rect r="r" b="b" t="t" l="l"/>
              <a:pathLst>
                <a:path h="987552" w="7955280">
                  <a:moveTo>
                    <a:pt x="0" y="0"/>
                  </a:moveTo>
                  <a:lnTo>
                    <a:pt x="7955280" y="0"/>
                  </a:lnTo>
                  <a:lnTo>
                    <a:pt x="7955280" y="987552"/>
                  </a:lnTo>
                  <a:lnTo>
                    <a:pt x="0" y="987552"/>
                  </a:lnTo>
                  <a:close/>
                </a:path>
              </a:pathLst>
            </a:custGeom>
            <a:solidFill>
              <a:srgbClr val="F1F1F1"/>
            </a:solidFill>
          </p:spPr>
        </p:sp>
      </p:grpSp>
      <p:grpSp>
        <p:nvGrpSpPr>
          <p:cNvPr name="Group 91" id="91"/>
          <p:cNvGrpSpPr/>
          <p:nvPr/>
        </p:nvGrpSpPr>
        <p:grpSpPr>
          <a:xfrm rot="0">
            <a:off x="11727180" y="7434072"/>
            <a:ext cx="1851660" cy="740664"/>
            <a:chOff x="0" y="0"/>
            <a:chExt cx="2468880" cy="987552"/>
          </a:xfrm>
        </p:grpSpPr>
        <p:sp>
          <p:nvSpPr>
            <p:cNvPr name="Freeform 92" id="92"/>
            <p:cNvSpPr/>
            <p:nvPr/>
          </p:nvSpPr>
          <p:spPr>
            <a:xfrm flipH="false" flipV="false" rot="0">
              <a:off x="0" y="0"/>
              <a:ext cx="2468880" cy="987552"/>
            </a:xfrm>
            <a:custGeom>
              <a:avLst/>
              <a:gdLst/>
              <a:ahLst/>
              <a:cxnLst/>
              <a:rect r="r" b="b" t="t" l="l"/>
              <a:pathLst>
                <a:path h="987552" w="2468880">
                  <a:moveTo>
                    <a:pt x="0" y="0"/>
                  </a:moveTo>
                  <a:lnTo>
                    <a:pt x="2468880" y="0"/>
                  </a:lnTo>
                  <a:lnTo>
                    <a:pt x="2468880" y="987552"/>
                  </a:lnTo>
                  <a:lnTo>
                    <a:pt x="0" y="987552"/>
                  </a:lnTo>
                  <a:close/>
                </a:path>
              </a:pathLst>
            </a:custGeom>
            <a:blipFill>
              <a:blip r:embed="rId2">
                <a:alphaModFix amt="0"/>
              </a:blip>
              <a:stretch>
                <a:fillRect l="-1321" t="0" r="-1321" b="0"/>
              </a:stretch>
            </a:blipFill>
          </p:spPr>
        </p:sp>
        <p:sp>
          <p:nvSpPr>
            <p:cNvPr name="TextBox 93" id="93"/>
            <p:cNvSpPr txBox="true"/>
            <p:nvPr/>
          </p:nvSpPr>
          <p:spPr>
            <a:xfrm>
              <a:off x="0" y="-9525"/>
              <a:ext cx="2468880" cy="997077"/>
            </a:xfrm>
            <a:prstGeom prst="rect">
              <a:avLst/>
            </a:prstGeom>
          </p:spPr>
          <p:txBody>
            <a:bodyPr anchor="ctr" rtlCol="false" tIns="0" lIns="0" bIns="0" rIns="0"/>
            <a:lstStyle/>
            <a:p>
              <a:pPr algn="l">
                <a:lnSpc>
                  <a:spcPts val="2879"/>
                </a:lnSpc>
              </a:pPr>
              <a:r>
                <a:rPr lang="en-US" sz="2400" b="true">
                  <a:solidFill>
                    <a:srgbClr val="585858"/>
                  </a:solidFill>
                  <a:latin typeface="Arial Bold"/>
                  <a:ea typeface="Arial Bold"/>
                  <a:cs typeface="Arial Bold"/>
                  <a:sym typeface="Arial Bold"/>
                </a:rPr>
                <a:t>+1.2</a:t>
              </a:r>
            </a:p>
          </p:txBody>
        </p:sp>
      </p:grpSp>
      <p:grpSp>
        <p:nvGrpSpPr>
          <p:cNvPr name="Group 94" id="94"/>
          <p:cNvGrpSpPr/>
          <p:nvPr/>
        </p:nvGrpSpPr>
        <p:grpSpPr>
          <a:xfrm rot="0">
            <a:off x="13578840" y="7434072"/>
            <a:ext cx="2194560" cy="740664"/>
            <a:chOff x="0" y="0"/>
            <a:chExt cx="2926080" cy="987552"/>
          </a:xfrm>
        </p:grpSpPr>
        <p:sp>
          <p:nvSpPr>
            <p:cNvPr name="Freeform 95" id="95"/>
            <p:cNvSpPr/>
            <p:nvPr/>
          </p:nvSpPr>
          <p:spPr>
            <a:xfrm flipH="false" flipV="false" rot="0">
              <a:off x="0" y="0"/>
              <a:ext cx="2926080" cy="987552"/>
            </a:xfrm>
            <a:custGeom>
              <a:avLst/>
              <a:gdLst/>
              <a:ahLst/>
              <a:cxnLst/>
              <a:rect r="r" b="b" t="t" l="l"/>
              <a:pathLst>
                <a:path h="987552" w="2926080">
                  <a:moveTo>
                    <a:pt x="0" y="0"/>
                  </a:moveTo>
                  <a:lnTo>
                    <a:pt x="2926080" y="0"/>
                  </a:lnTo>
                  <a:lnTo>
                    <a:pt x="2926080" y="987552"/>
                  </a:lnTo>
                  <a:lnTo>
                    <a:pt x="0" y="987552"/>
                  </a:lnTo>
                  <a:close/>
                </a:path>
              </a:pathLst>
            </a:custGeom>
            <a:blipFill>
              <a:blip r:embed="rId2">
                <a:alphaModFix amt="0"/>
              </a:blip>
              <a:stretch>
                <a:fillRect l="0" t="-7733" r="0" b="-7733"/>
              </a:stretch>
            </a:blipFill>
          </p:spPr>
        </p:sp>
        <p:sp>
          <p:nvSpPr>
            <p:cNvPr name="TextBox 96" id="96"/>
            <p:cNvSpPr txBox="true"/>
            <p:nvPr/>
          </p:nvSpPr>
          <p:spPr>
            <a:xfrm>
              <a:off x="0" y="-19050"/>
              <a:ext cx="2926080" cy="1006602"/>
            </a:xfrm>
            <a:prstGeom prst="rect">
              <a:avLst/>
            </a:prstGeom>
          </p:spPr>
          <p:txBody>
            <a:bodyPr anchor="ctr" rtlCol="false" tIns="0" lIns="0" bIns="0" rIns="0"/>
            <a:lstStyle/>
            <a:p>
              <a:pPr algn="l">
                <a:lnSpc>
                  <a:spcPts val="2070"/>
                </a:lnSpc>
              </a:pPr>
              <a:r>
                <a:rPr lang="en-US" sz="1725">
                  <a:solidFill>
                    <a:srgbClr val="000000"/>
                  </a:solidFill>
                  <a:latin typeface="Arial"/>
                  <a:ea typeface="Arial"/>
                  <a:cs typeface="Arial"/>
                  <a:sym typeface="Arial"/>
                </a:rPr>
                <a:t>project points</a:t>
              </a:r>
            </a:p>
          </p:txBody>
        </p:sp>
      </p:grpSp>
      <p:grpSp>
        <p:nvGrpSpPr>
          <p:cNvPr name="Group 97" id="97"/>
          <p:cNvGrpSpPr/>
          <p:nvPr/>
        </p:nvGrpSpPr>
        <p:grpSpPr>
          <a:xfrm rot="0">
            <a:off x="15636240" y="7434072"/>
            <a:ext cx="1645920" cy="740664"/>
            <a:chOff x="0" y="0"/>
            <a:chExt cx="2194560" cy="987552"/>
          </a:xfrm>
        </p:grpSpPr>
        <p:sp>
          <p:nvSpPr>
            <p:cNvPr name="Freeform 98" id="98"/>
            <p:cNvSpPr/>
            <p:nvPr/>
          </p:nvSpPr>
          <p:spPr>
            <a:xfrm flipH="false" flipV="false" rot="0">
              <a:off x="0" y="0"/>
              <a:ext cx="2194560" cy="987552"/>
            </a:xfrm>
            <a:custGeom>
              <a:avLst/>
              <a:gdLst/>
              <a:ahLst/>
              <a:cxnLst/>
              <a:rect r="r" b="b" t="t" l="l"/>
              <a:pathLst>
                <a:path h="987552" w="2194560">
                  <a:moveTo>
                    <a:pt x="0" y="0"/>
                  </a:moveTo>
                  <a:lnTo>
                    <a:pt x="2194560" y="0"/>
                  </a:lnTo>
                  <a:lnTo>
                    <a:pt x="2194560" y="987552"/>
                  </a:lnTo>
                  <a:lnTo>
                    <a:pt x="0" y="987552"/>
                  </a:lnTo>
                  <a:close/>
                </a:path>
              </a:pathLst>
            </a:custGeom>
            <a:blipFill>
              <a:blip r:embed="rId2">
                <a:alphaModFix amt="0"/>
              </a:blip>
              <a:stretch>
                <a:fillRect l="-7736" t="0" r="-7736" b="0"/>
              </a:stretch>
            </a:blipFill>
          </p:spPr>
        </p:sp>
        <p:sp>
          <p:nvSpPr>
            <p:cNvPr name="TextBox 99" id="99"/>
            <p:cNvSpPr txBox="true"/>
            <p:nvPr/>
          </p:nvSpPr>
          <p:spPr>
            <a:xfrm>
              <a:off x="0" y="-19050"/>
              <a:ext cx="2194560" cy="1006602"/>
            </a:xfrm>
            <a:prstGeom prst="rect">
              <a:avLst/>
            </a:prstGeom>
          </p:spPr>
          <p:txBody>
            <a:bodyPr anchor="ctr" rtlCol="false" tIns="0" lIns="0" bIns="0" rIns="0"/>
            <a:lstStyle/>
            <a:p>
              <a:pPr algn="l">
                <a:lnSpc>
                  <a:spcPts val="1800"/>
                </a:lnSpc>
              </a:pPr>
              <a:r>
                <a:rPr lang="en-US" sz="1500">
                  <a:solidFill>
                    <a:srgbClr val="585858"/>
                  </a:solidFill>
                  <a:latin typeface="Arial"/>
                  <a:ea typeface="Arial"/>
                  <a:cs typeface="Arial"/>
                  <a:sym typeface="Arial"/>
                </a:rPr>
                <a:t>68.9 vs 67.7</a:t>
              </a:r>
            </a:p>
          </p:txBody>
        </p:sp>
      </p:grpSp>
      <p:grpSp>
        <p:nvGrpSpPr>
          <p:cNvPr name="Group 100" id="100"/>
          <p:cNvGrpSpPr/>
          <p:nvPr/>
        </p:nvGrpSpPr>
        <p:grpSpPr>
          <a:xfrm rot="0">
            <a:off x="11452860" y="8435340"/>
            <a:ext cx="5966460" cy="850392"/>
            <a:chOff x="0" y="0"/>
            <a:chExt cx="7955280" cy="1133856"/>
          </a:xfrm>
        </p:grpSpPr>
        <p:sp>
          <p:nvSpPr>
            <p:cNvPr name="Freeform 101" id="101"/>
            <p:cNvSpPr/>
            <p:nvPr/>
          </p:nvSpPr>
          <p:spPr>
            <a:xfrm flipH="false" flipV="false" rot="0">
              <a:off x="0" y="0"/>
              <a:ext cx="7955280" cy="1133856"/>
            </a:xfrm>
            <a:custGeom>
              <a:avLst/>
              <a:gdLst/>
              <a:ahLst/>
              <a:cxnLst/>
              <a:rect r="r" b="b" t="t" l="l"/>
              <a:pathLst>
                <a:path h="1133856" w="7955280">
                  <a:moveTo>
                    <a:pt x="0" y="0"/>
                  </a:moveTo>
                  <a:lnTo>
                    <a:pt x="7955280" y="0"/>
                  </a:lnTo>
                  <a:lnTo>
                    <a:pt x="7955280" y="1133856"/>
                  </a:lnTo>
                  <a:lnTo>
                    <a:pt x="0" y="1133856"/>
                  </a:lnTo>
                  <a:close/>
                </a:path>
              </a:pathLst>
            </a:custGeom>
            <a:blipFill>
              <a:blip r:embed="rId2">
                <a:alphaModFix amt="0"/>
              </a:blip>
              <a:stretch>
                <a:fillRect l="0" t="-86709" r="0" b="-86709"/>
              </a:stretch>
            </a:blipFill>
          </p:spPr>
        </p:sp>
        <p:sp>
          <p:nvSpPr>
            <p:cNvPr name="TextBox 102" id="102"/>
            <p:cNvSpPr txBox="true"/>
            <p:nvPr/>
          </p:nvSpPr>
          <p:spPr>
            <a:xfrm>
              <a:off x="0" y="-19050"/>
              <a:ext cx="7955280" cy="1152906"/>
            </a:xfrm>
            <a:prstGeom prst="rect">
              <a:avLst/>
            </a:prstGeom>
          </p:spPr>
          <p:txBody>
            <a:bodyPr anchor="ctr" rtlCol="false" tIns="0" lIns="0" bIns="0" rIns="0"/>
            <a:lstStyle/>
            <a:p>
              <a:pPr algn="l">
                <a:lnSpc>
                  <a:spcPts val="2070"/>
                </a:lnSpc>
              </a:pPr>
              <a:r>
                <a:rPr lang="en-US" sz="1725" i="true">
                  <a:solidFill>
                    <a:srgbClr val="460073"/>
                  </a:solidFill>
                  <a:latin typeface="Arial Italics"/>
                  <a:ea typeface="Arial Italics"/>
                  <a:cs typeface="Arial Italics"/>
                  <a:sym typeface="Arial Italics"/>
                </a:rPr>
                <a:t>Non-completers are not performing worse when they engage. They are engaging less.</a:t>
              </a:r>
            </a:p>
          </p:txBody>
        </p:sp>
      </p:grpSp>
      <p:grpSp>
        <p:nvGrpSpPr>
          <p:cNvPr name="Group 103" id="103"/>
          <p:cNvGrpSpPr/>
          <p:nvPr/>
        </p:nvGrpSpPr>
        <p:grpSpPr>
          <a:xfrm rot="0">
            <a:off x="10424160" y="411480"/>
            <a:ext cx="5966460" cy="342900"/>
            <a:chOff x="0" y="0"/>
            <a:chExt cx="7955280" cy="457200"/>
          </a:xfrm>
        </p:grpSpPr>
        <p:sp>
          <p:nvSpPr>
            <p:cNvPr name="Freeform 104" id="104"/>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105" id="105"/>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106" id="106"/>
          <p:cNvGrpSpPr/>
          <p:nvPr/>
        </p:nvGrpSpPr>
        <p:grpSpPr>
          <a:xfrm rot="0">
            <a:off x="16486632" y="411480"/>
            <a:ext cx="205740" cy="342900"/>
            <a:chOff x="0" y="0"/>
            <a:chExt cx="274320" cy="457200"/>
          </a:xfrm>
        </p:grpSpPr>
        <p:sp>
          <p:nvSpPr>
            <p:cNvPr name="Freeform 107" id="107"/>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108" id="108"/>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109" id="109"/>
          <p:cNvGrpSpPr/>
          <p:nvPr/>
        </p:nvGrpSpPr>
        <p:grpSpPr>
          <a:xfrm rot="0">
            <a:off x="16664940" y="411480"/>
            <a:ext cx="685800" cy="342900"/>
            <a:chOff x="0" y="0"/>
            <a:chExt cx="914400" cy="457200"/>
          </a:xfrm>
        </p:grpSpPr>
        <p:sp>
          <p:nvSpPr>
            <p:cNvPr name="Freeform 110" id="110"/>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111" id="111"/>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11</a:t>
              </a:r>
            </a:p>
          </p:txBody>
        </p:sp>
      </p:grpSp>
      <p:grpSp>
        <p:nvGrpSpPr>
          <p:cNvPr name="Group 112" id="112"/>
          <p:cNvGrpSpPr/>
          <p:nvPr/>
        </p:nvGrpSpPr>
        <p:grpSpPr>
          <a:xfrm rot="0">
            <a:off x="15663672" y="9422892"/>
            <a:ext cx="1618488" cy="484175"/>
            <a:chOff x="0" y="0"/>
            <a:chExt cx="2157984" cy="645566"/>
          </a:xfrm>
        </p:grpSpPr>
        <p:sp>
          <p:nvSpPr>
            <p:cNvPr name="Freeform 113" id="113" descr="logo/logo_dark.png"/>
            <p:cNvSpPr/>
            <p:nvPr/>
          </p:nvSpPr>
          <p:spPr>
            <a:xfrm flipH="false" flipV="false" rot="0">
              <a:off x="0" y="0"/>
              <a:ext cx="2157984" cy="645541"/>
            </a:xfrm>
            <a:custGeom>
              <a:avLst/>
              <a:gdLst/>
              <a:ahLst/>
              <a:cxnLst/>
              <a:rect r="r" b="b" t="t" l="l"/>
              <a:pathLst>
                <a:path h="645541" w="2157984">
                  <a:moveTo>
                    <a:pt x="0" y="0"/>
                  </a:moveTo>
                  <a:lnTo>
                    <a:pt x="2157984" y="0"/>
                  </a:lnTo>
                  <a:lnTo>
                    <a:pt x="2157984" y="645541"/>
                  </a:lnTo>
                  <a:lnTo>
                    <a:pt x="0" y="645541"/>
                  </a:lnTo>
                  <a:lnTo>
                    <a:pt x="0" y="0"/>
                  </a:lnTo>
                  <a:close/>
                </a:path>
              </a:pathLst>
            </a:custGeom>
            <a:blipFill>
              <a:blip r:embed="rId3"/>
              <a:stretch>
                <a:fillRect l="0" t="-49" r="0" b="-51"/>
              </a:stretch>
            </a:blipFill>
          </p:spPr>
        </p:sp>
      </p:grpSp>
      <p:grpSp>
        <p:nvGrpSpPr>
          <p:cNvPr name="Group 114" id="114"/>
          <p:cNvGrpSpPr/>
          <p:nvPr/>
        </p:nvGrpSpPr>
        <p:grpSpPr>
          <a:xfrm rot="0">
            <a:off x="987552" y="9601200"/>
            <a:ext cx="8229600" cy="342900"/>
            <a:chOff x="0" y="0"/>
            <a:chExt cx="10972800" cy="457200"/>
          </a:xfrm>
        </p:grpSpPr>
        <p:sp>
          <p:nvSpPr>
            <p:cNvPr name="Freeform 115" id="115"/>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116" id="116"/>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19050"/>
              <a:ext cx="21749918" cy="1335786"/>
            </a:xfrm>
            <a:prstGeom prst="rect">
              <a:avLst/>
            </a:prstGeom>
          </p:spPr>
          <p:txBody>
            <a:bodyPr anchor="ctr" rtlCol="false" tIns="0" lIns="0" bIns="0" rIns="0"/>
            <a:lstStyle/>
            <a:p>
              <a:pPr algn="l">
                <a:lnSpc>
                  <a:spcPts val="4860"/>
                </a:lnSpc>
              </a:pPr>
              <a:r>
                <a:rPr lang="en-US" sz="4050" b="true">
                  <a:solidFill>
                    <a:srgbClr val="A100FF"/>
                  </a:solidFill>
                  <a:latin typeface="Arial Bold"/>
                  <a:ea typeface="Arial Bold"/>
                  <a:cs typeface="Arial Bold"/>
                  <a:sym typeface="Arial Bold"/>
                </a:rPr>
                <a:t>The same pattern holds across payment, progress and time</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Three independent views, all pointing at behaviour rather than circumstance.</a:t>
              </a:r>
            </a:p>
          </p:txBody>
        </p:sp>
      </p:grpSp>
      <p:pic>
        <p:nvPicPr>
          <p:cNvPr name="Picture 8" id="8"/>
          <p:cNvPicPr>
            <a:picLocks noChangeAspect="true"/>
          </p:cNvPicPr>
          <p:nvPr/>
        </p:nvPicPr>
        <p:blipFill>
          <a:blip r:embed="rId3"/>
          <a:stretch>
            <a:fillRect/>
          </a:stretch>
        </p:blipFill>
        <p:spPr>
          <a:xfrm rot="0">
            <a:off x="-466574" y="2226959"/>
            <a:ext cx="7017856" cy="5592980"/>
          </a:xfrm>
          <a:prstGeom prst="rect">
            <a:avLst/>
          </a:prstGeom>
        </p:spPr>
      </p:pic>
      <p:pic>
        <p:nvPicPr>
          <p:cNvPr name="Picture 9" id="9"/>
          <p:cNvPicPr>
            <a:picLocks noChangeAspect="true"/>
          </p:cNvPicPr>
          <p:nvPr/>
        </p:nvPicPr>
        <p:blipFill>
          <a:blip r:embed="rId4"/>
          <a:stretch>
            <a:fillRect/>
          </a:stretch>
        </p:blipFill>
        <p:spPr>
          <a:xfrm rot="0">
            <a:off x="5349262" y="2152871"/>
            <a:ext cx="8790685" cy="5814803"/>
          </a:xfrm>
          <a:prstGeom prst="rect">
            <a:avLst/>
          </a:prstGeom>
        </p:spPr>
      </p:pic>
      <p:pic>
        <p:nvPicPr>
          <p:cNvPr name="Picture 10" id="10"/>
          <p:cNvPicPr>
            <a:picLocks noChangeAspect="true"/>
          </p:cNvPicPr>
          <p:nvPr/>
        </p:nvPicPr>
        <p:blipFill>
          <a:blip r:embed="rId5"/>
          <a:stretch>
            <a:fillRect/>
          </a:stretch>
        </p:blipFill>
        <p:spPr>
          <a:xfrm rot="0">
            <a:off x="12258796" y="2195880"/>
            <a:ext cx="6095179" cy="5486281"/>
          </a:xfrm>
          <a:prstGeom prst="rect">
            <a:avLst/>
          </a:prstGeom>
        </p:spPr>
      </p:pic>
      <p:grpSp>
        <p:nvGrpSpPr>
          <p:cNvPr name="Group 11" id="11"/>
          <p:cNvGrpSpPr/>
          <p:nvPr/>
        </p:nvGrpSpPr>
        <p:grpSpPr>
          <a:xfrm rot="0">
            <a:off x="267905" y="2384573"/>
            <a:ext cx="1338343" cy="638477"/>
            <a:chOff x="0" y="0"/>
            <a:chExt cx="2376730" cy="1133856"/>
          </a:xfrm>
        </p:grpSpPr>
        <p:sp>
          <p:nvSpPr>
            <p:cNvPr name="Freeform 12" id="12"/>
            <p:cNvSpPr/>
            <p:nvPr/>
          </p:nvSpPr>
          <p:spPr>
            <a:xfrm flipH="false" flipV="false" rot="0">
              <a:off x="0" y="0"/>
              <a:ext cx="2376730" cy="1133856"/>
            </a:xfrm>
            <a:custGeom>
              <a:avLst/>
              <a:gdLst/>
              <a:ahLst/>
              <a:cxnLst/>
              <a:rect r="r" b="b" t="t" l="l"/>
              <a:pathLst>
                <a:path h="1133856" w="2376730">
                  <a:moveTo>
                    <a:pt x="0" y="0"/>
                  </a:moveTo>
                  <a:lnTo>
                    <a:pt x="2376730" y="0"/>
                  </a:lnTo>
                  <a:lnTo>
                    <a:pt x="2376730" y="1133856"/>
                  </a:lnTo>
                  <a:lnTo>
                    <a:pt x="0" y="1133856"/>
                  </a:lnTo>
                  <a:close/>
                </a:path>
              </a:pathLst>
            </a:custGeom>
            <a:solidFill>
              <a:srgbClr val="A100FF"/>
            </a:solidFill>
          </p:spPr>
        </p:sp>
      </p:grpSp>
      <p:grpSp>
        <p:nvGrpSpPr>
          <p:cNvPr name="Group 13" id="13"/>
          <p:cNvGrpSpPr/>
          <p:nvPr/>
        </p:nvGrpSpPr>
        <p:grpSpPr>
          <a:xfrm rot="0">
            <a:off x="267905" y="2384573"/>
            <a:ext cx="1338343" cy="638477"/>
            <a:chOff x="0" y="0"/>
            <a:chExt cx="2376730" cy="1133856"/>
          </a:xfrm>
        </p:grpSpPr>
        <p:sp>
          <p:nvSpPr>
            <p:cNvPr name="Freeform 14" id="14"/>
            <p:cNvSpPr/>
            <p:nvPr/>
          </p:nvSpPr>
          <p:spPr>
            <a:xfrm flipH="false" flipV="false" rot="0">
              <a:off x="0" y="0"/>
              <a:ext cx="2376730" cy="1133856"/>
            </a:xfrm>
            <a:custGeom>
              <a:avLst/>
              <a:gdLst/>
              <a:ahLst/>
              <a:cxnLst/>
              <a:rect r="r" b="b" t="t" l="l"/>
              <a:pathLst>
                <a:path h="1133856" w="2376730">
                  <a:moveTo>
                    <a:pt x="0" y="0"/>
                  </a:moveTo>
                  <a:lnTo>
                    <a:pt x="2376730" y="0"/>
                  </a:lnTo>
                  <a:lnTo>
                    <a:pt x="2376730" y="1133856"/>
                  </a:lnTo>
                  <a:lnTo>
                    <a:pt x="0" y="1133856"/>
                  </a:lnTo>
                  <a:close/>
                </a:path>
              </a:pathLst>
            </a:custGeom>
            <a:blipFill>
              <a:blip r:embed="rId2">
                <a:alphaModFix amt="0"/>
              </a:blip>
              <a:stretch>
                <a:fillRect l="-3499" t="0" r="-18918" b="0"/>
              </a:stretch>
            </a:blipFill>
          </p:spPr>
        </p:sp>
        <p:sp>
          <p:nvSpPr>
            <p:cNvPr name="TextBox 15" id="15"/>
            <p:cNvSpPr txBox="true"/>
            <p:nvPr/>
          </p:nvSpPr>
          <p:spPr>
            <a:xfrm>
              <a:off x="0" y="-9525"/>
              <a:ext cx="2376730" cy="1143381"/>
            </a:xfrm>
            <a:prstGeom prst="rect">
              <a:avLst/>
            </a:prstGeom>
          </p:spPr>
          <p:txBody>
            <a:bodyPr anchor="ctr" rtlCol="false" tIns="0" lIns="0" bIns="0" rIns="0"/>
            <a:lstStyle/>
            <a:p>
              <a:pPr algn="ctr">
                <a:lnSpc>
                  <a:spcPts val="2879"/>
                </a:lnSpc>
              </a:pPr>
              <a:r>
                <a:rPr lang="en-US" sz="2400" b="true">
                  <a:solidFill>
                    <a:srgbClr val="FFFFFF"/>
                  </a:solidFill>
                  <a:latin typeface="Arial Bold"/>
                  <a:ea typeface="Arial Bold"/>
                  <a:cs typeface="Arial Bold"/>
                  <a:sym typeface="Arial Bold"/>
                </a:rPr>
                <a:t>9.9 pts</a:t>
              </a:r>
            </a:p>
          </p:txBody>
        </p:sp>
      </p:grpSp>
      <p:grpSp>
        <p:nvGrpSpPr>
          <p:cNvPr name="Group 16" id="16"/>
          <p:cNvGrpSpPr/>
          <p:nvPr/>
        </p:nvGrpSpPr>
        <p:grpSpPr>
          <a:xfrm rot="0">
            <a:off x="480060" y="7955280"/>
            <a:ext cx="5486400" cy="713232"/>
            <a:chOff x="0" y="0"/>
            <a:chExt cx="7315200" cy="950976"/>
          </a:xfrm>
        </p:grpSpPr>
        <p:sp>
          <p:nvSpPr>
            <p:cNvPr name="Freeform 17" id="17"/>
            <p:cNvSpPr/>
            <p:nvPr/>
          </p:nvSpPr>
          <p:spPr>
            <a:xfrm flipH="false" flipV="false" rot="0">
              <a:off x="0" y="0"/>
              <a:ext cx="7315200" cy="950976"/>
            </a:xfrm>
            <a:custGeom>
              <a:avLst/>
              <a:gdLst/>
              <a:ahLst/>
              <a:cxnLst/>
              <a:rect r="r" b="b" t="t" l="l"/>
              <a:pathLst>
                <a:path h="950976" w="7315200">
                  <a:moveTo>
                    <a:pt x="0" y="0"/>
                  </a:moveTo>
                  <a:lnTo>
                    <a:pt x="7315200" y="0"/>
                  </a:lnTo>
                  <a:lnTo>
                    <a:pt x="7315200" y="950976"/>
                  </a:lnTo>
                  <a:lnTo>
                    <a:pt x="0" y="950976"/>
                  </a:lnTo>
                  <a:close/>
                </a:path>
              </a:pathLst>
            </a:custGeom>
            <a:blipFill>
              <a:blip r:embed="rId2">
                <a:alphaModFix amt="0"/>
              </a:blip>
              <a:stretch>
                <a:fillRect l="0" t="-99884" r="0" b="-99884"/>
              </a:stretch>
            </a:blipFill>
          </p:spPr>
        </p:sp>
        <p:sp>
          <p:nvSpPr>
            <p:cNvPr name="TextBox 18" id="18"/>
            <p:cNvSpPr txBox="true"/>
            <p:nvPr/>
          </p:nvSpPr>
          <p:spPr>
            <a:xfrm>
              <a:off x="0" y="-19050"/>
              <a:ext cx="7315200" cy="970026"/>
            </a:xfrm>
            <a:prstGeom prst="rect">
              <a:avLst/>
            </a:prstGeom>
          </p:spPr>
          <p:txBody>
            <a:bodyPr anchor="ctr" rtlCol="false" tIns="0" lIns="0" bIns="0" rIns="0"/>
            <a:lstStyle/>
            <a:p>
              <a:pPr algn="l">
                <a:lnSpc>
                  <a:spcPts val="2070"/>
                </a:lnSpc>
              </a:pPr>
              <a:r>
                <a:rPr lang="en-US" sz="1725" b="true">
                  <a:solidFill>
                    <a:srgbClr val="460073"/>
                  </a:solidFill>
                  <a:latin typeface="Arial Bold"/>
                  <a:ea typeface="Arial Bold"/>
                  <a:cs typeface="Arial Bold"/>
                  <a:sym typeface="Arial Bold"/>
                </a:rPr>
                <a:t>Free enrollments complete 9.9 points below every paid mode</a:t>
              </a:r>
            </a:p>
          </p:txBody>
        </p:sp>
      </p:grpSp>
      <p:grpSp>
        <p:nvGrpSpPr>
          <p:cNvPr name="Group 19" id="19"/>
          <p:cNvGrpSpPr/>
          <p:nvPr/>
        </p:nvGrpSpPr>
        <p:grpSpPr>
          <a:xfrm rot="0">
            <a:off x="480060" y="8695944"/>
            <a:ext cx="5486400" cy="850392"/>
            <a:chOff x="0" y="0"/>
            <a:chExt cx="7315200" cy="1133856"/>
          </a:xfrm>
        </p:grpSpPr>
        <p:sp>
          <p:nvSpPr>
            <p:cNvPr name="Freeform 20" id="20"/>
            <p:cNvSpPr/>
            <p:nvPr/>
          </p:nvSpPr>
          <p:spPr>
            <a:xfrm flipH="false" flipV="false" rot="0">
              <a:off x="0" y="0"/>
              <a:ext cx="7315200" cy="1133856"/>
            </a:xfrm>
            <a:custGeom>
              <a:avLst/>
              <a:gdLst/>
              <a:ahLst/>
              <a:cxnLst/>
              <a:rect r="r" b="b" t="t" l="l"/>
              <a:pathLst>
                <a:path h="1133856" w="7315200">
                  <a:moveTo>
                    <a:pt x="0" y="0"/>
                  </a:moveTo>
                  <a:lnTo>
                    <a:pt x="7315200" y="0"/>
                  </a:lnTo>
                  <a:lnTo>
                    <a:pt x="7315200" y="1133856"/>
                  </a:lnTo>
                  <a:lnTo>
                    <a:pt x="0" y="1133856"/>
                  </a:lnTo>
                  <a:close/>
                </a:path>
              </a:pathLst>
            </a:custGeom>
            <a:blipFill>
              <a:blip r:embed="rId2">
                <a:alphaModFix amt="0"/>
              </a:blip>
              <a:stretch>
                <a:fillRect l="0" t="-75709" r="0" b="-75709"/>
              </a:stretch>
            </a:blipFill>
          </p:spPr>
        </p:sp>
        <p:sp>
          <p:nvSpPr>
            <p:cNvPr name="TextBox 21" id="21"/>
            <p:cNvSpPr txBox="true"/>
            <p:nvPr/>
          </p:nvSpPr>
          <p:spPr>
            <a:xfrm>
              <a:off x="0" y="-9525"/>
              <a:ext cx="7315200" cy="1143381"/>
            </a:xfrm>
            <a:prstGeom prst="rect">
              <a:avLst/>
            </a:prstGeom>
          </p:spPr>
          <p:txBody>
            <a:bodyPr anchor="ctr" rtlCol="false" tIns="0" lIns="0" bIns="0" rIns="0"/>
            <a:lstStyle/>
            <a:p>
              <a:pPr algn="l">
                <a:lnSpc>
                  <a:spcPts val="1889"/>
                </a:lnSpc>
              </a:pPr>
              <a:r>
                <a:rPr lang="en-US" sz="1575">
                  <a:solidFill>
                    <a:srgbClr val="585858"/>
                  </a:solidFill>
                  <a:latin typeface="Arial"/>
                  <a:ea typeface="Arial"/>
                  <a:cs typeface="Arial"/>
                  <a:sym typeface="Arial"/>
                </a:rPr>
                <a:t>41.1% against 51-52%, with Scholarship between at 45.4%. Financial commitment tracks follow-through.</a:t>
              </a:r>
            </a:p>
          </p:txBody>
        </p:sp>
      </p:grpSp>
      <p:grpSp>
        <p:nvGrpSpPr>
          <p:cNvPr name="Group 22" id="22"/>
          <p:cNvGrpSpPr/>
          <p:nvPr/>
        </p:nvGrpSpPr>
        <p:grpSpPr>
          <a:xfrm rot="0">
            <a:off x="6521623" y="7955280"/>
            <a:ext cx="5486400" cy="713232"/>
            <a:chOff x="0" y="0"/>
            <a:chExt cx="7315200" cy="950976"/>
          </a:xfrm>
        </p:grpSpPr>
        <p:sp>
          <p:nvSpPr>
            <p:cNvPr name="Freeform 23" id="23"/>
            <p:cNvSpPr/>
            <p:nvPr/>
          </p:nvSpPr>
          <p:spPr>
            <a:xfrm flipH="false" flipV="false" rot="0">
              <a:off x="0" y="0"/>
              <a:ext cx="7315200" cy="950976"/>
            </a:xfrm>
            <a:custGeom>
              <a:avLst/>
              <a:gdLst/>
              <a:ahLst/>
              <a:cxnLst/>
              <a:rect r="r" b="b" t="t" l="l"/>
              <a:pathLst>
                <a:path h="950976" w="7315200">
                  <a:moveTo>
                    <a:pt x="0" y="0"/>
                  </a:moveTo>
                  <a:lnTo>
                    <a:pt x="7315200" y="0"/>
                  </a:lnTo>
                  <a:lnTo>
                    <a:pt x="7315200" y="950976"/>
                  </a:lnTo>
                  <a:lnTo>
                    <a:pt x="0" y="950976"/>
                  </a:lnTo>
                  <a:close/>
                </a:path>
              </a:pathLst>
            </a:custGeom>
            <a:blipFill>
              <a:blip r:embed="rId2">
                <a:alphaModFix amt="0"/>
              </a:blip>
              <a:stretch>
                <a:fillRect l="0" t="-99884" r="0" b="-99884"/>
              </a:stretch>
            </a:blipFill>
          </p:spPr>
        </p:sp>
        <p:sp>
          <p:nvSpPr>
            <p:cNvPr name="TextBox 24" id="24"/>
            <p:cNvSpPr txBox="true"/>
            <p:nvPr/>
          </p:nvSpPr>
          <p:spPr>
            <a:xfrm>
              <a:off x="0" y="-19050"/>
              <a:ext cx="7315200" cy="970026"/>
            </a:xfrm>
            <a:prstGeom prst="rect">
              <a:avLst/>
            </a:prstGeom>
          </p:spPr>
          <p:txBody>
            <a:bodyPr anchor="ctr" rtlCol="false" tIns="0" lIns="0" bIns="0" rIns="0"/>
            <a:lstStyle/>
            <a:p>
              <a:pPr algn="l">
                <a:lnSpc>
                  <a:spcPts val="2070"/>
                </a:lnSpc>
              </a:pPr>
              <a:r>
                <a:rPr lang="en-US" sz="1725" b="true">
                  <a:solidFill>
                    <a:srgbClr val="460073"/>
                  </a:solidFill>
                  <a:latin typeface="Arial Bold"/>
                  <a:ea typeface="Arial Bold"/>
                  <a:cs typeface="Arial Bold"/>
                  <a:sym typeface="Arial Bold"/>
                </a:rPr>
                <a:t>Progress percentage is the strongest single field - and still weak</a:t>
              </a:r>
            </a:p>
          </p:txBody>
        </p:sp>
      </p:grpSp>
      <p:grpSp>
        <p:nvGrpSpPr>
          <p:cNvPr name="Group 25" id="25"/>
          <p:cNvGrpSpPr/>
          <p:nvPr/>
        </p:nvGrpSpPr>
        <p:grpSpPr>
          <a:xfrm rot="0">
            <a:off x="6521623" y="8695944"/>
            <a:ext cx="5486400" cy="850392"/>
            <a:chOff x="0" y="0"/>
            <a:chExt cx="7315200" cy="1133856"/>
          </a:xfrm>
        </p:grpSpPr>
        <p:sp>
          <p:nvSpPr>
            <p:cNvPr name="Freeform 26" id="26"/>
            <p:cNvSpPr/>
            <p:nvPr/>
          </p:nvSpPr>
          <p:spPr>
            <a:xfrm flipH="false" flipV="false" rot="0">
              <a:off x="0" y="0"/>
              <a:ext cx="7315200" cy="1133856"/>
            </a:xfrm>
            <a:custGeom>
              <a:avLst/>
              <a:gdLst/>
              <a:ahLst/>
              <a:cxnLst/>
              <a:rect r="r" b="b" t="t" l="l"/>
              <a:pathLst>
                <a:path h="1133856" w="7315200">
                  <a:moveTo>
                    <a:pt x="0" y="0"/>
                  </a:moveTo>
                  <a:lnTo>
                    <a:pt x="7315200" y="0"/>
                  </a:lnTo>
                  <a:lnTo>
                    <a:pt x="7315200" y="1133856"/>
                  </a:lnTo>
                  <a:lnTo>
                    <a:pt x="0" y="1133856"/>
                  </a:lnTo>
                  <a:close/>
                </a:path>
              </a:pathLst>
            </a:custGeom>
            <a:blipFill>
              <a:blip r:embed="rId2">
                <a:alphaModFix amt="0"/>
              </a:blip>
              <a:stretch>
                <a:fillRect l="0" t="-75709" r="0" b="-75709"/>
              </a:stretch>
            </a:blipFill>
          </p:spPr>
        </p:sp>
        <p:sp>
          <p:nvSpPr>
            <p:cNvPr name="TextBox 27" id="27"/>
            <p:cNvSpPr txBox="true"/>
            <p:nvPr/>
          </p:nvSpPr>
          <p:spPr>
            <a:xfrm>
              <a:off x="0" y="-9525"/>
              <a:ext cx="7315200" cy="1143381"/>
            </a:xfrm>
            <a:prstGeom prst="rect">
              <a:avLst/>
            </a:prstGeom>
          </p:spPr>
          <p:txBody>
            <a:bodyPr anchor="ctr" rtlCol="false" tIns="0" lIns="0" bIns="0" rIns="0"/>
            <a:lstStyle/>
            <a:p>
              <a:pPr algn="l">
                <a:lnSpc>
                  <a:spcPts val="1889"/>
                </a:lnSpc>
              </a:pPr>
              <a:r>
                <a:rPr lang="en-US" sz="1575">
                  <a:solidFill>
                    <a:srgbClr val="585858"/>
                  </a:solidFill>
                  <a:latin typeface="Arial"/>
                  <a:ea typeface="Arial"/>
                  <a:cs typeface="Arial"/>
                  <a:sym typeface="Arial"/>
                </a:rPr>
                <a:t>0.21 correlation, with video completion and engagement score immediately behind it.</a:t>
              </a:r>
            </a:p>
          </p:txBody>
        </p:sp>
      </p:grpSp>
      <p:grpSp>
        <p:nvGrpSpPr>
          <p:cNvPr name="Group 28" id="28"/>
          <p:cNvGrpSpPr/>
          <p:nvPr/>
        </p:nvGrpSpPr>
        <p:grpSpPr>
          <a:xfrm rot="0">
            <a:off x="12563186" y="7900416"/>
            <a:ext cx="5486400" cy="713232"/>
            <a:chOff x="0" y="0"/>
            <a:chExt cx="7315200" cy="950976"/>
          </a:xfrm>
        </p:grpSpPr>
        <p:sp>
          <p:nvSpPr>
            <p:cNvPr name="Freeform 29" id="29"/>
            <p:cNvSpPr/>
            <p:nvPr/>
          </p:nvSpPr>
          <p:spPr>
            <a:xfrm flipH="false" flipV="false" rot="0">
              <a:off x="0" y="0"/>
              <a:ext cx="7315200" cy="950976"/>
            </a:xfrm>
            <a:custGeom>
              <a:avLst/>
              <a:gdLst/>
              <a:ahLst/>
              <a:cxnLst/>
              <a:rect r="r" b="b" t="t" l="l"/>
              <a:pathLst>
                <a:path h="950976" w="7315200">
                  <a:moveTo>
                    <a:pt x="0" y="0"/>
                  </a:moveTo>
                  <a:lnTo>
                    <a:pt x="7315200" y="0"/>
                  </a:lnTo>
                  <a:lnTo>
                    <a:pt x="7315200" y="950976"/>
                  </a:lnTo>
                  <a:lnTo>
                    <a:pt x="0" y="950976"/>
                  </a:lnTo>
                  <a:close/>
                </a:path>
              </a:pathLst>
            </a:custGeom>
            <a:blipFill>
              <a:blip r:embed="rId2">
                <a:alphaModFix amt="0"/>
              </a:blip>
              <a:stretch>
                <a:fillRect l="0" t="-99884" r="0" b="-99884"/>
              </a:stretch>
            </a:blipFill>
          </p:spPr>
        </p:sp>
        <p:sp>
          <p:nvSpPr>
            <p:cNvPr name="TextBox 30" id="30"/>
            <p:cNvSpPr txBox="true"/>
            <p:nvPr/>
          </p:nvSpPr>
          <p:spPr>
            <a:xfrm>
              <a:off x="0" y="-19050"/>
              <a:ext cx="7315200" cy="970026"/>
            </a:xfrm>
            <a:prstGeom prst="rect">
              <a:avLst/>
            </a:prstGeom>
          </p:spPr>
          <p:txBody>
            <a:bodyPr anchor="ctr" rtlCol="false" tIns="0" lIns="0" bIns="0" rIns="0"/>
            <a:lstStyle/>
            <a:p>
              <a:pPr algn="l">
                <a:lnSpc>
                  <a:spcPts val="2070"/>
                </a:lnSpc>
              </a:pPr>
              <a:r>
                <a:rPr lang="en-US" sz="1725" b="true">
                  <a:solidFill>
                    <a:srgbClr val="460073"/>
                  </a:solidFill>
                  <a:latin typeface="Arial Bold"/>
                  <a:ea typeface="Arial Bold"/>
                  <a:cs typeface="Arial Bold"/>
                  <a:sym typeface="Arial Bold"/>
                </a:rPr>
                <a:t>Completion is flat over two years</a:t>
              </a:r>
            </a:p>
          </p:txBody>
        </p:sp>
      </p:grpSp>
      <p:grpSp>
        <p:nvGrpSpPr>
          <p:cNvPr name="Group 31" id="31"/>
          <p:cNvGrpSpPr/>
          <p:nvPr/>
        </p:nvGrpSpPr>
        <p:grpSpPr>
          <a:xfrm rot="0">
            <a:off x="12563186" y="8641080"/>
            <a:ext cx="5486400" cy="850392"/>
            <a:chOff x="0" y="0"/>
            <a:chExt cx="7315200" cy="1133856"/>
          </a:xfrm>
        </p:grpSpPr>
        <p:sp>
          <p:nvSpPr>
            <p:cNvPr name="Freeform 32" id="32"/>
            <p:cNvSpPr/>
            <p:nvPr/>
          </p:nvSpPr>
          <p:spPr>
            <a:xfrm flipH="false" flipV="false" rot="0">
              <a:off x="0" y="0"/>
              <a:ext cx="7315200" cy="1133856"/>
            </a:xfrm>
            <a:custGeom>
              <a:avLst/>
              <a:gdLst/>
              <a:ahLst/>
              <a:cxnLst/>
              <a:rect r="r" b="b" t="t" l="l"/>
              <a:pathLst>
                <a:path h="1133856" w="7315200">
                  <a:moveTo>
                    <a:pt x="0" y="0"/>
                  </a:moveTo>
                  <a:lnTo>
                    <a:pt x="7315200" y="0"/>
                  </a:lnTo>
                  <a:lnTo>
                    <a:pt x="7315200" y="1133856"/>
                  </a:lnTo>
                  <a:lnTo>
                    <a:pt x="0" y="1133856"/>
                  </a:lnTo>
                  <a:close/>
                </a:path>
              </a:pathLst>
            </a:custGeom>
            <a:blipFill>
              <a:blip r:embed="rId2">
                <a:alphaModFix amt="0"/>
              </a:blip>
              <a:stretch>
                <a:fillRect l="0" t="-75709" r="0" b="-75709"/>
              </a:stretch>
            </a:blipFill>
          </p:spPr>
        </p:sp>
        <p:sp>
          <p:nvSpPr>
            <p:cNvPr name="TextBox 33" id="33"/>
            <p:cNvSpPr txBox="true"/>
            <p:nvPr/>
          </p:nvSpPr>
          <p:spPr>
            <a:xfrm>
              <a:off x="0" y="-9525"/>
              <a:ext cx="7315200" cy="1143381"/>
            </a:xfrm>
            <a:prstGeom prst="rect">
              <a:avLst/>
            </a:prstGeom>
          </p:spPr>
          <p:txBody>
            <a:bodyPr anchor="ctr" rtlCol="false" tIns="0" lIns="0" bIns="0" rIns="0"/>
            <a:lstStyle/>
            <a:p>
              <a:pPr algn="l">
                <a:lnSpc>
                  <a:spcPts val="1889"/>
                </a:lnSpc>
              </a:pPr>
              <a:r>
                <a:rPr lang="en-US" sz="1575">
                  <a:solidFill>
                    <a:srgbClr val="585858"/>
                  </a:solidFill>
                  <a:latin typeface="Arial"/>
                  <a:ea typeface="Arial"/>
                  <a:cs typeface="Arial"/>
                  <a:sym typeface="Arial"/>
                </a:rPr>
                <a:t>Between 48.4% and 49.7% every quarter. This is structural, not a recent decline.</a:t>
              </a:r>
            </a:p>
          </p:txBody>
        </p:sp>
      </p:grpSp>
      <p:grpSp>
        <p:nvGrpSpPr>
          <p:cNvPr name="Group 34" id="34"/>
          <p:cNvGrpSpPr/>
          <p:nvPr/>
        </p:nvGrpSpPr>
        <p:grpSpPr>
          <a:xfrm rot="0">
            <a:off x="10424160" y="411480"/>
            <a:ext cx="5966460" cy="342900"/>
            <a:chOff x="0" y="0"/>
            <a:chExt cx="7955280" cy="457200"/>
          </a:xfrm>
        </p:grpSpPr>
        <p:sp>
          <p:nvSpPr>
            <p:cNvPr name="Freeform 35" id="35"/>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36" id="36"/>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37" id="37"/>
          <p:cNvGrpSpPr/>
          <p:nvPr/>
        </p:nvGrpSpPr>
        <p:grpSpPr>
          <a:xfrm rot="0">
            <a:off x="16486632" y="411480"/>
            <a:ext cx="205740" cy="342900"/>
            <a:chOff x="0" y="0"/>
            <a:chExt cx="274320" cy="457200"/>
          </a:xfrm>
        </p:grpSpPr>
        <p:sp>
          <p:nvSpPr>
            <p:cNvPr name="Freeform 38" id="38"/>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39" id="39"/>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40" id="40"/>
          <p:cNvGrpSpPr/>
          <p:nvPr/>
        </p:nvGrpSpPr>
        <p:grpSpPr>
          <a:xfrm rot="0">
            <a:off x="16664940" y="411480"/>
            <a:ext cx="685800" cy="342900"/>
            <a:chOff x="0" y="0"/>
            <a:chExt cx="914400" cy="457200"/>
          </a:xfrm>
        </p:grpSpPr>
        <p:sp>
          <p:nvSpPr>
            <p:cNvPr name="Freeform 41" id="41"/>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42" id="42"/>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12</a:t>
              </a:r>
            </a:p>
          </p:txBody>
        </p:sp>
      </p:grpSp>
      <p:grpSp>
        <p:nvGrpSpPr>
          <p:cNvPr name="Group 43" id="43"/>
          <p:cNvGrpSpPr/>
          <p:nvPr/>
        </p:nvGrpSpPr>
        <p:grpSpPr>
          <a:xfrm rot="0">
            <a:off x="15663672" y="9422892"/>
            <a:ext cx="1618488" cy="484175"/>
            <a:chOff x="0" y="0"/>
            <a:chExt cx="2157984" cy="645566"/>
          </a:xfrm>
        </p:grpSpPr>
        <p:sp>
          <p:nvSpPr>
            <p:cNvPr name="Freeform 44" id="44" descr="logo/logo_dark.png"/>
            <p:cNvSpPr/>
            <p:nvPr/>
          </p:nvSpPr>
          <p:spPr>
            <a:xfrm flipH="false" flipV="false" rot="0">
              <a:off x="0" y="0"/>
              <a:ext cx="2157984" cy="645541"/>
            </a:xfrm>
            <a:custGeom>
              <a:avLst/>
              <a:gdLst/>
              <a:ahLst/>
              <a:cxnLst/>
              <a:rect r="r" b="b" t="t" l="l"/>
              <a:pathLst>
                <a:path h="645541" w="2157984">
                  <a:moveTo>
                    <a:pt x="0" y="0"/>
                  </a:moveTo>
                  <a:lnTo>
                    <a:pt x="2157984" y="0"/>
                  </a:lnTo>
                  <a:lnTo>
                    <a:pt x="2157984" y="645541"/>
                  </a:lnTo>
                  <a:lnTo>
                    <a:pt x="0" y="645541"/>
                  </a:lnTo>
                  <a:lnTo>
                    <a:pt x="0" y="0"/>
                  </a:lnTo>
                  <a:close/>
                </a:path>
              </a:pathLst>
            </a:custGeom>
            <a:blipFill>
              <a:blip r:embed="rId6"/>
              <a:stretch>
                <a:fillRect l="0" t="-49" r="0" b="-51"/>
              </a:stretch>
            </a:blipFill>
          </p:spPr>
        </p:sp>
      </p:grpSp>
      <p:grpSp>
        <p:nvGrpSpPr>
          <p:cNvPr name="Group 45" id="45"/>
          <p:cNvGrpSpPr/>
          <p:nvPr/>
        </p:nvGrpSpPr>
        <p:grpSpPr>
          <a:xfrm rot="0">
            <a:off x="987552" y="9601200"/>
            <a:ext cx="8229600" cy="342900"/>
            <a:chOff x="0" y="0"/>
            <a:chExt cx="10972800" cy="457200"/>
          </a:xfrm>
        </p:grpSpPr>
        <p:sp>
          <p:nvSpPr>
            <p:cNvPr name="Freeform 46" id="46"/>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47" id="47"/>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Six findings, six funded actions</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Ranked by size of gap and by how directly the platform can act.</a:t>
              </a:r>
            </a:p>
          </p:txBody>
        </p:sp>
      </p:grpSp>
      <p:graphicFrame>
        <p:nvGraphicFramePr>
          <p:cNvPr name="Table 8" id="8"/>
          <p:cNvGraphicFramePr>
            <a:graphicFrameLocks noGrp="true"/>
          </p:cNvGraphicFramePr>
          <p:nvPr/>
        </p:nvGraphicFramePr>
        <p:xfrm>
          <a:off x="987552" y="2674620"/>
          <a:ext cx="16306800" cy="5334000"/>
        </p:xfrm>
        <a:graphic>
          <a:graphicData uri="http://schemas.openxmlformats.org/drawingml/2006/table">
            <a:tbl>
              <a:tblPr/>
              <a:tblGrid>
                <a:gridCol w="1055944"/>
                <a:gridCol w="4450052"/>
                <a:gridCol w="6282870"/>
                <a:gridCol w="4517934"/>
              </a:tblGrid>
              <a:tr h="762000">
                <a:tc>
                  <a:txBody>
                    <a:bodyPr anchor="t" rtlCol="false"/>
                    <a:lstStyle/>
                    <a:p>
                      <a:pPr algn="l">
                        <a:lnSpc>
                          <a:spcPts val="1679"/>
                        </a:lnSpc>
                        <a:defRPr/>
                      </a:pP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460073"/>
                    </a:solidFill>
                  </a:tcPr>
                </a:tc>
                <a:tc>
                  <a:txBody>
                    <a:bodyPr anchor="t" rtlCol="false"/>
                    <a:lstStyle/>
                    <a:p>
                      <a:pPr algn="l">
                        <a:lnSpc>
                          <a:spcPts val="1980"/>
                        </a:lnSpc>
                        <a:defRPr/>
                      </a:pPr>
                      <a:r>
                        <a:rPr lang="en-US" sz="1650" b="true">
                          <a:solidFill>
                            <a:srgbClr val="FFFFFF"/>
                          </a:solidFill>
                          <a:latin typeface="Arial Bold"/>
                          <a:ea typeface="Arial Bold"/>
                          <a:cs typeface="Arial Bold"/>
                          <a:sym typeface="Arial Bold"/>
                        </a:rPr>
                        <a:t>Observation</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460073"/>
                    </a:solidFill>
                  </a:tcPr>
                </a:tc>
                <a:tc>
                  <a:txBody>
                    <a:bodyPr anchor="t" rtlCol="false"/>
                    <a:lstStyle/>
                    <a:p>
                      <a:pPr algn="l">
                        <a:lnSpc>
                          <a:spcPts val="1980"/>
                        </a:lnSpc>
                        <a:defRPr/>
                      </a:pPr>
                      <a:r>
                        <a:rPr lang="en-US" sz="1650" b="true">
                          <a:solidFill>
                            <a:srgbClr val="FFFFFF"/>
                          </a:solidFill>
                          <a:latin typeface="Arial Bold"/>
                          <a:ea typeface="Arial Bold"/>
                          <a:cs typeface="Arial Bold"/>
                          <a:sym typeface="Arial Bold"/>
                        </a:rPr>
                        <a:t>Recommendation</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460073"/>
                    </a:solidFill>
                  </a:tcPr>
                </a:tc>
                <a:tc>
                  <a:txBody>
                    <a:bodyPr anchor="t" rtlCol="false"/>
                    <a:lstStyle/>
                    <a:p>
                      <a:pPr algn="l">
                        <a:lnSpc>
                          <a:spcPts val="1980"/>
                        </a:lnSpc>
                        <a:defRPr/>
                      </a:pPr>
                      <a:r>
                        <a:rPr lang="en-US" sz="1650" b="true">
                          <a:solidFill>
                            <a:srgbClr val="FFFFFF"/>
                          </a:solidFill>
                          <a:latin typeface="Arial Bold"/>
                          <a:ea typeface="Arial Bold"/>
                          <a:cs typeface="Arial Bold"/>
                          <a:sym typeface="Arial Bold"/>
                        </a:rPr>
                        <a:t>Expected benefit</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460073"/>
                    </a:solidFill>
                  </a:tcPr>
                </a:tc>
              </a:tr>
              <a:tr h="762000">
                <a:tc>
                  <a:txBody>
                    <a:bodyPr anchor="t" rtlCol="false"/>
                    <a:lstStyle/>
                    <a:p>
                      <a:pPr algn="ctr">
                        <a:lnSpc>
                          <a:spcPts val="1800"/>
                        </a:lnSpc>
                        <a:defRPr/>
                      </a:pPr>
                      <a:r>
                        <a:rPr lang="en-US" sz="1500" b="true">
                          <a:solidFill>
                            <a:srgbClr val="FFFFFF"/>
                          </a:solidFill>
                          <a:latin typeface="Arial Bold"/>
                          <a:ea typeface="Arial Bold"/>
                          <a:cs typeface="Arial Bold"/>
                          <a:sym typeface="Arial Bold"/>
                        </a:rPr>
                        <a:t>HIGH</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100FF"/>
                    </a:solidFill>
                  </a:tcPr>
                </a:tc>
                <a:tc>
                  <a:txBody>
                    <a:bodyPr anchor="t" rtlCol="false"/>
                    <a:lstStyle/>
                    <a:p>
                      <a:pPr algn="l">
                        <a:lnSpc>
                          <a:spcPts val="1800"/>
                        </a:lnSpc>
                        <a:defRPr/>
                      </a:pPr>
                      <a:r>
                        <a:rPr lang="en-US" sz="1500">
                          <a:solidFill>
                            <a:srgbClr val="000000"/>
                          </a:solidFill>
                          <a:latin typeface="Arial"/>
                          <a:ea typeface="Arial"/>
                          <a:cs typeface="Arial"/>
                          <a:sym typeface="Arial"/>
                        </a:rPr>
                        <a:t>Low tier completes 18.4 pts below High tier</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Early-warning flag on engagement_score; trigger outreach on entry to the Low tier</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b="true">
                          <a:solidFill>
                            <a:srgbClr val="A100FF"/>
                          </a:solidFill>
                          <a:latin typeface="Arial Bold"/>
                          <a:ea typeface="Arial Bold"/>
                          <a:cs typeface="Arial Bold"/>
                          <a:sym typeface="Arial Bold"/>
                        </a:rPr>
                        <a:t>+3.1 pts overall completion, ~3,070 learners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762000">
                <a:tc>
                  <a:txBody>
                    <a:bodyPr anchor="t" rtlCol="false"/>
                    <a:lstStyle/>
                    <a:p>
                      <a:pPr algn="ctr">
                        <a:lnSpc>
                          <a:spcPts val="1800"/>
                        </a:lnSpc>
                        <a:defRPr/>
                      </a:pPr>
                      <a:r>
                        <a:rPr lang="en-US" sz="1500" b="true">
                          <a:solidFill>
                            <a:srgbClr val="FFFFFF"/>
                          </a:solidFill>
                          <a:latin typeface="Arial Bold"/>
                          <a:ea typeface="Arial Bold"/>
                          <a:cs typeface="Arial Bold"/>
                          <a:sym typeface="Arial Bold"/>
                        </a:rPr>
                        <a:t>HIGH</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100FF"/>
                    </a:solidFill>
                  </a:tcPr>
                </a:tc>
                <a:tc>
                  <a:txBody>
                    <a:bodyPr anchor="t" rtlCol="false"/>
                    <a:lstStyle/>
                    <a:p>
                      <a:pPr algn="l">
                        <a:lnSpc>
                          <a:spcPts val="1800"/>
                        </a:lnSpc>
                        <a:defRPr/>
                      </a:pPr>
                      <a:r>
                        <a:rPr lang="en-US" sz="1500">
                          <a:solidFill>
                            <a:srgbClr val="000000"/>
                          </a:solidFill>
                          <a:latin typeface="Arial"/>
                          <a:ea typeface="Arial"/>
                          <a:cs typeface="Arial"/>
                          <a:sym typeface="Arial"/>
                        </a:rPr>
                        <a:t>Free completes at 41.1% vs 51-52% paid</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Milestone-based progress nudges targeted at Free-tier learners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Narrows the largest payment-related gap, 9.9 pts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762000">
                <a:tc>
                  <a:txBody>
                    <a:bodyPr anchor="t" rtlCol="false"/>
                    <a:lstStyle/>
                    <a:p>
                      <a:pPr algn="ctr">
                        <a:lnSpc>
                          <a:spcPts val="1800"/>
                        </a:lnSpc>
                        <a:defRPr/>
                      </a:pPr>
                      <a:r>
                        <a:rPr lang="en-US" sz="1500" b="true">
                          <a:solidFill>
                            <a:srgbClr val="FFFFFF"/>
                          </a:solidFill>
                          <a:latin typeface="Arial Bold"/>
                          <a:ea typeface="Arial Bold"/>
                          <a:cs typeface="Arial Bold"/>
                          <a:sym typeface="Arial Bold"/>
                        </a:rPr>
                        <a:t>HIGH</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100FF"/>
                    </a:solidFill>
                  </a:tcPr>
                </a:tc>
                <a:tc>
                  <a:txBody>
                    <a:bodyPr anchor="t" rtlCol="false"/>
                    <a:lstStyle/>
                    <a:p>
                      <a:pPr algn="l">
                        <a:lnSpc>
                          <a:spcPts val="1800"/>
                        </a:lnSpc>
                        <a:defRPr/>
                      </a:pPr>
                      <a:r>
                        <a:rPr lang="en-US" sz="1500">
                          <a:solidFill>
                            <a:srgbClr val="000000"/>
                          </a:solidFill>
                          <a:latin typeface="Arial"/>
                          <a:ea typeface="Arial"/>
                          <a:cs typeface="Arial"/>
                          <a:sym typeface="Arial"/>
                        </a:rPr>
                        <a:t>Progress% correlates 0.21; 29.3% of completers logged under 50%</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Replace progress-percentage at-risk dashboards with engagement_score and Video_Completion_Rate</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More accurate flagging, fewer missed interventions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762000">
                <a:tc>
                  <a:txBody>
                    <a:bodyPr anchor="t" rtlCol="false"/>
                    <a:lstStyle/>
                    <a:p>
                      <a:pPr algn="ctr">
                        <a:lnSpc>
                          <a:spcPts val="1800"/>
                        </a:lnSpc>
                        <a:defRPr/>
                      </a:pPr>
                      <a:r>
                        <a:rPr lang="en-US" sz="1500" b="true">
                          <a:solidFill>
                            <a:srgbClr val="FFFFFF"/>
                          </a:solidFill>
                          <a:latin typeface="Arial Bold"/>
                          <a:ea typeface="Arial Bold"/>
                          <a:cs typeface="Arial Bold"/>
                          <a:sym typeface="Arial Bold"/>
                        </a:rPr>
                        <a:t>MED</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7500C0"/>
                    </a:solidFill>
                  </a:tcPr>
                </a:tc>
                <a:tc>
                  <a:txBody>
                    <a:bodyPr anchor="t" rtlCol="false"/>
                    <a:lstStyle/>
                    <a:p>
                      <a:pPr algn="l">
                        <a:lnSpc>
                          <a:spcPts val="1800"/>
                        </a:lnSpc>
                        <a:defRPr/>
                      </a:pPr>
                      <a:r>
                        <a:rPr lang="en-US" sz="1500">
                          <a:solidFill>
                            <a:srgbClr val="000000"/>
                          </a:solidFill>
                          <a:latin typeface="Arial"/>
                          <a:ea typeface="Arial"/>
                          <a:cs typeface="Arial"/>
                          <a:sym typeface="Arial"/>
                        </a:rPr>
                        <a:t>Completers spend ~45% more time; scores nearly identical</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Watch-time reminders and streaks rather than academic remediation</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Targets effort, the real gap, not ability, which is not a gap</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762000">
                <a:tc>
                  <a:txBody>
                    <a:bodyPr anchor="t" rtlCol="false"/>
                    <a:lstStyle/>
                    <a:p>
                      <a:pPr algn="ctr">
                        <a:lnSpc>
                          <a:spcPts val="1800"/>
                        </a:lnSpc>
                        <a:defRPr/>
                      </a:pPr>
                      <a:r>
                        <a:rPr lang="en-US" sz="1500" b="true">
                          <a:solidFill>
                            <a:srgbClr val="FFFFFF"/>
                          </a:solidFill>
                          <a:latin typeface="Arial Bold"/>
                          <a:ea typeface="Arial Bold"/>
                          <a:cs typeface="Arial Bold"/>
                          <a:sym typeface="Arial Bold"/>
                        </a:rPr>
                        <a:t>LOW</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6A6A6"/>
                    </a:solidFill>
                  </a:tcPr>
                </a:tc>
                <a:tc>
                  <a:txBody>
                    <a:bodyPr anchor="t" rtlCol="false"/>
                    <a:lstStyle/>
                    <a:p>
                      <a:pPr algn="l">
                        <a:lnSpc>
                          <a:spcPts val="1800"/>
                        </a:lnSpc>
                        <a:defRPr/>
                      </a:pPr>
                      <a:r>
                        <a:rPr lang="en-US" sz="1500">
                          <a:solidFill>
                            <a:srgbClr val="000000"/>
                          </a:solidFill>
                          <a:latin typeface="Arial"/>
                          <a:ea typeface="Arial"/>
                          <a:cs typeface="Arial"/>
                          <a:sym typeface="Arial"/>
                        </a:rPr>
                        <a:t>Category 0.5 pts, Course_Level 0.2 pts</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Do not fund course-level redesign as a completion lever; redirect to engagement tooling</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Avoids spending budget on a problem the data does not support</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r h="762000">
                <a:tc>
                  <a:txBody>
                    <a:bodyPr anchor="t" rtlCol="false"/>
                    <a:lstStyle/>
                    <a:p>
                      <a:pPr algn="ctr">
                        <a:lnSpc>
                          <a:spcPts val="1800"/>
                        </a:lnSpc>
                        <a:defRPr/>
                      </a:pPr>
                      <a:r>
                        <a:rPr lang="en-US" sz="1500" b="true">
                          <a:solidFill>
                            <a:srgbClr val="FFFFFF"/>
                          </a:solidFill>
                          <a:latin typeface="Arial Bold"/>
                          <a:ea typeface="Arial Bold"/>
                          <a:cs typeface="Arial Bold"/>
                          <a:sym typeface="Arial Bold"/>
                        </a:rPr>
                        <a:t>LOW</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solidFill>
                      <a:srgbClr val="A6A6A6"/>
                    </a:solidFill>
                  </a:tcPr>
                </a:tc>
                <a:tc>
                  <a:txBody>
                    <a:bodyPr anchor="t" rtlCol="false"/>
                    <a:lstStyle/>
                    <a:p>
                      <a:pPr algn="l">
                        <a:lnSpc>
                          <a:spcPts val="1800"/>
                        </a:lnSpc>
                        <a:defRPr/>
                      </a:pPr>
                      <a:r>
                        <a:rPr lang="en-US" sz="1500">
                          <a:solidFill>
                            <a:srgbClr val="000000"/>
                          </a:solidFill>
                          <a:latin typeface="Arial"/>
                          <a:ea typeface="Arial"/>
                          <a:cs typeface="Arial"/>
                          <a:sym typeface="Arial"/>
                        </a:rPr>
                        <a:t>Low internet quality: 45.8% vs 49.6%</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Low-bandwidth and downloadable content mode</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c>
                  <a:txBody>
                    <a:bodyPr anchor="t" rtlCol="false"/>
                    <a:lstStyle/>
                    <a:p>
                      <a:pPr algn="l">
                        <a:lnSpc>
                          <a:spcPts val="1800"/>
                        </a:lnSpc>
                        <a:defRPr/>
                      </a:pPr>
                      <a:r>
                        <a:rPr lang="en-US" sz="1500">
                          <a:solidFill>
                            <a:srgbClr val="000000"/>
                          </a:solidFill>
                          <a:latin typeface="Arial"/>
                          <a:ea typeface="Arial"/>
                          <a:cs typeface="Arial"/>
                          <a:sym typeface="Arial"/>
                        </a:rPr>
                        <a:t>Removes a cheap barrier for an identifiable segment</a:t>
                      </a:r>
                      <a:endParaRPr lang="en-US" sz="1100"/>
                    </a:p>
                  </a:txBody>
                  <a:tcPr marL="91440" marR="91440" marT="91440" marB="91440" anchor="ctr">
                    <a:lnL cmpd="sng" algn="ctr" cap="flat" w="12700">
                      <a:solidFill>
                        <a:srgbClr val="E3E3E3"/>
                      </a:solidFill>
                      <a:prstDash val="solid"/>
                      <a:round/>
                      <a:headEnd type="none" w="med" len="med"/>
                      <a:tailEnd type="none" w="med" len="med"/>
                    </a:lnL>
                    <a:lnR cmpd="sng" algn="ctr" cap="flat" w="12700">
                      <a:solidFill>
                        <a:srgbClr val="E3E3E3"/>
                      </a:solidFill>
                      <a:prstDash val="solid"/>
                      <a:round/>
                      <a:headEnd type="none" w="med" len="med"/>
                      <a:tailEnd type="none" w="med" len="med"/>
                    </a:lnR>
                    <a:lnT cmpd="sng" algn="ctr" cap="flat" w="12700">
                      <a:solidFill>
                        <a:srgbClr val="E3E3E3"/>
                      </a:solidFill>
                      <a:prstDash val="solid"/>
                      <a:round/>
                      <a:headEnd type="none" w="med" len="med"/>
                      <a:tailEnd type="none" w="med" len="med"/>
                    </a:lnT>
                    <a:lnB cmpd="sng" algn="ctr" cap="flat" w="12700">
                      <a:solidFill>
                        <a:srgbClr val="E3E3E3"/>
                      </a:solidFill>
                      <a:prstDash val="solid"/>
                      <a:round/>
                      <a:headEnd type="none" w="med" len="med"/>
                      <a:tailEnd type="none" w="med" len="med"/>
                    </a:lnB>
                  </a:tcPr>
                </a:tc>
              </a:tr>
            </a:tbl>
          </a:graphicData>
        </a:graphic>
      </p:graphicFrame>
      <p:grpSp>
        <p:nvGrpSpPr>
          <p:cNvPr name="Group 9" id="9"/>
          <p:cNvGrpSpPr/>
          <p:nvPr/>
        </p:nvGrpSpPr>
        <p:grpSpPr>
          <a:xfrm rot="0">
            <a:off x="987552" y="8530590"/>
            <a:ext cx="16322040" cy="548640"/>
            <a:chOff x="0" y="0"/>
            <a:chExt cx="21762720" cy="731520"/>
          </a:xfrm>
        </p:grpSpPr>
        <p:sp>
          <p:nvSpPr>
            <p:cNvPr name="Freeform 10" id="10"/>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2">
                <a:alphaModFix amt="0"/>
              </a:blip>
              <a:stretch>
                <a:fillRect l="0" t="-529679" r="0" b="-529679"/>
              </a:stretch>
            </a:blipFill>
          </p:spPr>
        </p:sp>
        <p:sp>
          <p:nvSpPr>
            <p:cNvPr name="TextBox 11" id="11"/>
            <p:cNvSpPr txBox="true"/>
            <p:nvPr/>
          </p:nvSpPr>
          <p:spPr>
            <a:xfrm>
              <a:off x="0" y="-19050"/>
              <a:ext cx="21762720" cy="750570"/>
            </a:xfrm>
            <a:prstGeom prst="rect">
              <a:avLst/>
            </a:prstGeom>
          </p:spPr>
          <p:txBody>
            <a:bodyPr anchor="ctr" rtlCol="false" tIns="0" lIns="0" bIns="0" rIns="0"/>
            <a:lstStyle/>
            <a:p>
              <a:pPr algn="l">
                <a:lnSpc>
                  <a:spcPts val="2070"/>
                </a:lnSpc>
              </a:pPr>
              <a:r>
                <a:rPr lang="en-US" sz="1725" i="true">
                  <a:solidFill>
                    <a:srgbClr val="460073"/>
                  </a:solidFill>
                  <a:latin typeface="Arial Italics"/>
                  <a:ea typeface="Arial Italics"/>
                  <a:cs typeface="Arial Italics"/>
                  <a:sym typeface="Arial Italics"/>
                </a:rPr>
                <a:t>One of these recommendations is to spend nothing. Testing the intuitive hypothesis and finding it false is worth as much as finding a driver.</a:t>
              </a:r>
            </a:p>
          </p:txBody>
        </p:sp>
      </p:grpSp>
      <p:grpSp>
        <p:nvGrpSpPr>
          <p:cNvPr name="Group 12" id="12"/>
          <p:cNvGrpSpPr/>
          <p:nvPr/>
        </p:nvGrpSpPr>
        <p:grpSpPr>
          <a:xfrm rot="0">
            <a:off x="10424160" y="411480"/>
            <a:ext cx="5966460" cy="342900"/>
            <a:chOff x="0" y="0"/>
            <a:chExt cx="7955280" cy="457200"/>
          </a:xfrm>
        </p:grpSpPr>
        <p:sp>
          <p:nvSpPr>
            <p:cNvPr name="Freeform 13" id="13"/>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14" id="14"/>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15" id="15"/>
          <p:cNvGrpSpPr/>
          <p:nvPr/>
        </p:nvGrpSpPr>
        <p:grpSpPr>
          <a:xfrm rot="0">
            <a:off x="16486632" y="411480"/>
            <a:ext cx="205740" cy="342900"/>
            <a:chOff x="0" y="0"/>
            <a:chExt cx="274320" cy="457200"/>
          </a:xfrm>
        </p:grpSpPr>
        <p:sp>
          <p:nvSpPr>
            <p:cNvPr name="Freeform 16" id="16"/>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17" id="17"/>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18" id="18"/>
          <p:cNvGrpSpPr/>
          <p:nvPr/>
        </p:nvGrpSpPr>
        <p:grpSpPr>
          <a:xfrm rot="0">
            <a:off x="16664940" y="411480"/>
            <a:ext cx="685800" cy="342900"/>
            <a:chOff x="0" y="0"/>
            <a:chExt cx="914400" cy="457200"/>
          </a:xfrm>
        </p:grpSpPr>
        <p:sp>
          <p:nvSpPr>
            <p:cNvPr name="Freeform 19" id="19"/>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20" id="20"/>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13</a:t>
              </a:r>
            </a:p>
          </p:txBody>
        </p:sp>
      </p:grpSp>
      <p:grpSp>
        <p:nvGrpSpPr>
          <p:cNvPr name="Group 21" id="21"/>
          <p:cNvGrpSpPr/>
          <p:nvPr/>
        </p:nvGrpSpPr>
        <p:grpSpPr>
          <a:xfrm rot="0">
            <a:off x="987552" y="9601200"/>
            <a:ext cx="8229600" cy="342900"/>
            <a:chOff x="0" y="0"/>
            <a:chExt cx="10972800" cy="457200"/>
          </a:xfrm>
        </p:grpSpPr>
        <p:sp>
          <p:nvSpPr>
            <p:cNvPr name="Freeform 22" id="22"/>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23" id="23"/>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24" id="24"/>
          <p:cNvGrpSpPr/>
          <p:nvPr/>
        </p:nvGrpSpPr>
        <p:grpSpPr>
          <a:xfrm rot="0">
            <a:off x="0" y="9464040"/>
            <a:ext cx="18288000" cy="822960"/>
            <a:chOff x="0" y="0"/>
            <a:chExt cx="24384000" cy="1097280"/>
          </a:xfrm>
        </p:grpSpPr>
        <p:grpSp>
          <p:nvGrpSpPr>
            <p:cNvPr name="Group 25" id="25"/>
            <p:cNvGrpSpPr/>
            <p:nvPr/>
          </p:nvGrpSpPr>
          <p:grpSpPr>
            <a:xfrm rot="0">
              <a:off x="0" y="0"/>
              <a:ext cx="24384000" cy="1097280"/>
              <a:chOff x="0" y="0"/>
              <a:chExt cx="16256000" cy="731520"/>
            </a:xfrm>
          </p:grpSpPr>
          <p:sp>
            <p:nvSpPr>
              <p:cNvPr name="Freeform 26" id="26">
                <a:hlinkClick r:id="rId3"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4"/>
                <a:stretch>
                  <a:fillRect l="0" t="0" r="-45" b="-609"/>
                </a:stretch>
              </a:blipFill>
            </p:spPr>
          </p:sp>
        </p:grpSp>
        <p:grpSp>
          <p:nvGrpSpPr>
            <p:cNvPr name="Group 27" id="27"/>
            <p:cNvGrpSpPr/>
            <p:nvPr/>
          </p:nvGrpSpPr>
          <p:grpSpPr>
            <a:xfrm rot="0">
              <a:off x="1316736" y="182880"/>
              <a:ext cx="10972800" cy="457200"/>
              <a:chOff x="0" y="0"/>
              <a:chExt cx="10972800" cy="457200"/>
            </a:xfrm>
          </p:grpSpPr>
          <p:sp>
            <p:nvSpPr>
              <p:cNvPr name="Freeform 28" id="28">
                <a:hlinkClick r:id="rId5" tooltip="https://canva.link/j1m0vdglw23sasg"/>
              </p:cNvPr>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29" id="29"/>
              <p:cNvSpPr txBox="true"/>
              <p:nvPr/>
            </p:nvSpPr>
            <p:spPr>
              <a:xfrm>
                <a:off x="0" y="-19050"/>
                <a:ext cx="10972800" cy="476250"/>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6" tooltip="https://canva.link/j1m0vdglw23sasg"/>
                  </a:rPr>
                  <a:t>Group 6  |  Data Analytics Capstone</a:t>
                </a:r>
              </a:p>
            </p:txBody>
          </p:sp>
        </p:grpSp>
        <p:sp>
          <p:nvSpPr>
            <p:cNvPr name="Freeform 30" id="30">
              <a:hlinkClick r:id="rId9"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28575"/>
              <a:ext cx="21749918" cy="1345311"/>
            </a:xfrm>
            <a:prstGeom prst="rect">
              <a:avLst/>
            </a:prstGeom>
          </p:spPr>
          <p:txBody>
            <a:bodyPr anchor="ctr" rtlCol="false" tIns="0" lIns="0" bIns="0" rIns="0"/>
            <a:lstStyle/>
            <a:p>
              <a:pPr algn="l">
                <a:lnSpc>
                  <a:spcPts val="5940"/>
                </a:lnSpc>
              </a:pPr>
              <a:r>
                <a:rPr lang="en-US" sz="4950" b="true">
                  <a:solidFill>
                    <a:srgbClr val="A100FF"/>
                  </a:solidFill>
                  <a:latin typeface="Arial Bold"/>
                  <a:ea typeface="Arial Bold"/>
                  <a:cs typeface="Arial Bold"/>
                  <a:sym typeface="Arial Bold"/>
                </a:rPr>
                <a:t>Where to spend first</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The same six findings, placed by business impact against ease of implementation.</a:t>
              </a:r>
            </a:p>
          </p:txBody>
        </p:sp>
      </p:grpSp>
      <p:grpSp>
        <p:nvGrpSpPr>
          <p:cNvPr name="Group 8" id="8"/>
          <p:cNvGrpSpPr/>
          <p:nvPr/>
        </p:nvGrpSpPr>
        <p:grpSpPr>
          <a:xfrm rot="0">
            <a:off x="4320540" y="2811780"/>
            <a:ext cx="4800600" cy="2846070"/>
            <a:chOff x="0" y="0"/>
            <a:chExt cx="6400800" cy="3794760"/>
          </a:xfrm>
        </p:grpSpPr>
        <p:sp>
          <p:nvSpPr>
            <p:cNvPr name="Freeform 9" id="9"/>
            <p:cNvSpPr/>
            <p:nvPr/>
          </p:nvSpPr>
          <p:spPr>
            <a:xfrm flipH="false" flipV="false" rot="0">
              <a:off x="0" y="0"/>
              <a:ext cx="6400800" cy="3794760"/>
            </a:xfrm>
            <a:custGeom>
              <a:avLst/>
              <a:gdLst/>
              <a:ahLst/>
              <a:cxnLst/>
              <a:rect r="r" b="b" t="t" l="l"/>
              <a:pathLst>
                <a:path h="3794760" w="6400800">
                  <a:moveTo>
                    <a:pt x="0" y="0"/>
                  </a:moveTo>
                  <a:lnTo>
                    <a:pt x="6400800" y="0"/>
                  </a:lnTo>
                  <a:lnTo>
                    <a:pt x="6400800" y="3794760"/>
                  </a:lnTo>
                  <a:lnTo>
                    <a:pt x="0" y="3794760"/>
                  </a:lnTo>
                  <a:close/>
                </a:path>
              </a:pathLst>
            </a:custGeom>
            <a:solidFill>
              <a:srgbClr val="F3E8FC"/>
            </a:solidFill>
          </p:spPr>
        </p:sp>
      </p:grpSp>
      <p:grpSp>
        <p:nvGrpSpPr>
          <p:cNvPr name="Group 10" id="10"/>
          <p:cNvGrpSpPr/>
          <p:nvPr/>
        </p:nvGrpSpPr>
        <p:grpSpPr>
          <a:xfrm rot="0">
            <a:off x="9121140" y="2811780"/>
            <a:ext cx="4800600" cy="2846070"/>
            <a:chOff x="0" y="0"/>
            <a:chExt cx="6400800" cy="3794760"/>
          </a:xfrm>
        </p:grpSpPr>
        <p:sp>
          <p:nvSpPr>
            <p:cNvPr name="Freeform 11" id="11"/>
            <p:cNvSpPr/>
            <p:nvPr/>
          </p:nvSpPr>
          <p:spPr>
            <a:xfrm flipH="false" flipV="false" rot="0">
              <a:off x="0" y="0"/>
              <a:ext cx="6400800" cy="3794760"/>
            </a:xfrm>
            <a:custGeom>
              <a:avLst/>
              <a:gdLst/>
              <a:ahLst/>
              <a:cxnLst/>
              <a:rect r="r" b="b" t="t" l="l"/>
              <a:pathLst>
                <a:path h="3794760" w="6400800">
                  <a:moveTo>
                    <a:pt x="0" y="0"/>
                  </a:moveTo>
                  <a:lnTo>
                    <a:pt x="6400800" y="0"/>
                  </a:lnTo>
                  <a:lnTo>
                    <a:pt x="6400800" y="3794760"/>
                  </a:lnTo>
                  <a:lnTo>
                    <a:pt x="0" y="3794760"/>
                  </a:lnTo>
                  <a:close/>
                </a:path>
              </a:pathLst>
            </a:custGeom>
            <a:solidFill>
              <a:srgbClr val="A100FF"/>
            </a:solidFill>
          </p:spPr>
        </p:sp>
      </p:grpSp>
      <p:grpSp>
        <p:nvGrpSpPr>
          <p:cNvPr name="Group 12" id="12"/>
          <p:cNvGrpSpPr/>
          <p:nvPr/>
        </p:nvGrpSpPr>
        <p:grpSpPr>
          <a:xfrm rot="0">
            <a:off x="4320540" y="5657850"/>
            <a:ext cx="4800600" cy="2846070"/>
            <a:chOff x="0" y="0"/>
            <a:chExt cx="6400800" cy="3794760"/>
          </a:xfrm>
        </p:grpSpPr>
        <p:sp>
          <p:nvSpPr>
            <p:cNvPr name="Freeform 13" id="13"/>
            <p:cNvSpPr/>
            <p:nvPr/>
          </p:nvSpPr>
          <p:spPr>
            <a:xfrm flipH="false" flipV="false" rot="0">
              <a:off x="0" y="0"/>
              <a:ext cx="6400800" cy="3794760"/>
            </a:xfrm>
            <a:custGeom>
              <a:avLst/>
              <a:gdLst/>
              <a:ahLst/>
              <a:cxnLst/>
              <a:rect r="r" b="b" t="t" l="l"/>
              <a:pathLst>
                <a:path h="3794760" w="6400800">
                  <a:moveTo>
                    <a:pt x="0" y="0"/>
                  </a:moveTo>
                  <a:lnTo>
                    <a:pt x="6400800" y="0"/>
                  </a:lnTo>
                  <a:lnTo>
                    <a:pt x="6400800" y="3794760"/>
                  </a:lnTo>
                  <a:lnTo>
                    <a:pt x="0" y="3794760"/>
                  </a:lnTo>
                  <a:close/>
                </a:path>
              </a:pathLst>
            </a:custGeom>
            <a:solidFill>
              <a:srgbClr val="F1F1F1"/>
            </a:solidFill>
          </p:spPr>
        </p:sp>
      </p:grpSp>
      <p:grpSp>
        <p:nvGrpSpPr>
          <p:cNvPr name="Group 14" id="14"/>
          <p:cNvGrpSpPr/>
          <p:nvPr/>
        </p:nvGrpSpPr>
        <p:grpSpPr>
          <a:xfrm rot="0">
            <a:off x="9121140" y="5657850"/>
            <a:ext cx="4800600" cy="2846070"/>
            <a:chOff x="0" y="0"/>
            <a:chExt cx="6400800" cy="3794760"/>
          </a:xfrm>
        </p:grpSpPr>
        <p:sp>
          <p:nvSpPr>
            <p:cNvPr name="Freeform 15" id="15"/>
            <p:cNvSpPr/>
            <p:nvPr/>
          </p:nvSpPr>
          <p:spPr>
            <a:xfrm flipH="false" flipV="false" rot="0">
              <a:off x="0" y="0"/>
              <a:ext cx="6400800" cy="3794760"/>
            </a:xfrm>
            <a:custGeom>
              <a:avLst/>
              <a:gdLst/>
              <a:ahLst/>
              <a:cxnLst/>
              <a:rect r="r" b="b" t="t" l="l"/>
              <a:pathLst>
                <a:path h="3794760" w="6400800">
                  <a:moveTo>
                    <a:pt x="0" y="0"/>
                  </a:moveTo>
                  <a:lnTo>
                    <a:pt x="6400800" y="0"/>
                  </a:lnTo>
                  <a:lnTo>
                    <a:pt x="6400800" y="3794760"/>
                  </a:lnTo>
                  <a:lnTo>
                    <a:pt x="0" y="3794760"/>
                  </a:lnTo>
                  <a:close/>
                </a:path>
              </a:pathLst>
            </a:custGeom>
            <a:solidFill>
              <a:srgbClr val="EDE4F5"/>
            </a:solidFill>
          </p:spPr>
        </p:sp>
      </p:grpSp>
      <p:grpSp>
        <p:nvGrpSpPr>
          <p:cNvPr name="Group 16" id="16"/>
          <p:cNvGrpSpPr/>
          <p:nvPr/>
        </p:nvGrpSpPr>
        <p:grpSpPr>
          <a:xfrm rot="0">
            <a:off x="4622292" y="3086100"/>
            <a:ext cx="4197096" cy="411480"/>
            <a:chOff x="0" y="0"/>
            <a:chExt cx="5596128" cy="548640"/>
          </a:xfrm>
        </p:grpSpPr>
        <p:sp>
          <p:nvSpPr>
            <p:cNvPr name="Freeform 17" id="17"/>
            <p:cNvSpPr/>
            <p:nvPr/>
          </p:nvSpPr>
          <p:spPr>
            <a:xfrm flipH="false" flipV="false" rot="0">
              <a:off x="0" y="0"/>
              <a:ext cx="5596128" cy="548640"/>
            </a:xfrm>
            <a:custGeom>
              <a:avLst/>
              <a:gdLst/>
              <a:ahLst/>
              <a:cxnLst/>
              <a:rect r="r" b="b" t="t" l="l"/>
              <a:pathLst>
                <a:path h="548640" w="5596128">
                  <a:moveTo>
                    <a:pt x="0" y="0"/>
                  </a:moveTo>
                  <a:lnTo>
                    <a:pt x="5596128" y="0"/>
                  </a:lnTo>
                  <a:lnTo>
                    <a:pt x="5596128" y="548640"/>
                  </a:lnTo>
                  <a:lnTo>
                    <a:pt x="0" y="548640"/>
                  </a:lnTo>
                  <a:close/>
                </a:path>
              </a:pathLst>
            </a:custGeom>
            <a:blipFill>
              <a:blip r:embed="rId2">
                <a:alphaModFix amt="0"/>
              </a:blip>
              <a:stretch>
                <a:fillRect l="0" t="-148747" r="0" b="-148747"/>
              </a:stretch>
            </a:blipFill>
          </p:spPr>
        </p:sp>
        <p:sp>
          <p:nvSpPr>
            <p:cNvPr name="TextBox 18" id="18"/>
            <p:cNvSpPr txBox="true"/>
            <p:nvPr/>
          </p:nvSpPr>
          <p:spPr>
            <a:xfrm>
              <a:off x="0" y="-19050"/>
              <a:ext cx="5596128" cy="567690"/>
            </a:xfrm>
            <a:prstGeom prst="rect">
              <a:avLst/>
            </a:prstGeom>
          </p:spPr>
          <p:txBody>
            <a:bodyPr anchor="ctr" rtlCol="false" tIns="0" lIns="0" bIns="0" rIns="0"/>
            <a:lstStyle/>
            <a:p>
              <a:pPr algn="l">
                <a:lnSpc>
                  <a:spcPts val="1980"/>
                </a:lnSpc>
              </a:pPr>
              <a:r>
                <a:rPr lang="en-US" b="true" sz="1650" spc="210">
                  <a:solidFill>
                    <a:srgbClr val="460073"/>
                  </a:solidFill>
                  <a:latin typeface="Arial Bold"/>
                  <a:ea typeface="Arial Bold"/>
                  <a:cs typeface="Arial Bold"/>
                  <a:sym typeface="Arial Bold"/>
                </a:rPr>
                <a:t>PLAN AND FUND</a:t>
              </a:r>
            </a:p>
          </p:txBody>
        </p:sp>
      </p:grpSp>
      <p:grpSp>
        <p:nvGrpSpPr>
          <p:cNvPr name="Group 19" id="19"/>
          <p:cNvGrpSpPr/>
          <p:nvPr/>
        </p:nvGrpSpPr>
        <p:grpSpPr>
          <a:xfrm rot="0">
            <a:off x="4622292" y="3634740"/>
            <a:ext cx="4197096" cy="630936"/>
            <a:chOff x="0" y="0"/>
            <a:chExt cx="5596128" cy="841248"/>
          </a:xfrm>
        </p:grpSpPr>
        <p:sp>
          <p:nvSpPr>
            <p:cNvPr name="Freeform 20" id="20"/>
            <p:cNvSpPr/>
            <p:nvPr/>
          </p:nvSpPr>
          <p:spPr>
            <a:xfrm flipH="false" flipV="false" rot="0">
              <a:off x="0" y="0"/>
              <a:ext cx="5596128" cy="841248"/>
            </a:xfrm>
            <a:custGeom>
              <a:avLst/>
              <a:gdLst/>
              <a:ahLst/>
              <a:cxnLst/>
              <a:rect r="r" b="b" t="t" l="l"/>
              <a:pathLst>
                <a:path h="841248" w="5596128">
                  <a:moveTo>
                    <a:pt x="0" y="0"/>
                  </a:moveTo>
                  <a:lnTo>
                    <a:pt x="5596128" y="0"/>
                  </a:lnTo>
                  <a:lnTo>
                    <a:pt x="5596128" y="841248"/>
                  </a:lnTo>
                  <a:lnTo>
                    <a:pt x="0" y="841248"/>
                  </a:lnTo>
                  <a:close/>
                </a:path>
              </a:pathLst>
            </a:custGeom>
            <a:blipFill>
              <a:blip r:embed="rId2">
                <a:alphaModFix amt="0"/>
              </a:blip>
              <a:stretch>
                <a:fillRect l="0" t="-79617" r="0" b="-79617"/>
              </a:stretch>
            </a:blipFill>
          </p:spPr>
        </p:sp>
        <p:sp>
          <p:nvSpPr>
            <p:cNvPr name="TextBox 21" id="21"/>
            <p:cNvSpPr txBox="true"/>
            <p:nvPr/>
          </p:nvSpPr>
          <p:spPr>
            <a:xfrm>
              <a:off x="0" y="-19050"/>
              <a:ext cx="5596128" cy="860298"/>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000000"/>
                  </a:solidFill>
                  <a:latin typeface="Arial"/>
                  <a:ea typeface="Arial"/>
                  <a:cs typeface="Arial"/>
                  <a:sym typeface="Arial"/>
                </a:rPr>
                <a:t>Instrument time-stamped activity</a:t>
              </a:r>
            </a:p>
          </p:txBody>
        </p:sp>
      </p:grpSp>
      <p:grpSp>
        <p:nvGrpSpPr>
          <p:cNvPr name="Group 22" id="22"/>
          <p:cNvGrpSpPr/>
          <p:nvPr/>
        </p:nvGrpSpPr>
        <p:grpSpPr>
          <a:xfrm rot="0">
            <a:off x="9422892" y="3086100"/>
            <a:ext cx="4197096" cy="411480"/>
            <a:chOff x="0" y="0"/>
            <a:chExt cx="5596128" cy="548640"/>
          </a:xfrm>
        </p:grpSpPr>
        <p:sp>
          <p:nvSpPr>
            <p:cNvPr name="Freeform 23" id="23"/>
            <p:cNvSpPr/>
            <p:nvPr/>
          </p:nvSpPr>
          <p:spPr>
            <a:xfrm flipH="false" flipV="false" rot="0">
              <a:off x="0" y="0"/>
              <a:ext cx="5596128" cy="548640"/>
            </a:xfrm>
            <a:custGeom>
              <a:avLst/>
              <a:gdLst/>
              <a:ahLst/>
              <a:cxnLst/>
              <a:rect r="r" b="b" t="t" l="l"/>
              <a:pathLst>
                <a:path h="548640" w="5596128">
                  <a:moveTo>
                    <a:pt x="0" y="0"/>
                  </a:moveTo>
                  <a:lnTo>
                    <a:pt x="5596128" y="0"/>
                  </a:lnTo>
                  <a:lnTo>
                    <a:pt x="5596128" y="548640"/>
                  </a:lnTo>
                  <a:lnTo>
                    <a:pt x="0" y="548640"/>
                  </a:lnTo>
                  <a:close/>
                </a:path>
              </a:pathLst>
            </a:custGeom>
            <a:blipFill>
              <a:blip r:embed="rId2">
                <a:alphaModFix amt="0"/>
              </a:blip>
              <a:stretch>
                <a:fillRect l="0" t="-148747" r="0" b="-148747"/>
              </a:stretch>
            </a:blipFill>
          </p:spPr>
        </p:sp>
        <p:sp>
          <p:nvSpPr>
            <p:cNvPr name="TextBox 24" id="24"/>
            <p:cNvSpPr txBox="true"/>
            <p:nvPr/>
          </p:nvSpPr>
          <p:spPr>
            <a:xfrm>
              <a:off x="0" y="-19050"/>
              <a:ext cx="5596128" cy="567690"/>
            </a:xfrm>
            <a:prstGeom prst="rect">
              <a:avLst/>
            </a:prstGeom>
          </p:spPr>
          <p:txBody>
            <a:bodyPr anchor="ctr" rtlCol="false" tIns="0" lIns="0" bIns="0" rIns="0"/>
            <a:lstStyle/>
            <a:p>
              <a:pPr algn="l">
                <a:lnSpc>
                  <a:spcPts val="1980"/>
                </a:lnSpc>
              </a:pPr>
              <a:r>
                <a:rPr lang="en-US" b="true" sz="1650" spc="210">
                  <a:solidFill>
                    <a:srgbClr val="FFFFFF"/>
                  </a:solidFill>
                  <a:latin typeface="Arial Bold"/>
                  <a:ea typeface="Arial Bold"/>
                  <a:cs typeface="Arial Bold"/>
                  <a:sym typeface="Arial Bold"/>
                </a:rPr>
                <a:t>DO FIRST</a:t>
              </a:r>
            </a:p>
          </p:txBody>
        </p:sp>
      </p:grpSp>
      <p:grpSp>
        <p:nvGrpSpPr>
          <p:cNvPr name="Group 25" id="25"/>
          <p:cNvGrpSpPr/>
          <p:nvPr/>
        </p:nvGrpSpPr>
        <p:grpSpPr>
          <a:xfrm rot="0">
            <a:off x="9422892" y="3634740"/>
            <a:ext cx="4197096" cy="630936"/>
            <a:chOff x="0" y="0"/>
            <a:chExt cx="5596128" cy="841248"/>
          </a:xfrm>
        </p:grpSpPr>
        <p:sp>
          <p:nvSpPr>
            <p:cNvPr name="Freeform 26" id="26"/>
            <p:cNvSpPr/>
            <p:nvPr/>
          </p:nvSpPr>
          <p:spPr>
            <a:xfrm flipH="false" flipV="false" rot="0">
              <a:off x="0" y="0"/>
              <a:ext cx="5596128" cy="841248"/>
            </a:xfrm>
            <a:custGeom>
              <a:avLst/>
              <a:gdLst/>
              <a:ahLst/>
              <a:cxnLst/>
              <a:rect r="r" b="b" t="t" l="l"/>
              <a:pathLst>
                <a:path h="841248" w="5596128">
                  <a:moveTo>
                    <a:pt x="0" y="0"/>
                  </a:moveTo>
                  <a:lnTo>
                    <a:pt x="5596128" y="0"/>
                  </a:lnTo>
                  <a:lnTo>
                    <a:pt x="5596128" y="841248"/>
                  </a:lnTo>
                  <a:lnTo>
                    <a:pt x="0" y="841248"/>
                  </a:lnTo>
                  <a:close/>
                </a:path>
              </a:pathLst>
            </a:custGeom>
            <a:blipFill>
              <a:blip r:embed="rId2">
                <a:alphaModFix amt="0"/>
              </a:blip>
              <a:stretch>
                <a:fillRect l="0" t="-79617" r="0" b="-79617"/>
              </a:stretch>
            </a:blipFill>
          </p:spPr>
        </p:sp>
        <p:sp>
          <p:nvSpPr>
            <p:cNvPr name="TextBox 27" id="27"/>
            <p:cNvSpPr txBox="true"/>
            <p:nvPr/>
          </p:nvSpPr>
          <p:spPr>
            <a:xfrm>
              <a:off x="0" y="-19050"/>
              <a:ext cx="5596128" cy="860298"/>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FFFFFF"/>
                  </a:solidFill>
                  <a:latin typeface="Arial"/>
                  <a:ea typeface="Arial"/>
                  <a:cs typeface="Arial"/>
                  <a:sym typeface="Arial"/>
                </a:rPr>
                <a:t>Engagement early-warning flag</a:t>
              </a:r>
            </a:p>
          </p:txBody>
        </p:sp>
      </p:grpSp>
      <p:grpSp>
        <p:nvGrpSpPr>
          <p:cNvPr name="Group 28" id="28"/>
          <p:cNvGrpSpPr/>
          <p:nvPr/>
        </p:nvGrpSpPr>
        <p:grpSpPr>
          <a:xfrm rot="0">
            <a:off x="9422892" y="4320540"/>
            <a:ext cx="4197096" cy="630936"/>
            <a:chOff x="0" y="0"/>
            <a:chExt cx="5596128" cy="841248"/>
          </a:xfrm>
        </p:grpSpPr>
        <p:sp>
          <p:nvSpPr>
            <p:cNvPr name="Freeform 29" id="29"/>
            <p:cNvSpPr/>
            <p:nvPr/>
          </p:nvSpPr>
          <p:spPr>
            <a:xfrm flipH="false" flipV="false" rot="0">
              <a:off x="0" y="0"/>
              <a:ext cx="5596128" cy="841248"/>
            </a:xfrm>
            <a:custGeom>
              <a:avLst/>
              <a:gdLst/>
              <a:ahLst/>
              <a:cxnLst/>
              <a:rect r="r" b="b" t="t" l="l"/>
              <a:pathLst>
                <a:path h="841248" w="5596128">
                  <a:moveTo>
                    <a:pt x="0" y="0"/>
                  </a:moveTo>
                  <a:lnTo>
                    <a:pt x="5596128" y="0"/>
                  </a:lnTo>
                  <a:lnTo>
                    <a:pt x="5596128" y="841248"/>
                  </a:lnTo>
                  <a:lnTo>
                    <a:pt x="0" y="841248"/>
                  </a:lnTo>
                  <a:close/>
                </a:path>
              </a:pathLst>
            </a:custGeom>
            <a:blipFill>
              <a:blip r:embed="rId2">
                <a:alphaModFix amt="0"/>
              </a:blip>
              <a:stretch>
                <a:fillRect l="0" t="-79617" r="0" b="-79617"/>
              </a:stretch>
            </a:blipFill>
          </p:spPr>
        </p:sp>
        <p:sp>
          <p:nvSpPr>
            <p:cNvPr name="TextBox 30" id="30"/>
            <p:cNvSpPr txBox="true"/>
            <p:nvPr/>
          </p:nvSpPr>
          <p:spPr>
            <a:xfrm>
              <a:off x="0" y="-19050"/>
              <a:ext cx="5596128" cy="860298"/>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FFFFFF"/>
                  </a:solidFill>
                  <a:latin typeface="Arial"/>
                  <a:ea typeface="Arial"/>
                  <a:cs typeface="Arial"/>
                  <a:sym typeface="Arial"/>
                </a:rPr>
                <a:t>Free-tier milestone nudges</a:t>
              </a:r>
            </a:p>
          </p:txBody>
        </p:sp>
      </p:grpSp>
      <p:grpSp>
        <p:nvGrpSpPr>
          <p:cNvPr name="Group 31" id="31"/>
          <p:cNvGrpSpPr/>
          <p:nvPr/>
        </p:nvGrpSpPr>
        <p:grpSpPr>
          <a:xfrm rot="0">
            <a:off x="4622292" y="5932170"/>
            <a:ext cx="4197096" cy="411480"/>
            <a:chOff x="0" y="0"/>
            <a:chExt cx="5596128" cy="548640"/>
          </a:xfrm>
        </p:grpSpPr>
        <p:sp>
          <p:nvSpPr>
            <p:cNvPr name="Freeform 32" id="32"/>
            <p:cNvSpPr/>
            <p:nvPr/>
          </p:nvSpPr>
          <p:spPr>
            <a:xfrm flipH="false" flipV="false" rot="0">
              <a:off x="0" y="0"/>
              <a:ext cx="5596128" cy="548640"/>
            </a:xfrm>
            <a:custGeom>
              <a:avLst/>
              <a:gdLst/>
              <a:ahLst/>
              <a:cxnLst/>
              <a:rect r="r" b="b" t="t" l="l"/>
              <a:pathLst>
                <a:path h="548640" w="5596128">
                  <a:moveTo>
                    <a:pt x="0" y="0"/>
                  </a:moveTo>
                  <a:lnTo>
                    <a:pt x="5596128" y="0"/>
                  </a:lnTo>
                  <a:lnTo>
                    <a:pt x="5596128" y="548640"/>
                  </a:lnTo>
                  <a:lnTo>
                    <a:pt x="0" y="548640"/>
                  </a:lnTo>
                  <a:close/>
                </a:path>
              </a:pathLst>
            </a:custGeom>
            <a:blipFill>
              <a:blip r:embed="rId2">
                <a:alphaModFix amt="0"/>
              </a:blip>
              <a:stretch>
                <a:fillRect l="0" t="-148747" r="0" b="-148747"/>
              </a:stretch>
            </a:blipFill>
          </p:spPr>
        </p:sp>
        <p:sp>
          <p:nvSpPr>
            <p:cNvPr name="TextBox 33" id="33"/>
            <p:cNvSpPr txBox="true"/>
            <p:nvPr/>
          </p:nvSpPr>
          <p:spPr>
            <a:xfrm>
              <a:off x="0" y="-19050"/>
              <a:ext cx="5596128" cy="567690"/>
            </a:xfrm>
            <a:prstGeom prst="rect">
              <a:avLst/>
            </a:prstGeom>
          </p:spPr>
          <p:txBody>
            <a:bodyPr anchor="ctr" rtlCol="false" tIns="0" lIns="0" bIns="0" rIns="0"/>
            <a:lstStyle/>
            <a:p>
              <a:pPr algn="l">
                <a:lnSpc>
                  <a:spcPts val="1980"/>
                </a:lnSpc>
              </a:pPr>
              <a:r>
                <a:rPr lang="en-US" b="true" sz="1650" spc="210">
                  <a:solidFill>
                    <a:srgbClr val="585858"/>
                  </a:solidFill>
                  <a:latin typeface="Arial Bold"/>
                  <a:ea typeface="Arial Bold"/>
                  <a:cs typeface="Arial Bold"/>
                  <a:sym typeface="Arial Bold"/>
                </a:rPr>
                <a:t>DESELECT</a:t>
              </a:r>
            </a:p>
          </p:txBody>
        </p:sp>
      </p:grpSp>
      <p:grpSp>
        <p:nvGrpSpPr>
          <p:cNvPr name="Group 34" id="34"/>
          <p:cNvGrpSpPr/>
          <p:nvPr/>
        </p:nvGrpSpPr>
        <p:grpSpPr>
          <a:xfrm rot="0">
            <a:off x="4622292" y="6480810"/>
            <a:ext cx="4197096" cy="630936"/>
            <a:chOff x="0" y="0"/>
            <a:chExt cx="5596128" cy="841248"/>
          </a:xfrm>
        </p:grpSpPr>
        <p:sp>
          <p:nvSpPr>
            <p:cNvPr name="Freeform 35" id="35"/>
            <p:cNvSpPr/>
            <p:nvPr/>
          </p:nvSpPr>
          <p:spPr>
            <a:xfrm flipH="false" flipV="false" rot="0">
              <a:off x="0" y="0"/>
              <a:ext cx="5596128" cy="841248"/>
            </a:xfrm>
            <a:custGeom>
              <a:avLst/>
              <a:gdLst/>
              <a:ahLst/>
              <a:cxnLst/>
              <a:rect r="r" b="b" t="t" l="l"/>
              <a:pathLst>
                <a:path h="841248" w="5596128">
                  <a:moveTo>
                    <a:pt x="0" y="0"/>
                  </a:moveTo>
                  <a:lnTo>
                    <a:pt x="5596128" y="0"/>
                  </a:lnTo>
                  <a:lnTo>
                    <a:pt x="5596128" y="841248"/>
                  </a:lnTo>
                  <a:lnTo>
                    <a:pt x="0" y="841248"/>
                  </a:lnTo>
                  <a:close/>
                </a:path>
              </a:pathLst>
            </a:custGeom>
            <a:blipFill>
              <a:blip r:embed="rId2">
                <a:alphaModFix amt="0"/>
              </a:blip>
              <a:stretch>
                <a:fillRect l="0" t="-79617" r="0" b="-79617"/>
              </a:stretch>
            </a:blipFill>
          </p:spPr>
        </p:sp>
        <p:sp>
          <p:nvSpPr>
            <p:cNvPr name="TextBox 36" id="36"/>
            <p:cNvSpPr txBox="true"/>
            <p:nvPr/>
          </p:nvSpPr>
          <p:spPr>
            <a:xfrm>
              <a:off x="0" y="-19050"/>
              <a:ext cx="5596128" cy="860298"/>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585858"/>
                  </a:solidFill>
                  <a:latin typeface="Arial"/>
                  <a:ea typeface="Arial"/>
                  <a:cs typeface="Arial"/>
                  <a:sym typeface="Arial"/>
                </a:rPr>
                <a:t>Course-level redesign</a:t>
              </a:r>
            </a:p>
          </p:txBody>
        </p:sp>
      </p:grpSp>
      <p:grpSp>
        <p:nvGrpSpPr>
          <p:cNvPr name="Group 37" id="37"/>
          <p:cNvGrpSpPr/>
          <p:nvPr/>
        </p:nvGrpSpPr>
        <p:grpSpPr>
          <a:xfrm rot="0">
            <a:off x="9422892" y="5932170"/>
            <a:ext cx="4197096" cy="411480"/>
            <a:chOff x="0" y="0"/>
            <a:chExt cx="5596128" cy="548640"/>
          </a:xfrm>
        </p:grpSpPr>
        <p:sp>
          <p:nvSpPr>
            <p:cNvPr name="Freeform 38" id="38"/>
            <p:cNvSpPr/>
            <p:nvPr/>
          </p:nvSpPr>
          <p:spPr>
            <a:xfrm flipH="false" flipV="false" rot="0">
              <a:off x="0" y="0"/>
              <a:ext cx="5596128" cy="548640"/>
            </a:xfrm>
            <a:custGeom>
              <a:avLst/>
              <a:gdLst/>
              <a:ahLst/>
              <a:cxnLst/>
              <a:rect r="r" b="b" t="t" l="l"/>
              <a:pathLst>
                <a:path h="548640" w="5596128">
                  <a:moveTo>
                    <a:pt x="0" y="0"/>
                  </a:moveTo>
                  <a:lnTo>
                    <a:pt x="5596128" y="0"/>
                  </a:lnTo>
                  <a:lnTo>
                    <a:pt x="5596128" y="548640"/>
                  </a:lnTo>
                  <a:lnTo>
                    <a:pt x="0" y="548640"/>
                  </a:lnTo>
                  <a:close/>
                </a:path>
              </a:pathLst>
            </a:custGeom>
            <a:blipFill>
              <a:blip r:embed="rId2">
                <a:alphaModFix amt="0"/>
              </a:blip>
              <a:stretch>
                <a:fillRect l="0" t="-148747" r="0" b="-148747"/>
              </a:stretch>
            </a:blipFill>
          </p:spPr>
        </p:sp>
        <p:sp>
          <p:nvSpPr>
            <p:cNvPr name="TextBox 39" id="39"/>
            <p:cNvSpPr txBox="true"/>
            <p:nvPr/>
          </p:nvSpPr>
          <p:spPr>
            <a:xfrm>
              <a:off x="0" y="-19050"/>
              <a:ext cx="5596128" cy="567690"/>
            </a:xfrm>
            <a:prstGeom prst="rect">
              <a:avLst/>
            </a:prstGeom>
          </p:spPr>
          <p:txBody>
            <a:bodyPr anchor="ctr" rtlCol="false" tIns="0" lIns="0" bIns="0" rIns="0"/>
            <a:lstStyle/>
            <a:p>
              <a:pPr algn="l">
                <a:lnSpc>
                  <a:spcPts val="1980"/>
                </a:lnSpc>
              </a:pPr>
              <a:r>
                <a:rPr lang="en-US" b="true" sz="1650" spc="210">
                  <a:solidFill>
                    <a:srgbClr val="7500C0"/>
                  </a:solidFill>
                  <a:latin typeface="Arial Bold"/>
                  <a:ea typeface="Arial Bold"/>
                  <a:cs typeface="Arial Bold"/>
                  <a:sym typeface="Arial Bold"/>
                </a:rPr>
                <a:t>QUICK WINS</a:t>
              </a:r>
            </a:p>
          </p:txBody>
        </p:sp>
      </p:grpSp>
      <p:grpSp>
        <p:nvGrpSpPr>
          <p:cNvPr name="Group 40" id="40"/>
          <p:cNvGrpSpPr/>
          <p:nvPr/>
        </p:nvGrpSpPr>
        <p:grpSpPr>
          <a:xfrm rot="0">
            <a:off x="9422892" y="6480810"/>
            <a:ext cx="4197096" cy="630936"/>
            <a:chOff x="0" y="0"/>
            <a:chExt cx="5596128" cy="841248"/>
          </a:xfrm>
        </p:grpSpPr>
        <p:sp>
          <p:nvSpPr>
            <p:cNvPr name="Freeform 41" id="41"/>
            <p:cNvSpPr/>
            <p:nvPr/>
          </p:nvSpPr>
          <p:spPr>
            <a:xfrm flipH="false" flipV="false" rot="0">
              <a:off x="0" y="0"/>
              <a:ext cx="5596128" cy="841248"/>
            </a:xfrm>
            <a:custGeom>
              <a:avLst/>
              <a:gdLst/>
              <a:ahLst/>
              <a:cxnLst/>
              <a:rect r="r" b="b" t="t" l="l"/>
              <a:pathLst>
                <a:path h="841248" w="5596128">
                  <a:moveTo>
                    <a:pt x="0" y="0"/>
                  </a:moveTo>
                  <a:lnTo>
                    <a:pt x="5596128" y="0"/>
                  </a:lnTo>
                  <a:lnTo>
                    <a:pt x="5596128" y="841248"/>
                  </a:lnTo>
                  <a:lnTo>
                    <a:pt x="0" y="841248"/>
                  </a:lnTo>
                  <a:close/>
                </a:path>
              </a:pathLst>
            </a:custGeom>
            <a:blipFill>
              <a:blip r:embed="rId2">
                <a:alphaModFix amt="0"/>
              </a:blip>
              <a:stretch>
                <a:fillRect l="0" t="-79617" r="0" b="-79617"/>
              </a:stretch>
            </a:blipFill>
          </p:spPr>
        </p:sp>
        <p:sp>
          <p:nvSpPr>
            <p:cNvPr name="TextBox 42" id="42"/>
            <p:cNvSpPr txBox="true"/>
            <p:nvPr/>
          </p:nvSpPr>
          <p:spPr>
            <a:xfrm>
              <a:off x="0" y="-19050"/>
              <a:ext cx="5596128" cy="860298"/>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000000"/>
                  </a:solidFill>
                  <a:latin typeface="Arial"/>
                  <a:ea typeface="Arial"/>
                  <a:cs typeface="Arial"/>
                  <a:sym typeface="Arial"/>
                </a:rPr>
                <a:t>Replace progress% with engagement metrics</a:t>
              </a:r>
            </a:p>
          </p:txBody>
        </p:sp>
      </p:grpSp>
      <p:grpSp>
        <p:nvGrpSpPr>
          <p:cNvPr name="Group 43" id="43"/>
          <p:cNvGrpSpPr/>
          <p:nvPr/>
        </p:nvGrpSpPr>
        <p:grpSpPr>
          <a:xfrm rot="0">
            <a:off x="9422892" y="7166610"/>
            <a:ext cx="4197096" cy="630936"/>
            <a:chOff x="0" y="0"/>
            <a:chExt cx="5596128" cy="841248"/>
          </a:xfrm>
        </p:grpSpPr>
        <p:sp>
          <p:nvSpPr>
            <p:cNvPr name="Freeform 44" id="44"/>
            <p:cNvSpPr/>
            <p:nvPr/>
          </p:nvSpPr>
          <p:spPr>
            <a:xfrm flipH="false" flipV="false" rot="0">
              <a:off x="0" y="0"/>
              <a:ext cx="5596128" cy="841248"/>
            </a:xfrm>
            <a:custGeom>
              <a:avLst/>
              <a:gdLst/>
              <a:ahLst/>
              <a:cxnLst/>
              <a:rect r="r" b="b" t="t" l="l"/>
              <a:pathLst>
                <a:path h="841248" w="5596128">
                  <a:moveTo>
                    <a:pt x="0" y="0"/>
                  </a:moveTo>
                  <a:lnTo>
                    <a:pt x="5596128" y="0"/>
                  </a:lnTo>
                  <a:lnTo>
                    <a:pt x="5596128" y="841248"/>
                  </a:lnTo>
                  <a:lnTo>
                    <a:pt x="0" y="841248"/>
                  </a:lnTo>
                  <a:close/>
                </a:path>
              </a:pathLst>
            </a:custGeom>
            <a:blipFill>
              <a:blip r:embed="rId2">
                <a:alphaModFix amt="0"/>
              </a:blip>
              <a:stretch>
                <a:fillRect l="0" t="-79617" r="0" b="-79617"/>
              </a:stretch>
            </a:blipFill>
          </p:spPr>
        </p:sp>
        <p:sp>
          <p:nvSpPr>
            <p:cNvPr name="TextBox 45" id="45"/>
            <p:cNvSpPr txBox="true"/>
            <p:nvPr/>
          </p:nvSpPr>
          <p:spPr>
            <a:xfrm>
              <a:off x="0" y="-19050"/>
              <a:ext cx="5596128" cy="860298"/>
            </a:xfrm>
            <a:prstGeom prst="rect">
              <a:avLst/>
            </a:prstGeom>
          </p:spPr>
          <p:txBody>
            <a:bodyPr anchor="ctr" rtlCol="false" tIns="0" lIns="0" bIns="0" rIns="0"/>
            <a:lstStyle/>
            <a:p>
              <a:pPr algn="l" marL="325755" indent="-162878" lvl="1">
                <a:lnSpc>
                  <a:spcPts val="2160"/>
                </a:lnSpc>
                <a:buFont typeface="Arial"/>
                <a:buChar char="•"/>
              </a:pPr>
              <a:r>
                <a:rPr lang="en-US" sz="1800">
                  <a:solidFill>
                    <a:srgbClr val="000000"/>
                  </a:solidFill>
                  <a:latin typeface="Arial"/>
                  <a:ea typeface="Arial"/>
                  <a:cs typeface="Arial"/>
                  <a:sym typeface="Arial"/>
                </a:rPr>
                <a:t>Low-bandwidth content mode</a:t>
              </a:r>
            </a:p>
          </p:txBody>
        </p:sp>
      </p:grpSp>
      <p:grpSp>
        <p:nvGrpSpPr>
          <p:cNvPr name="Group 46" id="46"/>
          <p:cNvGrpSpPr/>
          <p:nvPr/>
        </p:nvGrpSpPr>
        <p:grpSpPr>
          <a:xfrm rot="-5400000">
            <a:off x="2057400" y="4423410"/>
            <a:ext cx="2057400" cy="2468880"/>
            <a:chOff x="0" y="0"/>
            <a:chExt cx="2743200" cy="3291840"/>
          </a:xfrm>
        </p:grpSpPr>
        <p:sp>
          <p:nvSpPr>
            <p:cNvPr name="Freeform 47" id="47"/>
            <p:cNvSpPr/>
            <p:nvPr/>
          </p:nvSpPr>
          <p:spPr>
            <a:xfrm flipH="false" flipV="false" rot="0">
              <a:off x="0" y="0"/>
              <a:ext cx="2743200" cy="3291840"/>
            </a:xfrm>
            <a:custGeom>
              <a:avLst/>
              <a:gdLst/>
              <a:ahLst/>
              <a:cxnLst/>
              <a:rect r="r" b="b" t="t" l="l"/>
              <a:pathLst>
                <a:path h="3291840" w="2743200">
                  <a:moveTo>
                    <a:pt x="0" y="0"/>
                  </a:moveTo>
                  <a:lnTo>
                    <a:pt x="2743200" y="0"/>
                  </a:lnTo>
                  <a:lnTo>
                    <a:pt x="2743200" y="3291840"/>
                  </a:lnTo>
                  <a:lnTo>
                    <a:pt x="0" y="3291840"/>
                  </a:lnTo>
                  <a:close/>
                </a:path>
              </a:pathLst>
            </a:custGeom>
            <a:blipFill>
              <a:blip r:embed="rId2">
                <a:alphaModFix amt="0"/>
              </a:blip>
              <a:stretch>
                <a:fillRect l="-103964" t="0" r="-103964" b="0"/>
              </a:stretch>
            </a:blipFill>
          </p:spPr>
        </p:sp>
        <p:sp>
          <p:nvSpPr>
            <p:cNvPr name="TextBox 48" id="48"/>
            <p:cNvSpPr txBox="true"/>
            <p:nvPr/>
          </p:nvSpPr>
          <p:spPr>
            <a:xfrm>
              <a:off x="0" y="-19050"/>
              <a:ext cx="2743200" cy="3310890"/>
            </a:xfrm>
            <a:prstGeom prst="rect">
              <a:avLst/>
            </a:prstGeom>
          </p:spPr>
          <p:txBody>
            <a:bodyPr anchor="ctr" rtlCol="false" tIns="0" lIns="0" bIns="0" rIns="0"/>
            <a:lstStyle/>
            <a:p>
              <a:pPr algn="ctr">
                <a:lnSpc>
                  <a:spcPts val="1980"/>
                </a:lnSpc>
              </a:pPr>
              <a:r>
                <a:rPr lang="en-US" sz="1650" b="true">
                  <a:solidFill>
                    <a:srgbClr val="585858"/>
                  </a:solidFill>
                  <a:latin typeface="Arial Bold"/>
                  <a:ea typeface="Arial Bold"/>
                  <a:cs typeface="Arial Bold"/>
                  <a:sym typeface="Arial Bold"/>
                </a:rPr>
                <a:t>BUSINESS IMPACT</a:t>
              </a:r>
            </a:p>
          </p:txBody>
        </p:sp>
      </p:grpSp>
      <p:grpSp>
        <p:nvGrpSpPr>
          <p:cNvPr name="Group 49" id="49"/>
          <p:cNvGrpSpPr/>
          <p:nvPr/>
        </p:nvGrpSpPr>
        <p:grpSpPr>
          <a:xfrm rot="0">
            <a:off x="3429000" y="2880360"/>
            <a:ext cx="754380" cy="411480"/>
            <a:chOff x="0" y="0"/>
            <a:chExt cx="1005840" cy="548640"/>
          </a:xfrm>
        </p:grpSpPr>
        <p:sp>
          <p:nvSpPr>
            <p:cNvPr name="Freeform 50" id="50"/>
            <p:cNvSpPr/>
            <p:nvPr/>
          </p:nvSpPr>
          <p:spPr>
            <a:xfrm flipH="false" flipV="false" rot="0">
              <a:off x="0" y="0"/>
              <a:ext cx="1005840" cy="548640"/>
            </a:xfrm>
            <a:custGeom>
              <a:avLst/>
              <a:gdLst/>
              <a:ahLst/>
              <a:cxnLst/>
              <a:rect r="r" b="b" t="t" l="l"/>
              <a:pathLst>
                <a:path h="548640" w="1005840">
                  <a:moveTo>
                    <a:pt x="0" y="0"/>
                  </a:moveTo>
                  <a:lnTo>
                    <a:pt x="1005840" y="0"/>
                  </a:lnTo>
                  <a:lnTo>
                    <a:pt x="1005840" y="548640"/>
                  </a:lnTo>
                  <a:lnTo>
                    <a:pt x="0" y="548640"/>
                  </a:lnTo>
                  <a:close/>
                </a:path>
              </a:pathLst>
            </a:custGeom>
            <a:blipFill>
              <a:blip r:embed="rId2">
                <a:alphaModFix amt="0"/>
              </a:blip>
              <a:stretch>
                <a:fillRect l="-19983" t="0" r="-19983" b="0"/>
              </a:stretch>
            </a:blipFill>
          </p:spPr>
        </p:sp>
        <p:sp>
          <p:nvSpPr>
            <p:cNvPr name="TextBox 51" id="51"/>
            <p:cNvSpPr txBox="true"/>
            <p:nvPr/>
          </p:nvSpPr>
          <p:spPr>
            <a:xfrm>
              <a:off x="0" y="-19050"/>
              <a:ext cx="1005840" cy="567690"/>
            </a:xfrm>
            <a:prstGeom prst="rect">
              <a:avLst/>
            </a:prstGeom>
          </p:spPr>
          <p:txBody>
            <a:bodyPr anchor="ctr" rtlCol="false" tIns="0" lIns="0" bIns="0" rIns="0"/>
            <a:lstStyle/>
            <a:p>
              <a:pPr algn="r">
                <a:lnSpc>
                  <a:spcPts val="1709"/>
                </a:lnSpc>
              </a:pPr>
              <a:r>
                <a:rPr lang="en-US" b="true" sz="1425">
                  <a:solidFill>
                    <a:srgbClr val="847D7D"/>
                  </a:solidFill>
                  <a:latin typeface="Arial Bold"/>
                  <a:ea typeface="Arial Bold"/>
                  <a:cs typeface="Arial Bold"/>
                  <a:sym typeface="Arial Bold"/>
                </a:rPr>
                <a:t>HIGH</a:t>
              </a:r>
            </a:p>
          </p:txBody>
        </p:sp>
      </p:grpSp>
      <p:grpSp>
        <p:nvGrpSpPr>
          <p:cNvPr name="Group 52" id="52"/>
          <p:cNvGrpSpPr/>
          <p:nvPr/>
        </p:nvGrpSpPr>
        <p:grpSpPr>
          <a:xfrm rot="0">
            <a:off x="3429000" y="8023860"/>
            <a:ext cx="754380" cy="411480"/>
            <a:chOff x="0" y="0"/>
            <a:chExt cx="1005840" cy="548640"/>
          </a:xfrm>
        </p:grpSpPr>
        <p:sp>
          <p:nvSpPr>
            <p:cNvPr name="Freeform 53" id="53"/>
            <p:cNvSpPr/>
            <p:nvPr/>
          </p:nvSpPr>
          <p:spPr>
            <a:xfrm flipH="false" flipV="false" rot="0">
              <a:off x="0" y="0"/>
              <a:ext cx="1005840" cy="548640"/>
            </a:xfrm>
            <a:custGeom>
              <a:avLst/>
              <a:gdLst/>
              <a:ahLst/>
              <a:cxnLst/>
              <a:rect r="r" b="b" t="t" l="l"/>
              <a:pathLst>
                <a:path h="548640" w="1005840">
                  <a:moveTo>
                    <a:pt x="0" y="0"/>
                  </a:moveTo>
                  <a:lnTo>
                    <a:pt x="1005840" y="0"/>
                  </a:lnTo>
                  <a:lnTo>
                    <a:pt x="1005840" y="548640"/>
                  </a:lnTo>
                  <a:lnTo>
                    <a:pt x="0" y="548640"/>
                  </a:lnTo>
                  <a:close/>
                </a:path>
              </a:pathLst>
            </a:custGeom>
            <a:blipFill>
              <a:blip r:embed="rId2">
                <a:alphaModFix amt="0"/>
              </a:blip>
              <a:stretch>
                <a:fillRect l="-19983" t="0" r="-19983" b="0"/>
              </a:stretch>
            </a:blipFill>
          </p:spPr>
        </p:sp>
        <p:sp>
          <p:nvSpPr>
            <p:cNvPr name="TextBox 54" id="54"/>
            <p:cNvSpPr txBox="true"/>
            <p:nvPr/>
          </p:nvSpPr>
          <p:spPr>
            <a:xfrm>
              <a:off x="0" y="-19050"/>
              <a:ext cx="1005840" cy="567690"/>
            </a:xfrm>
            <a:prstGeom prst="rect">
              <a:avLst/>
            </a:prstGeom>
          </p:spPr>
          <p:txBody>
            <a:bodyPr anchor="ctr" rtlCol="false" tIns="0" lIns="0" bIns="0" rIns="0"/>
            <a:lstStyle/>
            <a:p>
              <a:pPr algn="r">
                <a:lnSpc>
                  <a:spcPts val="1709"/>
                </a:lnSpc>
              </a:pPr>
              <a:r>
                <a:rPr lang="en-US" b="true" sz="1425">
                  <a:solidFill>
                    <a:srgbClr val="A6A6A6"/>
                  </a:solidFill>
                  <a:latin typeface="Arial Bold"/>
                  <a:ea typeface="Arial Bold"/>
                  <a:cs typeface="Arial Bold"/>
                  <a:sym typeface="Arial Bold"/>
                </a:rPr>
                <a:t>LOW</a:t>
              </a:r>
            </a:p>
          </p:txBody>
        </p:sp>
      </p:grpSp>
      <p:grpSp>
        <p:nvGrpSpPr>
          <p:cNvPr name="Group 55" id="55"/>
          <p:cNvGrpSpPr/>
          <p:nvPr/>
        </p:nvGrpSpPr>
        <p:grpSpPr>
          <a:xfrm rot="0">
            <a:off x="4320540" y="8641080"/>
            <a:ext cx="9601200" cy="411480"/>
            <a:chOff x="0" y="0"/>
            <a:chExt cx="12801600" cy="548640"/>
          </a:xfrm>
        </p:grpSpPr>
        <p:sp>
          <p:nvSpPr>
            <p:cNvPr name="Freeform 56" id="56"/>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2">
                <a:alphaModFix amt="0"/>
              </a:blip>
              <a:stretch>
                <a:fillRect l="0" t="-404650" r="0" b="-404650"/>
              </a:stretch>
            </a:blipFill>
          </p:spPr>
        </p:sp>
        <p:sp>
          <p:nvSpPr>
            <p:cNvPr name="TextBox 57" id="57"/>
            <p:cNvSpPr txBox="true"/>
            <p:nvPr/>
          </p:nvSpPr>
          <p:spPr>
            <a:xfrm>
              <a:off x="0" y="-19050"/>
              <a:ext cx="12801600" cy="567690"/>
            </a:xfrm>
            <a:prstGeom prst="rect">
              <a:avLst/>
            </a:prstGeom>
          </p:spPr>
          <p:txBody>
            <a:bodyPr anchor="ctr" rtlCol="false" tIns="0" lIns="0" bIns="0" rIns="0"/>
            <a:lstStyle/>
            <a:p>
              <a:pPr algn="ctr">
                <a:lnSpc>
                  <a:spcPts val="1980"/>
                </a:lnSpc>
              </a:pPr>
              <a:r>
                <a:rPr lang="en-US" sz="1650" b="true">
                  <a:solidFill>
                    <a:srgbClr val="585858"/>
                  </a:solidFill>
                  <a:latin typeface="Arial Bold"/>
                  <a:ea typeface="Arial Bold"/>
                  <a:cs typeface="Arial Bold"/>
                  <a:sym typeface="Arial Bold"/>
                </a:rPr>
                <a:t>EASE OF IMPLEMENTATION</a:t>
              </a:r>
            </a:p>
          </p:txBody>
        </p:sp>
      </p:grpSp>
      <p:grpSp>
        <p:nvGrpSpPr>
          <p:cNvPr name="Group 58" id="58"/>
          <p:cNvGrpSpPr/>
          <p:nvPr/>
        </p:nvGrpSpPr>
        <p:grpSpPr>
          <a:xfrm rot="0">
            <a:off x="4457700" y="8641080"/>
            <a:ext cx="1645920" cy="411480"/>
            <a:chOff x="0" y="0"/>
            <a:chExt cx="2194560" cy="548640"/>
          </a:xfrm>
        </p:grpSpPr>
        <p:sp>
          <p:nvSpPr>
            <p:cNvPr name="Freeform 59" id="59"/>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2">
                <a:alphaModFix amt="0"/>
              </a:blip>
              <a:stretch>
                <a:fillRect l="0" t="-27940" r="0" b="-27940"/>
              </a:stretch>
            </a:blipFill>
          </p:spPr>
        </p:sp>
        <p:sp>
          <p:nvSpPr>
            <p:cNvPr name="TextBox 60" id="60"/>
            <p:cNvSpPr txBox="true"/>
            <p:nvPr/>
          </p:nvSpPr>
          <p:spPr>
            <a:xfrm>
              <a:off x="0" y="-19050"/>
              <a:ext cx="2194560" cy="567690"/>
            </a:xfrm>
            <a:prstGeom prst="rect">
              <a:avLst/>
            </a:prstGeom>
          </p:spPr>
          <p:txBody>
            <a:bodyPr anchor="ctr" rtlCol="false" tIns="0" lIns="0" bIns="0" rIns="0"/>
            <a:lstStyle/>
            <a:p>
              <a:pPr algn="l">
                <a:lnSpc>
                  <a:spcPts val="1709"/>
                </a:lnSpc>
              </a:pPr>
              <a:r>
                <a:rPr lang="en-US" b="true" sz="1425">
                  <a:solidFill>
                    <a:srgbClr val="847D7D"/>
                  </a:solidFill>
                  <a:latin typeface="Arial Bold"/>
                  <a:ea typeface="Arial Bold"/>
                  <a:cs typeface="Arial Bold"/>
                  <a:sym typeface="Arial Bold"/>
                </a:rPr>
                <a:t>HARDER</a:t>
              </a:r>
            </a:p>
          </p:txBody>
        </p:sp>
      </p:grpSp>
      <p:grpSp>
        <p:nvGrpSpPr>
          <p:cNvPr name="Group 61" id="61"/>
          <p:cNvGrpSpPr/>
          <p:nvPr/>
        </p:nvGrpSpPr>
        <p:grpSpPr>
          <a:xfrm rot="0">
            <a:off x="12138660" y="8641080"/>
            <a:ext cx="1645920" cy="411480"/>
            <a:chOff x="0" y="0"/>
            <a:chExt cx="2194560" cy="548640"/>
          </a:xfrm>
        </p:grpSpPr>
        <p:sp>
          <p:nvSpPr>
            <p:cNvPr name="Freeform 62" id="62"/>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2">
                <a:alphaModFix amt="0"/>
              </a:blip>
              <a:stretch>
                <a:fillRect l="0" t="-27940" r="0" b="-27940"/>
              </a:stretch>
            </a:blipFill>
          </p:spPr>
        </p:sp>
        <p:sp>
          <p:nvSpPr>
            <p:cNvPr name="TextBox 63" id="63"/>
            <p:cNvSpPr txBox="true"/>
            <p:nvPr/>
          </p:nvSpPr>
          <p:spPr>
            <a:xfrm>
              <a:off x="0" y="-19050"/>
              <a:ext cx="2194560" cy="567690"/>
            </a:xfrm>
            <a:prstGeom prst="rect">
              <a:avLst/>
            </a:prstGeom>
          </p:spPr>
          <p:txBody>
            <a:bodyPr anchor="ctr" rtlCol="false" tIns="0" lIns="0" bIns="0" rIns="0"/>
            <a:lstStyle/>
            <a:p>
              <a:pPr algn="r">
                <a:lnSpc>
                  <a:spcPts val="1709"/>
                </a:lnSpc>
              </a:pPr>
              <a:r>
                <a:rPr lang="en-US" sz="1425" b="true">
                  <a:solidFill>
                    <a:srgbClr val="A6A6A6"/>
                  </a:solidFill>
                  <a:latin typeface="Arial Bold"/>
                  <a:ea typeface="Arial Bold"/>
                  <a:cs typeface="Arial Bold"/>
                  <a:sym typeface="Arial Bold"/>
                </a:rPr>
                <a:t>EASIER</a:t>
              </a:r>
            </a:p>
          </p:txBody>
        </p:sp>
      </p:grpSp>
      <p:grpSp>
        <p:nvGrpSpPr>
          <p:cNvPr name="Group 64" id="64"/>
          <p:cNvGrpSpPr/>
          <p:nvPr/>
        </p:nvGrpSpPr>
        <p:grpSpPr>
          <a:xfrm rot="0">
            <a:off x="14264640" y="2811780"/>
            <a:ext cx="3291840" cy="438912"/>
            <a:chOff x="0" y="0"/>
            <a:chExt cx="4389120" cy="585216"/>
          </a:xfrm>
        </p:grpSpPr>
        <p:sp>
          <p:nvSpPr>
            <p:cNvPr name="Freeform 65" id="65"/>
            <p:cNvSpPr/>
            <p:nvPr/>
          </p:nvSpPr>
          <p:spPr>
            <a:xfrm flipH="false" flipV="false" rot="0">
              <a:off x="0" y="0"/>
              <a:ext cx="4389120" cy="585216"/>
            </a:xfrm>
            <a:custGeom>
              <a:avLst/>
              <a:gdLst/>
              <a:ahLst/>
              <a:cxnLst/>
              <a:rect r="r" b="b" t="t" l="l"/>
              <a:pathLst>
                <a:path h="585216" w="4389120">
                  <a:moveTo>
                    <a:pt x="0" y="0"/>
                  </a:moveTo>
                  <a:lnTo>
                    <a:pt x="4389120" y="0"/>
                  </a:lnTo>
                  <a:lnTo>
                    <a:pt x="4389120" y="585216"/>
                  </a:lnTo>
                  <a:lnTo>
                    <a:pt x="0" y="585216"/>
                  </a:lnTo>
                  <a:close/>
                </a:path>
              </a:pathLst>
            </a:custGeom>
            <a:blipFill>
              <a:blip r:embed="rId2">
                <a:alphaModFix amt="0"/>
              </a:blip>
              <a:stretch>
                <a:fillRect l="0" t="-96137" r="0" b="-96137"/>
              </a:stretch>
            </a:blipFill>
          </p:spPr>
        </p:sp>
        <p:sp>
          <p:nvSpPr>
            <p:cNvPr name="TextBox 66" id="66"/>
            <p:cNvSpPr txBox="true"/>
            <p:nvPr/>
          </p:nvSpPr>
          <p:spPr>
            <a:xfrm>
              <a:off x="0" y="-19050"/>
              <a:ext cx="4389120" cy="604266"/>
            </a:xfrm>
            <a:prstGeom prst="rect">
              <a:avLst/>
            </a:prstGeom>
          </p:spPr>
          <p:txBody>
            <a:bodyPr anchor="ctr" rtlCol="false" tIns="0" lIns="0" bIns="0" rIns="0"/>
            <a:lstStyle/>
            <a:p>
              <a:pPr algn="l">
                <a:lnSpc>
                  <a:spcPts val="2340"/>
                </a:lnSpc>
              </a:pPr>
              <a:r>
                <a:rPr lang="en-US" sz="1950" b="true">
                  <a:solidFill>
                    <a:srgbClr val="A100FF"/>
                  </a:solidFill>
                  <a:latin typeface="Arial Bold"/>
                  <a:ea typeface="Arial Bold"/>
                  <a:cs typeface="Arial Bold"/>
                  <a:sym typeface="Arial Bold"/>
                </a:rPr>
                <a:t>What this says</a:t>
              </a:r>
            </a:p>
          </p:txBody>
        </p:sp>
      </p:grpSp>
      <p:grpSp>
        <p:nvGrpSpPr>
          <p:cNvPr name="Group 67" id="67"/>
          <p:cNvGrpSpPr/>
          <p:nvPr/>
        </p:nvGrpSpPr>
        <p:grpSpPr>
          <a:xfrm rot="0">
            <a:off x="14264640" y="3319272"/>
            <a:ext cx="3291840" cy="5074920"/>
            <a:chOff x="0" y="0"/>
            <a:chExt cx="4389120" cy="6766560"/>
          </a:xfrm>
        </p:grpSpPr>
        <p:sp>
          <p:nvSpPr>
            <p:cNvPr name="Freeform 68" id="68"/>
            <p:cNvSpPr/>
            <p:nvPr/>
          </p:nvSpPr>
          <p:spPr>
            <a:xfrm flipH="false" flipV="false" rot="0">
              <a:off x="0" y="0"/>
              <a:ext cx="4389120" cy="6766560"/>
            </a:xfrm>
            <a:custGeom>
              <a:avLst/>
              <a:gdLst/>
              <a:ahLst/>
              <a:cxnLst/>
              <a:rect r="r" b="b" t="t" l="l"/>
              <a:pathLst>
                <a:path h="6766560" w="4389120">
                  <a:moveTo>
                    <a:pt x="0" y="0"/>
                  </a:moveTo>
                  <a:lnTo>
                    <a:pt x="4389120" y="0"/>
                  </a:lnTo>
                  <a:lnTo>
                    <a:pt x="4389120" y="6766560"/>
                  </a:lnTo>
                  <a:lnTo>
                    <a:pt x="0" y="6766560"/>
                  </a:lnTo>
                  <a:close/>
                </a:path>
              </a:pathLst>
            </a:custGeom>
            <a:blipFill>
              <a:blip r:embed="rId2">
                <a:alphaModFix amt="0"/>
              </a:blip>
              <a:stretch>
                <a:fillRect l="-147801" t="0" r="-147801" b="0"/>
              </a:stretch>
            </a:blipFill>
          </p:spPr>
        </p:sp>
        <p:sp>
          <p:nvSpPr>
            <p:cNvPr name="TextBox 69" id="69"/>
            <p:cNvSpPr txBox="true"/>
            <p:nvPr/>
          </p:nvSpPr>
          <p:spPr>
            <a:xfrm>
              <a:off x="0" y="-19050"/>
              <a:ext cx="4389120" cy="6785610"/>
            </a:xfrm>
            <a:prstGeom prst="rect">
              <a:avLst/>
            </a:prstGeom>
          </p:spPr>
          <p:txBody>
            <a:bodyPr anchor="ctr" rtlCol="false" tIns="0" lIns="0" bIns="0" rIns="0"/>
            <a:lstStyle/>
            <a:p>
              <a:pPr algn="l">
                <a:lnSpc>
                  <a:spcPts val="1980"/>
                </a:lnSpc>
              </a:pPr>
              <a:r>
                <a:rPr lang="en-US" sz="1650">
                  <a:solidFill>
                    <a:srgbClr val="000000"/>
                  </a:solidFill>
                  <a:latin typeface="Arial"/>
                  <a:ea typeface="Arial"/>
                  <a:cs typeface="Arial"/>
                  <a:sym typeface="Arial"/>
                </a:rPr>
                <a:t>The two highest-impact actions are also among the cheapest. Both are dashboard and messaging changes, not product rebuilds.</a:t>
              </a:r>
            </a:p>
            <a:p>
              <a:pPr algn="l">
                <a:lnSpc>
                  <a:spcPts val="1980"/>
                </a:lnSpc>
              </a:pPr>
            </a:p>
            <a:p>
              <a:pPr algn="l">
                <a:lnSpc>
                  <a:spcPts val="1980"/>
                </a:lnSpc>
              </a:pPr>
              <a:r>
                <a:rPr lang="en-US" sz="1650">
                  <a:solidFill>
                    <a:srgbClr val="000000"/>
                  </a:solidFill>
                  <a:latin typeface="Arial"/>
                  <a:ea typeface="Arial"/>
                  <a:cs typeface="Arial"/>
                  <a:sym typeface="Arial"/>
                </a:rPr>
                <a:t>The one genuinely expensive item, instrumenting time-stamped activity, is what unlocks the early-warning claim we cannot yet prove.</a:t>
              </a:r>
            </a:p>
            <a:p>
              <a:pPr algn="l">
                <a:lnSpc>
                  <a:spcPts val="1980"/>
                </a:lnSpc>
              </a:pPr>
            </a:p>
            <a:p>
              <a:pPr algn="l">
                <a:lnSpc>
                  <a:spcPts val="1980"/>
                </a:lnSpc>
              </a:pPr>
              <a:r>
                <a:rPr lang="en-US" sz="1650">
                  <a:solidFill>
                    <a:srgbClr val="000000"/>
                  </a:solidFill>
                  <a:latin typeface="Arial"/>
                  <a:ea typeface="Arial"/>
                  <a:cs typeface="Arial"/>
                  <a:sym typeface="Arial"/>
                </a:rPr>
                <a:t>Course redesign sits alone in deselect, and the data is what put it there.</a:t>
              </a:r>
            </a:p>
          </p:txBody>
        </p:sp>
      </p:grpSp>
      <p:grpSp>
        <p:nvGrpSpPr>
          <p:cNvPr name="Group 70" id="70"/>
          <p:cNvGrpSpPr/>
          <p:nvPr/>
        </p:nvGrpSpPr>
        <p:grpSpPr>
          <a:xfrm rot="0">
            <a:off x="10424160" y="411480"/>
            <a:ext cx="5966460" cy="342900"/>
            <a:chOff x="0" y="0"/>
            <a:chExt cx="7955280" cy="457200"/>
          </a:xfrm>
        </p:grpSpPr>
        <p:sp>
          <p:nvSpPr>
            <p:cNvPr name="Freeform 71" id="71"/>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72" id="72"/>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73" id="73"/>
          <p:cNvGrpSpPr/>
          <p:nvPr/>
        </p:nvGrpSpPr>
        <p:grpSpPr>
          <a:xfrm rot="0">
            <a:off x="16486632" y="411480"/>
            <a:ext cx="205740" cy="342900"/>
            <a:chOff x="0" y="0"/>
            <a:chExt cx="274320" cy="457200"/>
          </a:xfrm>
        </p:grpSpPr>
        <p:sp>
          <p:nvSpPr>
            <p:cNvPr name="Freeform 74" id="74"/>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75" id="75"/>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76" id="76"/>
          <p:cNvGrpSpPr/>
          <p:nvPr/>
        </p:nvGrpSpPr>
        <p:grpSpPr>
          <a:xfrm rot="0">
            <a:off x="16664940" y="411480"/>
            <a:ext cx="685800" cy="342900"/>
            <a:chOff x="0" y="0"/>
            <a:chExt cx="914400" cy="457200"/>
          </a:xfrm>
        </p:grpSpPr>
        <p:sp>
          <p:nvSpPr>
            <p:cNvPr name="Freeform 77" id="77"/>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78" id="78"/>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14</a:t>
              </a:r>
            </a:p>
          </p:txBody>
        </p:sp>
      </p:grpSp>
      <p:grpSp>
        <p:nvGrpSpPr>
          <p:cNvPr name="Group 79" id="79"/>
          <p:cNvGrpSpPr/>
          <p:nvPr/>
        </p:nvGrpSpPr>
        <p:grpSpPr>
          <a:xfrm rot="0">
            <a:off x="987552" y="9601200"/>
            <a:ext cx="8229600" cy="342900"/>
            <a:chOff x="0" y="0"/>
            <a:chExt cx="10972800" cy="457200"/>
          </a:xfrm>
        </p:grpSpPr>
        <p:sp>
          <p:nvSpPr>
            <p:cNvPr name="Freeform 80" id="80"/>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81" id="81"/>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82" id="82"/>
          <p:cNvGrpSpPr/>
          <p:nvPr/>
        </p:nvGrpSpPr>
        <p:grpSpPr>
          <a:xfrm rot="0">
            <a:off x="0" y="9464040"/>
            <a:ext cx="18288000" cy="822960"/>
            <a:chOff x="0" y="0"/>
            <a:chExt cx="24384000" cy="1097280"/>
          </a:xfrm>
        </p:grpSpPr>
        <p:grpSp>
          <p:nvGrpSpPr>
            <p:cNvPr name="Group 83" id="83"/>
            <p:cNvGrpSpPr/>
            <p:nvPr/>
          </p:nvGrpSpPr>
          <p:grpSpPr>
            <a:xfrm rot="0">
              <a:off x="0" y="0"/>
              <a:ext cx="24384000" cy="1097280"/>
              <a:chOff x="0" y="0"/>
              <a:chExt cx="16256000" cy="731520"/>
            </a:xfrm>
          </p:grpSpPr>
          <p:sp>
            <p:nvSpPr>
              <p:cNvPr name="Freeform 84" id="84">
                <a:hlinkClick r:id="rId3"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4"/>
                <a:stretch>
                  <a:fillRect l="0" t="0" r="-45" b="-609"/>
                </a:stretch>
              </a:blipFill>
            </p:spPr>
          </p:sp>
        </p:grpSp>
        <p:grpSp>
          <p:nvGrpSpPr>
            <p:cNvPr name="Group 85" id="85"/>
            <p:cNvGrpSpPr/>
            <p:nvPr/>
          </p:nvGrpSpPr>
          <p:grpSpPr>
            <a:xfrm rot="0">
              <a:off x="1316736" y="182880"/>
              <a:ext cx="10972800" cy="457200"/>
              <a:chOff x="0" y="0"/>
              <a:chExt cx="10972800" cy="457200"/>
            </a:xfrm>
          </p:grpSpPr>
          <p:sp>
            <p:nvSpPr>
              <p:cNvPr name="Freeform 86" id="86">
                <a:hlinkClick r:id="rId5" tooltip="https://canva.link/j1m0vdglw23sasg"/>
              </p:cNvPr>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87" id="87"/>
              <p:cNvSpPr txBox="true"/>
              <p:nvPr/>
            </p:nvSpPr>
            <p:spPr>
              <a:xfrm>
                <a:off x="0" y="-19050"/>
                <a:ext cx="10972800" cy="476250"/>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6" tooltip="https://canva.link/j1m0vdglw23sasg"/>
                  </a:rPr>
                  <a:t>Group 6  |  Data Analytics Capstone</a:t>
                </a:r>
              </a:p>
            </p:txBody>
          </p:sp>
        </p:grpSp>
        <p:sp>
          <p:nvSpPr>
            <p:cNvPr name="Freeform 88" id="88">
              <a:hlinkClick r:id="rId9"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575" y="-28575"/>
            <a:ext cx="18340578" cy="10344150"/>
            <a:chOff x="0" y="0"/>
            <a:chExt cx="24454104" cy="13792200"/>
          </a:xfrm>
        </p:grpSpPr>
        <p:sp>
          <p:nvSpPr>
            <p:cNvPr name="Freeform 3" id="3"/>
            <p:cNvSpPr/>
            <p:nvPr/>
          </p:nvSpPr>
          <p:spPr>
            <a:xfrm flipH="false" flipV="false" rot="0">
              <a:off x="0" y="0"/>
              <a:ext cx="24454104" cy="13792200"/>
            </a:xfrm>
            <a:custGeom>
              <a:avLst/>
              <a:gdLst/>
              <a:ahLst/>
              <a:cxnLst/>
              <a:rect r="r" b="b" t="t" l="l"/>
              <a:pathLst>
                <a:path h="13792200" w="24454104">
                  <a:moveTo>
                    <a:pt x="0" y="0"/>
                  </a:moveTo>
                  <a:lnTo>
                    <a:pt x="24454104" y="0"/>
                  </a:lnTo>
                  <a:lnTo>
                    <a:pt x="24454104" y="13792200"/>
                  </a:lnTo>
                  <a:lnTo>
                    <a:pt x="0" y="13792200"/>
                  </a:lnTo>
                  <a:close/>
                </a:path>
              </a:pathLst>
            </a:custGeom>
            <a:solidFill>
              <a:srgbClr val="FFFFFF"/>
            </a:solidFill>
            <a:ln w="57150" cap="sq">
              <a:solidFill>
                <a:srgbClr val="0A0A0A"/>
              </a:solidFill>
              <a:prstDash val="solid"/>
              <a:miter/>
            </a:ln>
          </p:spPr>
        </p:sp>
      </p:grpSp>
      <p:grpSp>
        <p:nvGrpSpPr>
          <p:cNvPr name="Group 4" id="4"/>
          <p:cNvGrpSpPr/>
          <p:nvPr/>
        </p:nvGrpSpPr>
        <p:grpSpPr>
          <a:xfrm rot="0">
            <a:off x="754380" y="754380"/>
            <a:ext cx="12344400" cy="1028700"/>
            <a:chOff x="0" y="0"/>
            <a:chExt cx="16459200" cy="1371600"/>
          </a:xfrm>
        </p:grpSpPr>
        <p:sp>
          <p:nvSpPr>
            <p:cNvPr name="Freeform 5" id="5"/>
            <p:cNvSpPr/>
            <p:nvPr/>
          </p:nvSpPr>
          <p:spPr>
            <a:xfrm flipH="false" flipV="false" rot="0">
              <a:off x="0" y="0"/>
              <a:ext cx="16459200" cy="1371600"/>
            </a:xfrm>
            <a:custGeom>
              <a:avLst/>
              <a:gdLst/>
              <a:ahLst/>
              <a:cxnLst/>
              <a:rect r="r" b="b" t="t" l="l"/>
              <a:pathLst>
                <a:path h="1371600" w="16459200">
                  <a:moveTo>
                    <a:pt x="0" y="0"/>
                  </a:moveTo>
                  <a:lnTo>
                    <a:pt x="16459200" y="0"/>
                  </a:lnTo>
                  <a:lnTo>
                    <a:pt x="16459200" y="1371600"/>
                  </a:lnTo>
                  <a:lnTo>
                    <a:pt x="0" y="1371600"/>
                  </a:lnTo>
                  <a:close/>
                </a:path>
              </a:pathLst>
            </a:custGeom>
            <a:blipFill>
              <a:blip r:embed="rId2">
                <a:alphaModFix amt="0"/>
              </a:blip>
              <a:stretch>
                <a:fillRect l="0" t="-183820" r="0" b="-183820"/>
              </a:stretch>
            </a:blipFill>
          </p:spPr>
        </p:sp>
        <p:sp>
          <p:nvSpPr>
            <p:cNvPr name="TextBox 6" id="6"/>
            <p:cNvSpPr txBox="true"/>
            <p:nvPr/>
          </p:nvSpPr>
          <p:spPr>
            <a:xfrm>
              <a:off x="0" y="-28575"/>
              <a:ext cx="16459200" cy="1400175"/>
            </a:xfrm>
            <a:prstGeom prst="rect">
              <a:avLst/>
            </a:prstGeom>
          </p:spPr>
          <p:txBody>
            <a:bodyPr anchor="ctr" rtlCol="false" tIns="0" lIns="0" bIns="0" rIns="0"/>
            <a:lstStyle/>
            <a:p>
              <a:pPr algn="l">
                <a:lnSpc>
                  <a:spcPts val="6120"/>
                </a:lnSpc>
              </a:pPr>
              <a:r>
                <a:rPr lang="en-US" b="true" sz="5100">
                  <a:solidFill>
                    <a:srgbClr val="A100FF"/>
                  </a:solidFill>
                  <a:latin typeface="Arial Bold"/>
                  <a:ea typeface="Arial Bold"/>
                  <a:cs typeface="Arial Bold"/>
                  <a:sym typeface="Arial Bold"/>
                </a:rPr>
                <a:t>Challenges &amp; Learnings</a:t>
              </a:r>
            </a:p>
          </p:txBody>
        </p:sp>
      </p:grpSp>
      <p:grpSp>
        <p:nvGrpSpPr>
          <p:cNvPr name="Group 7" id="7"/>
          <p:cNvGrpSpPr/>
          <p:nvPr/>
        </p:nvGrpSpPr>
        <p:grpSpPr>
          <a:xfrm rot="0">
            <a:off x="754380" y="1755648"/>
            <a:ext cx="15773400" cy="548640"/>
            <a:chOff x="0" y="0"/>
            <a:chExt cx="21031200" cy="731520"/>
          </a:xfrm>
        </p:grpSpPr>
        <p:sp>
          <p:nvSpPr>
            <p:cNvPr name="Freeform 8" id="8"/>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2">
                <a:alphaModFix amt="0"/>
              </a:blip>
              <a:stretch>
                <a:fillRect l="0" t="-510194" r="0" b="-510194"/>
              </a:stretch>
            </a:blipFill>
          </p:spPr>
        </p:sp>
        <p:sp>
          <p:nvSpPr>
            <p:cNvPr name="TextBox 9" id="9"/>
            <p:cNvSpPr txBox="true"/>
            <p:nvPr/>
          </p:nvSpPr>
          <p:spPr>
            <a:xfrm>
              <a:off x="0" y="-19050"/>
              <a:ext cx="21031200" cy="750570"/>
            </a:xfrm>
            <a:prstGeom prst="rect">
              <a:avLst/>
            </a:prstGeom>
          </p:spPr>
          <p:txBody>
            <a:bodyPr anchor="ctr" rtlCol="false" tIns="0" lIns="0" bIns="0" rIns="0"/>
            <a:lstStyle/>
            <a:p>
              <a:pPr algn="l">
                <a:lnSpc>
                  <a:spcPts val="2700"/>
                </a:lnSpc>
              </a:pPr>
              <a:r>
                <a:rPr lang="en-US" sz="2250">
                  <a:solidFill>
                    <a:srgbClr val="1F2937"/>
                  </a:solidFill>
                  <a:latin typeface="Arial"/>
                  <a:ea typeface="Arial"/>
                  <a:cs typeface="Arial"/>
                  <a:sym typeface="Arial"/>
                </a:rPr>
                <a:t>Two findings that didn't go the way we expected, and what we did about them.</a:t>
              </a:r>
            </a:p>
          </p:txBody>
        </p:sp>
      </p:grpSp>
      <p:grpSp>
        <p:nvGrpSpPr>
          <p:cNvPr name="Group 10" id="10"/>
          <p:cNvGrpSpPr/>
          <p:nvPr/>
        </p:nvGrpSpPr>
        <p:grpSpPr>
          <a:xfrm rot="0">
            <a:off x="754380" y="2674620"/>
            <a:ext cx="8023860" cy="4869180"/>
            <a:chOff x="0" y="0"/>
            <a:chExt cx="10698480" cy="6492240"/>
          </a:xfrm>
        </p:grpSpPr>
        <p:sp>
          <p:nvSpPr>
            <p:cNvPr name="Freeform 11" id="11"/>
            <p:cNvSpPr/>
            <p:nvPr/>
          </p:nvSpPr>
          <p:spPr>
            <a:xfrm flipH="false" flipV="false" rot="0">
              <a:off x="0" y="0"/>
              <a:ext cx="10698480" cy="6492240"/>
            </a:xfrm>
            <a:custGeom>
              <a:avLst/>
              <a:gdLst/>
              <a:ahLst/>
              <a:cxnLst/>
              <a:rect r="r" b="b" t="t" l="l"/>
              <a:pathLst>
                <a:path h="6492240" w="10698480">
                  <a:moveTo>
                    <a:pt x="0" y="146304"/>
                  </a:moveTo>
                  <a:cubicBezTo>
                    <a:pt x="0" y="65532"/>
                    <a:pt x="65532" y="0"/>
                    <a:pt x="146304" y="0"/>
                  </a:cubicBezTo>
                  <a:lnTo>
                    <a:pt x="10552176" y="0"/>
                  </a:lnTo>
                  <a:cubicBezTo>
                    <a:pt x="10632948" y="0"/>
                    <a:pt x="10698480" y="65532"/>
                    <a:pt x="10698480" y="146304"/>
                  </a:cubicBezTo>
                  <a:lnTo>
                    <a:pt x="10698480" y="6345936"/>
                  </a:lnTo>
                  <a:cubicBezTo>
                    <a:pt x="10698480" y="6426708"/>
                    <a:pt x="10632948" y="6492240"/>
                    <a:pt x="10552176" y="6492240"/>
                  </a:cubicBezTo>
                  <a:lnTo>
                    <a:pt x="146304" y="6492240"/>
                  </a:lnTo>
                  <a:cubicBezTo>
                    <a:pt x="65532" y="6492240"/>
                    <a:pt x="0" y="6426708"/>
                    <a:pt x="0" y="6345936"/>
                  </a:cubicBezTo>
                  <a:close/>
                </a:path>
              </a:pathLst>
            </a:custGeom>
            <a:solidFill>
              <a:srgbClr val="F3F4F6"/>
            </a:solidFill>
          </p:spPr>
        </p:sp>
      </p:grpSp>
      <p:grpSp>
        <p:nvGrpSpPr>
          <p:cNvPr name="Group 12" id="12"/>
          <p:cNvGrpSpPr/>
          <p:nvPr/>
        </p:nvGrpSpPr>
        <p:grpSpPr>
          <a:xfrm rot="0">
            <a:off x="1234440" y="3086100"/>
            <a:ext cx="7063740" cy="685800"/>
            <a:chOff x="0" y="0"/>
            <a:chExt cx="9418320" cy="914400"/>
          </a:xfrm>
        </p:grpSpPr>
        <p:sp>
          <p:nvSpPr>
            <p:cNvPr name="Freeform 13" id="13"/>
            <p:cNvSpPr/>
            <p:nvPr/>
          </p:nvSpPr>
          <p:spPr>
            <a:xfrm flipH="false" flipV="false" rot="0">
              <a:off x="0" y="0"/>
              <a:ext cx="9418320" cy="914400"/>
            </a:xfrm>
            <a:custGeom>
              <a:avLst/>
              <a:gdLst/>
              <a:ahLst/>
              <a:cxnLst/>
              <a:rect r="r" b="b" t="t" l="l"/>
              <a:pathLst>
                <a:path h="914400" w="9418320">
                  <a:moveTo>
                    <a:pt x="0" y="0"/>
                  </a:moveTo>
                  <a:lnTo>
                    <a:pt x="9418320" y="0"/>
                  </a:lnTo>
                  <a:lnTo>
                    <a:pt x="9418320" y="914400"/>
                  </a:lnTo>
                  <a:lnTo>
                    <a:pt x="0" y="914400"/>
                  </a:lnTo>
                  <a:close/>
                </a:path>
              </a:pathLst>
            </a:custGeom>
            <a:blipFill>
              <a:blip r:embed="rId2">
                <a:alphaModFix amt="0"/>
              </a:blip>
              <a:stretch>
                <a:fillRect l="0" t="-150695" r="0" b="-150695"/>
              </a:stretch>
            </a:blipFill>
          </p:spPr>
        </p:sp>
        <p:sp>
          <p:nvSpPr>
            <p:cNvPr name="TextBox 14" id="14"/>
            <p:cNvSpPr txBox="true"/>
            <p:nvPr/>
          </p:nvSpPr>
          <p:spPr>
            <a:xfrm>
              <a:off x="0" y="-19050"/>
              <a:ext cx="9418320" cy="933450"/>
            </a:xfrm>
            <a:prstGeom prst="rect">
              <a:avLst/>
            </a:prstGeom>
          </p:spPr>
          <p:txBody>
            <a:bodyPr anchor="ctr" rtlCol="false" tIns="0" lIns="0" bIns="0" rIns="0"/>
            <a:lstStyle/>
            <a:p>
              <a:pPr algn="l">
                <a:lnSpc>
                  <a:spcPts val="3240"/>
                </a:lnSpc>
              </a:pPr>
              <a:r>
                <a:rPr lang="en-US" b="true" sz="2700">
                  <a:solidFill>
                    <a:srgbClr val="7500C0"/>
                  </a:solidFill>
                  <a:latin typeface="Arial Bold"/>
                  <a:ea typeface="Arial Bold"/>
                  <a:cs typeface="Arial Bold"/>
                  <a:sym typeface="Arial Bold"/>
                </a:rPr>
                <a:t>Category &amp; course level didn't matter</a:t>
              </a:r>
            </a:p>
          </p:txBody>
        </p:sp>
      </p:grpSp>
      <p:grpSp>
        <p:nvGrpSpPr>
          <p:cNvPr name="Group 15" id="15"/>
          <p:cNvGrpSpPr/>
          <p:nvPr/>
        </p:nvGrpSpPr>
        <p:grpSpPr>
          <a:xfrm rot="0">
            <a:off x="1234440" y="3840480"/>
            <a:ext cx="7063740" cy="1371600"/>
            <a:chOff x="0" y="0"/>
            <a:chExt cx="9418320" cy="1828800"/>
          </a:xfrm>
        </p:grpSpPr>
        <p:sp>
          <p:nvSpPr>
            <p:cNvPr name="Freeform 16" id="16"/>
            <p:cNvSpPr/>
            <p:nvPr/>
          </p:nvSpPr>
          <p:spPr>
            <a:xfrm flipH="false" flipV="false" rot="0">
              <a:off x="0" y="0"/>
              <a:ext cx="9418320" cy="1828800"/>
            </a:xfrm>
            <a:custGeom>
              <a:avLst/>
              <a:gdLst/>
              <a:ahLst/>
              <a:cxnLst/>
              <a:rect r="r" b="b" t="t" l="l"/>
              <a:pathLst>
                <a:path h="1828800" w="9418320">
                  <a:moveTo>
                    <a:pt x="0" y="0"/>
                  </a:moveTo>
                  <a:lnTo>
                    <a:pt x="9418320" y="0"/>
                  </a:lnTo>
                  <a:lnTo>
                    <a:pt x="9418320" y="1828800"/>
                  </a:lnTo>
                  <a:lnTo>
                    <a:pt x="0" y="1828800"/>
                  </a:lnTo>
                  <a:close/>
                </a:path>
              </a:pathLst>
            </a:custGeom>
            <a:blipFill>
              <a:blip r:embed="rId2">
                <a:alphaModFix amt="0"/>
              </a:blip>
              <a:stretch>
                <a:fillRect l="0" t="-50347" r="0" b="-50347"/>
              </a:stretch>
            </a:blipFill>
          </p:spPr>
        </p:sp>
        <p:sp>
          <p:nvSpPr>
            <p:cNvPr name="TextBox 17" id="17"/>
            <p:cNvSpPr txBox="true"/>
            <p:nvPr/>
          </p:nvSpPr>
          <p:spPr>
            <a:xfrm>
              <a:off x="0" y="-66675"/>
              <a:ext cx="9418320" cy="1895475"/>
            </a:xfrm>
            <a:prstGeom prst="rect">
              <a:avLst/>
            </a:prstGeom>
          </p:spPr>
          <p:txBody>
            <a:bodyPr anchor="ctr" rtlCol="false" tIns="0" lIns="0" bIns="0" rIns="0"/>
            <a:lstStyle/>
            <a:p>
              <a:pPr algn="l">
                <a:lnSpc>
                  <a:spcPts val="2808"/>
                </a:lnSpc>
              </a:pPr>
              <a:r>
                <a:rPr lang="en-US" sz="1950">
                  <a:solidFill>
                    <a:srgbClr val="1F2937"/>
                  </a:solidFill>
                  <a:latin typeface="Arial"/>
                  <a:ea typeface="Arial"/>
                  <a:cs typeface="Arial"/>
                  <a:sym typeface="Arial"/>
                </a:rPr>
                <a:t>We expected course category and difficulty level to drive drop-off. At full scale, completion stayed flat: 48.7–49.2% across every category, 49.0–49.2% across every level.</a:t>
              </a:r>
            </a:p>
          </p:txBody>
        </p:sp>
      </p:grpSp>
      <p:grpSp>
        <p:nvGrpSpPr>
          <p:cNvPr name="Group 18" id="18"/>
          <p:cNvGrpSpPr/>
          <p:nvPr/>
        </p:nvGrpSpPr>
        <p:grpSpPr>
          <a:xfrm rot="0">
            <a:off x="1224915" y="5339715"/>
            <a:ext cx="7082790" cy="1870710"/>
            <a:chOff x="0" y="0"/>
            <a:chExt cx="9443720" cy="2494280"/>
          </a:xfrm>
        </p:grpSpPr>
        <p:sp>
          <p:nvSpPr>
            <p:cNvPr name="Freeform 19" id="19"/>
            <p:cNvSpPr/>
            <p:nvPr/>
          </p:nvSpPr>
          <p:spPr>
            <a:xfrm flipH="false" flipV="false" rot="0">
              <a:off x="0" y="0"/>
              <a:ext cx="9443720" cy="2494280"/>
            </a:xfrm>
            <a:custGeom>
              <a:avLst/>
              <a:gdLst/>
              <a:ahLst/>
              <a:cxnLst/>
              <a:rect r="r" b="b" t="t" l="l"/>
              <a:pathLst>
                <a:path h="2494280" w="9443720">
                  <a:moveTo>
                    <a:pt x="0" y="110871"/>
                  </a:moveTo>
                  <a:cubicBezTo>
                    <a:pt x="0" y="49657"/>
                    <a:pt x="49657" y="0"/>
                    <a:pt x="110871" y="0"/>
                  </a:cubicBezTo>
                  <a:lnTo>
                    <a:pt x="9332849" y="0"/>
                  </a:lnTo>
                  <a:cubicBezTo>
                    <a:pt x="9394063" y="0"/>
                    <a:pt x="9443720" y="49657"/>
                    <a:pt x="9443720" y="110871"/>
                  </a:cubicBezTo>
                  <a:lnTo>
                    <a:pt x="9443720" y="2383409"/>
                  </a:lnTo>
                  <a:cubicBezTo>
                    <a:pt x="9443720" y="2444623"/>
                    <a:pt x="9394063" y="2494280"/>
                    <a:pt x="9332849" y="2494280"/>
                  </a:cubicBezTo>
                  <a:lnTo>
                    <a:pt x="110871" y="2494280"/>
                  </a:lnTo>
                  <a:cubicBezTo>
                    <a:pt x="49657" y="2494280"/>
                    <a:pt x="0" y="2444623"/>
                    <a:pt x="0" y="2383409"/>
                  </a:cubicBezTo>
                  <a:close/>
                </a:path>
              </a:pathLst>
            </a:custGeom>
            <a:solidFill>
              <a:srgbClr val="FFFFFF"/>
            </a:solidFill>
            <a:ln w="19050" cap="sq">
              <a:solidFill>
                <a:srgbClr val="E5E7EB"/>
              </a:solidFill>
              <a:prstDash val="solid"/>
              <a:miter/>
            </a:ln>
          </p:spPr>
        </p:sp>
      </p:grpSp>
      <p:grpSp>
        <p:nvGrpSpPr>
          <p:cNvPr name="Group 20" id="20"/>
          <p:cNvGrpSpPr/>
          <p:nvPr/>
        </p:nvGrpSpPr>
        <p:grpSpPr>
          <a:xfrm rot="0">
            <a:off x="1508760" y="5527548"/>
            <a:ext cx="6515100" cy="411480"/>
            <a:chOff x="0" y="0"/>
            <a:chExt cx="8686800" cy="548640"/>
          </a:xfrm>
        </p:grpSpPr>
        <p:sp>
          <p:nvSpPr>
            <p:cNvPr name="Freeform 21" id="21"/>
            <p:cNvSpPr/>
            <p:nvPr/>
          </p:nvSpPr>
          <p:spPr>
            <a:xfrm flipH="false" flipV="false" rot="0">
              <a:off x="0" y="0"/>
              <a:ext cx="8686800" cy="548640"/>
            </a:xfrm>
            <a:custGeom>
              <a:avLst/>
              <a:gdLst/>
              <a:ahLst/>
              <a:cxnLst/>
              <a:rect r="r" b="b" t="t" l="l"/>
              <a:pathLst>
                <a:path h="548640" w="8686800">
                  <a:moveTo>
                    <a:pt x="0" y="0"/>
                  </a:moveTo>
                  <a:lnTo>
                    <a:pt x="8686800" y="0"/>
                  </a:lnTo>
                  <a:lnTo>
                    <a:pt x="8686800" y="548640"/>
                  </a:lnTo>
                  <a:lnTo>
                    <a:pt x="0" y="548640"/>
                  </a:lnTo>
                  <a:close/>
                </a:path>
              </a:pathLst>
            </a:custGeom>
            <a:solidFill>
              <a:srgbClr val="BE82FF">
                <a:alpha val="0"/>
              </a:srgbClr>
            </a:solidFill>
          </p:spPr>
        </p:sp>
        <p:sp>
          <p:nvSpPr>
            <p:cNvPr name="TextBox 22" id="22"/>
            <p:cNvSpPr txBox="true"/>
            <p:nvPr/>
          </p:nvSpPr>
          <p:spPr>
            <a:xfrm>
              <a:off x="0" y="-19050"/>
              <a:ext cx="8686800" cy="567690"/>
            </a:xfrm>
            <a:prstGeom prst="rect">
              <a:avLst/>
            </a:prstGeom>
          </p:spPr>
          <p:txBody>
            <a:bodyPr anchor="ctr" rtlCol="false" tIns="0" lIns="0" bIns="0" rIns="0"/>
            <a:lstStyle/>
            <a:p>
              <a:pPr algn="l">
                <a:lnSpc>
                  <a:spcPts val="2160"/>
                </a:lnSpc>
              </a:pPr>
              <a:r>
                <a:rPr lang="en-US" sz="1800" b="true">
                  <a:solidFill>
                    <a:srgbClr val="7C3AED"/>
                  </a:solidFill>
                  <a:latin typeface="Arial Bold"/>
                  <a:ea typeface="Arial Bold"/>
                  <a:cs typeface="Arial Bold"/>
                  <a:sym typeface="Arial Bold"/>
                </a:rPr>
                <a:t>So we engineered a feature instead</a:t>
              </a:r>
            </a:p>
          </p:txBody>
        </p:sp>
      </p:grpSp>
      <p:sp>
        <p:nvSpPr>
          <p:cNvPr name="TextBox 23" id="23"/>
          <p:cNvSpPr txBox="true"/>
          <p:nvPr/>
        </p:nvSpPr>
        <p:spPr>
          <a:xfrm rot="0">
            <a:off x="1600200" y="5935980"/>
            <a:ext cx="6332220" cy="1150620"/>
          </a:xfrm>
          <a:prstGeom prst="rect">
            <a:avLst/>
          </a:prstGeom>
        </p:spPr>
        <p:txBody>
          <a:bodyPr anchor="t" rtlCol="false" tIns="0" lIns="0" bIns="0" rIns="0">
            <a:spAutoFit/>
          </a:bodyPr>
          <a:lstStyle/>
          <a:p>
            <a:pPr algn="l">
              <a:lnSpc>
                <a:spcPts val="2700"/>
              </a:lnSpc>
            </a:pPr>
            <a:r>
              <a:rPr lang="en-US" sz="1875" b="true">
                <a:solidFill>
                  <a:srgbClr val="1F2937"/>
                </a:solidFill>
                <a:latin typeface="Arial Bold"/>
                <a:ea typeface="Arial Bold"/>
                <a:cs typeface="Arial Bold"/>
                <a:sym typeface="Arial Bold"/>
              </a:rPr>
              <a:t>engagement_score</a:t>
            </a:r>
            <a:r>
              <a:rPr lang="en-US" sz="1875">
                <a:solidFill>
                  <a:srgbClr val="1F2937"/>
                </a:solidFill>
                <a:latin typeface="Arial"/>
                <a:ea typeface="Arial"/>
                <a:cs typeface="Arial"/>
                <a:sym typeface="Arial"/>
              </a:rPr>
              <a:t>, built from 4 behavioral fields, revealed an </a:t>
            </a:r>
            <a:r>
              <a:rPr lang="en-US" sz="1875" b="true">
                <a:solidFill>
                  <a:srgbClr val="15803D"/>
                </a:solidFill>
                <a:latin typeface="Arial Bold"/>
                <a:ea typeface="Arial Bold"/>
                <a:cs typeface="Arial Bold"/>
                <a:sym typeface="Arial Bold"/>
              </a:rPr>
              <a:t>18.5-point</a:t>
            </a:r>
            <a:r>
              <a:rPr lang="en-US" sz="1875">
                <a:solidFill>
                  <a:srgbClr val="1F2937"/>
                </a:solidFill>
                <a:latin typeface="Arial"/>
                <a:ea typeface="Arial"/>
                <a:cs typeface="Arial"/>
                <a:sym typeface="Arial"/>
              </a:rPr>
              <a:t> completion gap between High and Low engagement tiers, the strongest signal in the dataset.</a:t>
            </a:r>
          </a:p>
        </p:txBody>
      </p:sp>
      <p:grpSp>
        <p:nvGrpSpPr>
          <p:cNvPr name="Group 24" id="24"/>
          <p:cNvGrpSpPr/>
          <p:nvPr/>
        </p:nvGrpSpPr>
        <p:grpSpPr>
          <a:xfrm rot="0">
            <a:off x="9464040" y="2674620"/>
            <a:ext cx="8023860" cy="4869180"/>
            <a:chOff x="0" y="0"/>
            <a:chExt cx="10698480" cy="6492240"/>
          </a:xfrm>
        </p:grpSpPr>
        <p:sp>
          <p:nvSpPr>
            <p:cNvPr name="Freeform 25" id="25"/>
            <p:cNvSpPr/>
            <p:nvPr/>
          </p:nvSpPr>
          <p:spPr>
            <a:xfrm flipH="false" flipV="false" rot="0">
              <a:off x="0" y="0"/>
              <a:ext cx="10698480" cy="6492240"/>
            </a:xfrm>
            <a:custGeom>
              <a:avLst/>
              <a:gdLst/>
              <a:ahLst/>
              <a:cxnLst/>
              <a:rect r="r" b="b" t="t" l="l"/>
              <a:pathLst>
                <a:path h="6492240" w="10698480">
                  <a:moveTo>
                    <a:pt x="0" y="146304"/>
                  </a:moveTo>
                  <a:cubicBezTo>
                    <a:pt x="0" y="65532"/>
                    <a:pt x="65532" y="0"/>
                    <a:pt x="146304" y="0"/>
                  </a:cubicBezTo>
                  <a:lnTo>
                    <a:pt x="10552176" y="0"/>
                  </a:lnTo>
                  <a:cubicBezTo>
                    <a:pt x="10632948" y="0"/>
                    <a:pt x="10698480" y="65532"/>
                    <a:pt x="10698480" y="146304"/>
                  </a:cubicBezTo>
                  <a:lnTo>
                    <a:pt x="10698480" y="6345936"/>
                  </a:lnTo>
                  <a:cubicBezTo>
                    <a:pt x="10698480" y="6426708"/>
                    <a:pt x="10632948" y="6492240"/>
                    <a:pt x="10552176" y="6492240"/>
                  </a:cubicBezTo>
                  <a:lnTo>
                    <a:pt x="146304" y="6492240"/>
                  </a:lnTo>
                  <a:cubicBezTo>
                    <a:pt x="65532" y="6492240"/>
                    <a:pt x="0" y="6426708"/>
                    <a:pt x="0" y="6345936"/>
                  </a:cubicBezTo>
                  <a:close/>
                </a:path>
              </a:pathLst>
            </a:custGeom>
            <a:solidFill>
              <a:srgbClr val="F3F4F6"/>
            </a:solidFill>
          </p:spPr>
        </p:sp>
      </p:grpSp>
      <p:grpSp>
        <p:nvGrpSpPr>
          <p:cNvPr name="Group 26" id="26"/>
          <p:cNvGrpSpPr/>
          <p:nvPr/>
        </p:nvGrpSpPr>
        <p:grpSpPr>
          <a:xfrm rot="0">
            <a:off x="9944100" y="3086100"/>
            <a:ext cx="7063740" cy="685800"/>
            <a:chOff x="0" y="0"/>
            <a:chExt cx="9418320" cy="914400"/>
          </a:xfrm>
        </p:grpSpPr>
        <p:sp>
          <p:nvSpPr>
            <p:cNvPr name="Freeform 27" id="27"/>
            <p:cNvSpPr/>
            <p:nvPr/>
          </p:nvSpPr>
          <p:spPr>
            <a:xfrm flipH="false" flipV="false" rot="0">
              <a:off x="0" y="0"/>
              <a:ext cx="9418320" cy="914400"/>
            </a:xfrm>
            <a:custGeom>
              <a:avLst/>
              <a:gdLst/>
              <a:ahLst/>
              <a:cxnLst/>
              <a:rect r="r" b="b" t="t" l="l"/>
              <a:pathLst>
                <a:path h="914400" w="9418320">
                  <a:moveTo>
                    <a:pt x="0" y="0"/>
                  </a:moveTo>
                  <a:lnTo>
                    <a:pt x="9418320" y="0"/>
                  </a:lnTo>
                  <a:lnTo>
                    <a:pt x="9418320" y="914400"/>
                  </a:lnTo>
                  <a:lnTo>
                    <a:pt x="0" y="914400"/>
                  </a:lnTo>
                  <a:close/>
                </a:path>
              </a:pathLst>
            </a:custGeom>
            <a:blipFill>
              <a:blip r:embed="rId2">
                <a:alphaModFix amt="0"/>
              </a:blip>
              <a:stretch>
                <a:fillRect l="0" t="-150695" r="0" b="-150695"/>
              </a:stretch>
            </a:blipFill>
          </p:spPr>
        </p:sp>
        <p:sp>
          <p:nvSpPr>
            <p:cNvPr name="TextBox 28" id="28"/>
            <p:cNvSpPr txBox="true"/>
            <p:nvPr/>
          </p:nvSpPr>
          <p:spPr>
            <a:xfrm>
              <a:off x="0" y="-19050"/>
              <a:ext cx="9418320" cy="933450"/>
            </a:xfrm>
            <a:prstGeom prst="rect">
              <a:avLst/>
            </a:prstGeom>
          </p:spPr>
          <p:txBody>
            <a:bodyPr anchor="ctr" rtlCol="false" tIns="0" lIns="0" bIns="0" rIns="0"/>
            <a:lstStyle/>
            <a:p>
              <a:pPr algn="l">
                <a:lnSpc>
                  <a:spcPts val="3240"/>
                </a:lnSpc>
              </a:pPr>
              <a:r>
                <a:rPr lang="en-US" b="true" sz="2700">
                  <a:solidFill>
                    <a:srgbClr val="7500C0"/>
                  </a:solidFill>
                  <a:latin typeface="Arial Bold"/>
                  <a:ea typeface="Arial Bold"/>
                  <a:cs typeface="Arial Bold"/>
                  <a:sym typeface="Arial Bold"/>
                </a:rPr>
                <a:t>A quirk in the payment data</a:t>
              </a:r>
            </a:p>
          </p:txBody>
        </p:sp>
      </p:grpSp>
      <p:grpSp>
        <p:nvGrpSpPr>
          <p:cNvPr name="Group 29" id="29"/>
          <p:cNvGrpSpPr/>
          <p:nvPr/>
        </p:nvGrpSpPr>
        <p:grpSpPr>
          <a:xfrm rot="0">
            <a:off x="9944100" y="3840480"/>
            <a:ext cx="7063740" cy="1371600"/>
            <a:chOff x="0" y="0"/>
            <a:chExt cx="9418320" cy="1828800"/>
          </a:xfrm>
        </p:grpSpPr>
        <p:sp>
          <p:nvSpPr>
            <p:cNvPr name="Freeform 30" id="30"/>
            <p:cNvSpPr/>
            <p:nvPr/>
          </p:nvSpPr>
          <p:spPr>
            <a:xfrm flipH="false" flipV="false" rot="0">
              <a:off x="0" y="0"/>
              <a:ext cx="9418320" cy="1828800"/>
            </a:xfrm>
            <a:custGeom>
              <a:avLst/>
              <a:gdLst/>
              <a:ahLst/>
              <a:cxnLst/>
              <a:rect r="r" b="b" t="t" l="l"/>
              <a:pathLst>
                <a:path h="1828800" w="9418320">
                  <a:moveTo>
                    <a:pt x="0" y="0"/>
                  </a:moveTo>
                  <a:lnTo>
                    <a:pt x="9418320" y="0"/>
                  </a:lnTo>
                  <a:lnTo>
                    <a:pt x="9418320" y="1828800"/>
                  </a:lnTo>
                  <a:lnTo>
                    <a:pt x="0" y="1828800"/>
                  </a:lnTo>
                  <a:close/>
                </a:path>
              </a:pathLst>
            </a:custGeom>
            <a:blipFill>
              <a:blip r:embed="rId2">
                <a:alphaModFix amt="0"/>
              </a:blip>
              <a:stretch>
                <a:fillRect l="0" t="-50347" r="0" b="-50347"/>
              </a:stretch>
            </a:blipFill>
          </p:spPr>
        </p:sp>
        <p:sp>
          <p:nvSpPr>
            <p:cNvPr name="TextBox 31" id="31"/>
            <p:cNvSpPr txBox="true"/>
            <p:nvPr/>
          </p:nvSpPr>
          <p:spPr>
            <a:xfrm>
              <a:off x="0" y="-66675"/>
              <a:ext cx="9418320" cy="1895475"/>
            </a:xfrm>
            <a:prstGeom prst="rect">
              <a:avLst/>
            </a:prstGeom>
          </p:spPr>
          <p:txBody>
            <a:bodyPr anchor="ctr" rtlCol="false" tIns="0" lIns="0" bIns="0" rIns="0"/>
            <a:lstStyle/>
            <a:p>
              <a:pPr algn="l">
                <a:lnSpc>
                  <a:spcPts val="2808"/>
                </a:lnSpc>
              </a:pPr>
              <a:r>
                <a:rPr lang="en-US" sz="1950">
                  <a:solidFill>
                    <a:srgbClr val="1F2937"/>
                  </a:solidFill>
                  <a:latin typeface="Arial"/>
                  <a:ea typeface="Arial"/>
                  <a:cs typeface="Arial"/>
                  <a:sym typeface="Arial"/>
                </a:rPr>
                <a:t>10,039 rows (10% of the data) showed Fee_Paid = No but Payment_Amount &gt; 0. Every single one was tagged Payment_Mode = Scholarship, not corrupted data, just an unrecorded partial payment.</a:t>
              </a:r>
            </a:p>
          </p:txBody>
        </p:sp>
      </p:grpSp>
      <p:grpSp>
        <p:nvGrpSpPr>
          <p:cNvPr name="Group 32" id="32"/>
          <p:cNvGrpSpPr/>
          <p:nvPr/>
        </p:nvGrpSpPr>
        <p:grpSpPr>
          <a:xfrm rot="0">
            <a:off x="9934575" y="5339715"/>
            <a:ext cx="7082790" cy="1870710"/>
            <a:chOff x="0" y="0"/>
            <a:chExt cx="9443720" cy="2494280"/>
          </a:xfrm>
        </p:grpSpPr>
        <p:sp>
          <p:nvSpPr>
            <p:cNvPr name="Freeform 33" id="33"/>
            <p:cNvSpPr/>
            <p:nvPr/>
          </p:nvSpPr>
          <p:spPr>
            <a:xfrm flipH="false" flipV="false" rot="0">
              <a:off x="0" y="0"/>
              <a:ext cx="9443720" cy="2494280"/>
            </a:xfrm>
            <a:custGeom>
              <a:avLst/>
              <a:gdLst/>
              <a:ahLst/>
              <a:cxnLst/>
              <a:rect r="r" b="b" t="t" l="l"/>
              <a:pathLst>
                <a:path h="2494280" w="9443720">
                  <a:moveTo>
                    <a:pt x="0" y="110871"/>
                  </a:moveTo>
                  <a:cubicBezTo>
                    <a:pt x="0" y="49657"/>
                    <a:pt x="49657" y="0"/>
                    <a:pt x="110871" y="0"/>
                  </a:cubicBezTo>
                  <a:lnTo>
                    <a:pt x="9332849" y="0"/>
                  </a:lnTo>
                  <a:cubicBezTo>
                    <a:pt x="9394063" y="0"/>
                    <a:pt x="9443720" y="49657"/>
                    <a:pt x="9443720" y="110871"/>
                  </a:cubicBezTo>
                  <a:lnTo>
                    <a:pt x="9443720" y="2383409"/>
                  </a:lnTo>
                  <a:cubicBezTo>
                    <a:pt x="9443720" y="2444623"/>
                    <a:pt x="9394063" y="2494280"/>
                    <a:pt x="9332849" y="2494280"/>
                  </a:cubicBezTo>
                  <a:lnTo>
                    <a:pt x="110871" y="2494280"/>
                  </a:lnTo>
                  <a:cubicBezTo>
                    <a:pt x="49657" y="2494280"/>
                    <a:pt x="0" y="2444623"/>
                    <a:pt x="0" y="2383409"/>
                  </a:cubicBezTo>
                  <a:close/>
                </a:path>
              </a:pathLst>
            </a:custGeom>
            <a:solidFill>
              <a:srgbClr val="FFFFFF"/>
            </a:solidFill>
            <a:ln w="19050" cap="sq">
              <a:solidFill>
                <a:srgbClr val="E5E7EB"/>
              </a:solidFill>
              <a:prstDash val="solid"/>
              <a:miter/>
            </a:ln>
          </p:spPr>
        </p:sp>
      </p:grpSp>
      <p:grpSp>
        <p:nvGrpSpPr>
          <p:cNvPr name="Group 34" id="34"/>
          <p:cNvGrpSpPr/>
          <p:nvPr/>
        </p:nvGrpSpPr>
        <p:grpSpPr>
          <a:xfrm rot="0">
            <a:off x="10218420" y="5527548"/>
            <a:ext cx="6515100" cy="411480"/>
            <a:chOff x="0" y="0"/>
            <a:chExt cx="8686800" cy="548640"/>
          </a:xfrm>
        </p:grpSpPr>
        <p:sp>
          <p:nvSpPr>
            <p:cNvPr name="Freeform 35" id="35"/>
            <p:cNvSpPr/>
            <p:nvPr/>
          </p:nvSpPr>
          <p:spPr>
            <a:xfrm flipH="false" flipV="false" rot="0">
              <a:off x="0" y="0"/>
              <a:ext cx="8686800" cy="548640"/>
            </a:xfrm>
            <a:custGeom>
              <a:avLst/>
              <a:gdLst/>
              <a:ahLst/>
              <a:cxnLst/>
              <a:rect r="r" b="b" t="t" l="l"/>
              <a:pathLst>
                <a:path h="548640" w="8686800">
                  <a:moveTo>
                    <a:pt x="0" y="0"/>
                  </a:moveTo>
                  <a:lnTo>
                    <a:pt x="8686800" y="0"/>
                  </a:lnTo>
                  <a:lnTo>
                    <a:pt x="8686800" y="548640"/>
                  </a:lnTo>
                  <a:lnTo>
                    <a:pt x="0" y="548640"/>
                  </a:lnTo>
                  <a:close/>
                </a:path>
              </a:pathLst>
            </a:custGeom>
            <a:solidFill>
              <a:srgbClr val="BE82FF">
                <a:alpha val="0"/>
              </a:srgbClr>
            </a:solidFill>
          </p:spPr>
        </p:sp>
        <p:sp>
          <p:nvSpPr>
            <p:cNvPr name="TextBox 36" id="36"/>
            <p:cNvSpPr txBox="true"/>
            <p:nvPr/>
          </p:nvSpPr>
          <p:spPr>
            <a:xfrm>
              <a:off x="0" y="-19050"/>
              <a:ext cx="8686800" cy="567690"/>
            </a:xfrm>
            <a:prstGeom prst="rect">
              <a:avLst/>
            </a:prstGeom>
          </p:spPr>
          <p:txBody>
            <a:bodyPr anchor="ctr" rtlCol="false" tIns="0" lIns="0" bIns="0" rIns="0"/>
            <a:lstStyle/>
            <a:p>
              <a:pPr algn="l">
                <a:lnSpc>
                  <a:spcPts val="2160"/>
                </a:lnSpc>
              </a:pPr>
              <a:r>
                <a:rPr lang="en-US" sz="1800" b="true">
                  <a:solidFill>
                    <a:srgbClr val="7C3AED"/>
                  </a:solidFill>
                  <a:latin typeface="Arial Bold"/>
                  <a:ea typeface="Arial Bold"/>
                  <a:cs typeface="Arial Bold"/>
                  <a:sym typeface="Arial Bold"/>
                </a:rPr>
                <a:t>So we flagged it instead of overwriting it</a:t>
              </a:r>
            </a:p>
          </p:txBody>
        </p:sp>
      </p:grpSp>
      <p:sp>
        <p:nvSpPr>
          <p:cNvPr name="TextBox 37" id="37"/>
          <p:cNvSpPr txBox="true"/>
          <p:nvPr/>
        </p:nvSpPr>
        <p:spPr>
          <a:xfrm rot="0">
            <a:off x="10309860" y="5935980"/>
            <a:ext cx="6332220" cy="1150620"/>
          </a:xfrm>
          <a:prstGeom prst="rect">
            <a:avLst/>
          </a:prstGeom>
        </p:spPr>
        <p:txBody>
          <a:bodyPr anchor="t" rtlCol="false" tIns="0" lIns="0" bIns="0" rIns="0">
            <a:spAutoFit/>
          </a:bodyPr>
          <a:lstStyle/>
          <a:p>
            <a:pPr algn="l">
              <a:lnSpc>
                <a:spcPts val="2700"/>
              </a:lnSpc>
            </a:pPr>
            <a:r>
              <a:rPr lang="en-US" sz="1875" b="true">
                <a:solidFill>
                  <a:srgbClr val="1F2937"/>
                </a:solidFill>
                <a:latin typeface="Arial Bold"/>
                <a:ea typeface="Arial Bold"/>
                <a:cs typeface="Arial Bold"/>
                <a:sym typeface="Arial Bold"/>
              </a:rPr>
              <a:t>is_scholarship_partial_pay</a:t>
            </a:r>
            <a:r>
              <a:rPr lang="en-US" sz="1875">
                <a:solidFill>
                  <a:srgbClr val="1F2937"/>
                </a:solidFill>
                <a:latin typeface="Arial"/>
                <a:ea typeface="Arial"/>
                <a:cs typeface="Arial"/>
                <a:sym typeface="Arial"/>
              </a:rPr>
              <a:t> keeps the pattern visible and auditable, a documented business rule instead of a silently </a:t>
            </a:r>
            <a:r>
              <a:rPr lang="en-US" sz="1875" i="true">
                <a:solidFill>
                  <a:srgbClr val="1F2937"/>
                </a:solidFill>
                <a:latin typeface="Arial Italics"/>
                <a:ea typeface="Arial Italics"/>
                <a:cs typeface="Arial Italics"/>
                <a:sym typeface="Arial Italics"/>
              </a:rPr>
              <a:t>"corrected"</a:t>
            </a:r>
            <a:r>
              <a:rPr lang="en-US" sz="1875">
                <a:solidFill>
                  <a:srgbClr val="1F2937"/>
                </a:solidFill>
                <a:latin typeface="Arial"/>
                <a:ea typeface="Arial"/>
                <a:cs typeface="Arial"/>
                <a:sym typeface="Arial"/>
              </a:rPr>
              <a:t> data point.</a:t>
            </a:r>
          </a:p>
        </p:txBody>
      </p:sp>
      <p:grpSp>
        <p:nvGrpSpPr>
          <p:cNvPr name="Group 38" id="38"/>
          <p:cNvGrpSpPr/>
          <p:nvPr/>
        </p:nvGrpSpPr>
        <p:grpSpPr>
          <a:xfrm rot="0">
            <a:off x="754380" y="7667625"/>
            <a:ext cx="16733520" cy="1165860"/>
            <a:chOff x="0" y="0"/>
            <a:chExt cx="22311360" cy="1554480"/>
          </a:xfrm>
        </p:grpSpPr>
        <p:sp>
          <p:nvSpPr>
            <p:cNvPr name="Freeform 39" id="39"/>
            <p:cNvSpPr/>
            <p:nvPr/>
          </p:nvSpPr>
          <p:spPr>
            <a:xfrm flipH="false" flipV="false" rot="0">
              <a:off x="0" y="0"/>
              <a:ext cx="22311361" cy="1554480"/>
            </a:xfrm>
            <a:custGeom>
              <a:avLst/>
              <a:gdLst/>
              <a:ahLst/>
              <a:cxnLst/>
              <a:rect r="r" b="b" t="t" l="l"/>
              <a:pathLst>
                <a:path h="1554480" w="22311361">
                  <a:moveTo>
                    <a:pt x="0" y="146304"/>
                  </a:moveTo>
                  <a:cubicBezTo>
                    <a:pt x="0" y="65532"/>
                    <a:pt x="65532" y="0"/>
                    <a:pt x="146304" y="0"/>
                  </a:cubicBezTo>
                  <a:lnTo>
                    <a:pt x="22165056" y="0"/>
                  </a:lnTo>
                  <a:cubicBezTo>
                    <a:pt x="22245828" y="0"/>
                    <a:pt x="22311361" y="65532"/>
                    <a:pt x="22311361" y="146304"/>
                  </a:cubicBezTo>
                  <a:lnTo>
                    <a:pt x="22311361" y="1408176"/>
                  </a:lnTo>
                  <a:cubicBezTo>
                    <a:pt x="22311361" y="1488948"/>
                    <a:pt x="22245828" y="1554480"/>
                    <a:pt x="22165056" y="1554480"/>
                  </a:cubicBezTo>
                  <a:lnTo>
                    <a:pt x="146304" y="1554480"/>
                  </a:lnTo>
                  <a:cubicBezTo>
                    <a:pt x="65532" y="1554480"/>
                    <a:pt x="0" y="1488948"/>
                    <a:pt x="0" y="1408176"/>
                  </a:cubicBezTo>
                  <a:close/>
                </a:path>
              </a:pathLst>
            </a:custGeom>
            <a:solidFill>
              <a:srgbClr val="460073"/>
            </a:solidFill>
          </p:spPr>
        </p:sp>
      </p:grpSp>
      <p:grpSp>
        <p:nvGrpSpPr>
          <p:cNvPr name="Group 40" id="40"/>
          <p:cNvGrpSpPr/>
          <p:nvPr/>
        </p:nvGrpSpPr>
        <p:grpSpPr>
          <a:xfrm rot="0">
            <a:off x="1165860" y="7667625"/>
            <a:ext cx="15910560" cy="1165860"/>
            <a:chOff x="0" y="0"/>
            <a:chExt cx="21214080" cy="1554480"/>
          </a:xfrm>
        </p:grpSpPr>
        <p:sp>
          <p:nvSpPr>
            <p:cNvPr name="Freeform 41" id="41"/>
            <p:cNvSpPr/>
            <p:nvPr/>
          </p:nvSpPr>
          <p:spPr>
            <a:xfrm flipH="false" flipV="false" rot="0">
              <a:off x="0" y="0"/>
              <a:ext cx="21214080" cy="1554480"/>
            </a:xfrm>
            <a:custGeom>
              <a:avLst/>
              <a:gdLst/>
              <a:ahLst/>
              <a:cxnLst/>
              <a:rect r="r" b="b" t="t" l="l"/>
              <a:pathLst>
                <a:path h="1554480" w="21214080">
                  <a:moveTo>
                    <a:pt x="0" y="0"/>
                  </a:moveTo>
                  <a:lnTo>
                    <a:pt x="21214080" y="0"/>
                  </a:lnTo>
                  <a:lnTo>
                    <a:pt x="21214080" y="1554480"/>
                  </a:lnTo>
                  <a:lnTo>
                    <a:pt x="0" y="1554480"/>
                  </a:lnTo>
                  <a:close/>
                </a:path>
              </a:pathLst>
            </a:custGeom>
            <a:blipFill>
              <a:blip r:embed="rId2">
                <a:alphaModFix amt="0"/>
              </a:blip>
              <a:stretch>
                <a:fillRect l="0" t="-215913" r="0" b="-215913"/>
              </a:stretch>
            </a:blipFill>
          </p:spPr>
        </p:sp>
        <p:sp>
          <p:nvSpPr>
            <p:cNvPr name="TextBox 42" id="42"/>
            <p:cNvSpPr txBox="true"/>
            <p:nvPr/>
          </p:nvSpPr>
          <p:spPr>
            <a:xfrm>
              <a:off x="0" y="-38100"/>
              <a:ext cx="21214080" cy="1592580"/>
            </a:xfrm>
            <a:prstGeom prst="rect">
              <a:avLst/>
            </a:prstGeom>
          </p:spPr>
          <p:txBody>
            <a:bodyPr anchor="ctr" rtlCol="false" tIns="0" lIns="0" bIns="0" rIns="0"/>
            <a:lstStyle/>
            <a:p>
              <a:pPr algn="l">
                <a:lnSpc>
                  <a:spcPts val="2794"/>
                </a:lnSpc>
              </a:pPr>
              <a:r>
                <a:rPr lang="en-US" sz="2025" b="true">
                  <a:solidFill>
                    <a:srgbClr val="FFFFFF"/>
                  </a:solidFill>
                  <a:latin typeface="Arial Bold"/>
                  <a:ea typeface="Arial Bold"/>
                  <a:cs typeface="Arial Bold"/>
                  <a:sym typeface="Arial Bold"/>
                </a:rPr>
                <a:t>The pattern in both: </a:t>
              </a:r>
              <a:r>
                <a:rPr lang="en-US" sz="2025">
                  <a:solidFill>
                    <a:srgbClr val="E9D5FF"/>
                  </a:solidFill>
                  <a:latin typeface="Arial"/>
                  <a:ea typeface="Arial"/>
                  <a:cs typeface="Arial"/>
                  <a:sym typeface="Arial"/>
                </a:rPr>
                <a:t>what looked like noise on first pass became a deliberate, documented decision once we dug in, a new feature in one case, a new flag in the other.</a:t>
              </a:r>
            </a:p>
          </p:txBody>
        </p:sp>
      </p:grpSp>
      <p:grpSp>
        <p:nvGrpSpPr>
          <p:cNvPr name="Group 43" id="43"/>
          <p:cNvGrpSpPr/>
          <p:nvPr/>
        </p:nvGrpSpPr>
        <p:grpSpPr>
          <a:xfrm rot="0">
            <a:off x="987552" y="9601200"/>
            <a:ext cx="8229600" cy="342900"/>
            <a:chOff x="0" y="0"/>
            <a:chExt cx="10972800" cy="457200"/>
          </a:xfrm>
        </p:grpSpPr>
        <p:sp>
          <p:nvSpPr>
            <p:cNvPr name="Freeform 44" id="44"/>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45" id="45"/>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46" id="46"/>
          <p:cNvGrpSpPr/>
          <p:nvPr/>
        </p:nvGrpSpPr>
        <p:grpSpPr>
          <a:xfrm rot="0">
            <a:off x="0" y="9464040"/>
            <a:ext cx="18288000" cy="822960"/>
            <a:chOff x="0" y="0"/>
            <a:chExt cx="24384000" cy="1097280"/>
          </a:xfrm>
        </p:grpSpPr>
        <p:grpSp>
          <p:nvGrpSpPr>
            <p:cNvPr name="Group 47" id="47"/>
            <p:cNvGrpSpPr/>
            <p:nvPr/>
          </p:nvGrpSpPr>
          <p:grpSpPr>
            <a:xfrm rot="0">
              <a:off x="0" y="0"/>
              <a:ext cx="24384000" cy="1097280"/>
              <a:chOff x="0" y="0"/>
              <a:chExt cx="16256000" cy="731520"/>
            </a:xfrm>
          </p:grpSpPr>
          <p:sp>
            <p:nvSpPr>
              <p:cNvPr name="Freeform 48" id="48">
                <a:hlinkClick r:id="rId3"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4"/>
                <a:stretch>
                  <a:fillRect l="0" t="0" r="-45" b="-609"/>
                </a:stretch>
              </a:blipFill>
            </p:spPr>
          </p:sp>
        </p:grpSp>
        <p:grpSp>
          <p:nvGrpSpPr>
            <p:cNvPr name="Group 49" id="49"/>
            <p:cNvGrpSpPr/>
            <p:nvPr/>
          </p:nvGrpSpPr>
          <p:grpSpPr>
            <a:xfrm rot="0">
              <a:off x="1316736" y="182880"/>
              <a:ext cx="10972800" cy="457200"/>
              <a:chOff x="0" y="0"/>
              <a:chExt cx="10972800" cy="457200"/>
            </a:xfrm>
          </p:grpSpPr>
          <p:sp>
            <p:nvSpPr>
              <p:cNvPr name="Freeform 50" id="50">
                <a:hlinkClick r:id="rId5" tooltip="https://canva.link/j1m0vdglw23sasg"/>
              </p:cNvPr>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51" id="51"/>
              <p:cNvSpPr txBox="true"/>
              <p:nvPr/>
            </p:nvSpPr>
            <p:spPr>
              <a:xfrm>
                <a:off x="0" y="-19050"/>
                <a:ext cx="10972800" cy="476250"/>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6" tooltip="https://canva.link/j1m0vdglw23sasg"/>
                  </a:rPr>
                  <a:t>Group 6  |  Data Analytics Capstone</a:t>
                </a:r>
              </a:p>
            </p:txBody>
          </p:sp>
        </p:grpSp>
        <p:sp>
          <p:nvSpPr>
            <p:cNvPr name="Freeform 52" id="52">
              <a:hlinkClick r:id="rId9"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53" id="53"/>
          <p:cNvGrpSpPr/>
          <p:nvPr/>
        </p:nvGrpSpPr>
        <p:grpSpPr>
          <a:xfrm rot="0">
            <a:off x="10424160" y="411480"/>
            <a:ext cx="5966460" cy="342900"/>
            <a:chOff x="0" y="0"/>
            <a:chExt cx="7955280" cy="457200"/>
          </a:xfrm>
        </p:grpSpPr>
        <p:sp>
          <p:nvSpPr>
            <p:cNvPr name="Freeform 54" id="54"/>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55" id="55"/>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56" id="56"/>
          <p:cNvGrpSpPr/>
          <p:nvPr/>
        </p:nvGrpSpPr>
        <p:grpSpPr>
          <a:xfrm rot="0">
            <a:off x="16486632" y="411480"/>
            <a:ext cx="205740" cy="342900"/>
            <a:chOff x="0" y="0"/>
            <a:chExt cx="274320" cy="457200"/>
          </a:xfrm>
        </p:grpSpPr>
        <p:sp>
          <p:nvSpPr>
            <p:cNvPr name="Freeform 57" id="57"/>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58" id="58"/>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59" id="59"/>
          <p:cNvGrpSpPr/>
          <p:nvPr/>
        </p:nvGrpSpPr>
        <p:grpSpPr>
          <a:xfrm rot="0">
            <a:off x="16664940" y="411480"/>
            <a:ext cx="685800" cy="342900"/>
            <a:chOff x="0" y="0"/>
            <a:chExt cx="914400" cy="457200"/>
          </a:xfrm>
        </p:grpSpPr>
        <p:sp>
          <p:nvSpPr>
            <p:cNvPr name="Freeform 60" id="60"/>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61" id="61"/>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15</a:t>
              </a:r>
            </a:p>
          </p:txBody>
        </p:sp>
      </p:gr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50392"/>
            <a:ext cx="18287543" cy="1261872"/>
            <a:chOff x="0" y="0"/>
            <a:chExt cx="24383390" cy="1682496"/>
          </a:xfrm>
        </p:grpSpPr>
        <p:sp>
          <p:nvSpPr>
            <p:cNvPr name="Freeform 3" id="3" descr="bg/section.jpg"/>
            <p:cNvSpPr/>
            <p:nvPr/>
          </p:nvSpPr>
          <p:spPr>
            <a:xfrm flipH="false" flipV="false" rot="0">
              <a:off x="0" y="0"/>
              <a:ext cx="24383364" cy="1682496"/>
            </a:xfrm>
            <a:custGeom>
              <a:avLst/>
              <a:gdLst/>
              <a:ahLst/>
              <a:cxnLst/>
              <a:rect r="r" b="b" t="t" l="l"/>
              <a:pathLst>
                <a:path h="1682496" w="24383364">
                  <a:moveTo>
                    <a:pt x="0" y="0"/>
                  </a:moveTo>
                  <a:lnTo>
                    <a:pt x="24383364" y="0"/>
                  </a:lnTo>
                  <a:lnTo>
                    <a:pt x="24383364" y="1682496"/>
                  </a:lnTo>
                  <a:lnTo>
                    <a:pt x="0" y="1682496"/>
                  </a:lnTo>
                  <a:lnTo>
                    <a:pt x="0" y="0"/>
                  </a:lnTo>
                  <a:close/>
                </a:path>
              </a:pathLst>
            </a:custGeom>
            <a:blipFill>
              <a:blip r:embed="rId2"/>
              <a:stretch>
                <a:fillRect l="0" t="-357598" r="0" b="-357598"/>
              </a:stretch>
            </a:blipFill>
          </p:spPr>
        </p:sp>
      </p:grpSp>
      <p:grpSp>
        <p:nvGrpSpPr>
          <p:cNvPr name="Group 4" id="4"/>
          <p:cNvGrpSpPr/>
          <p:nvPr/>
        </p:nvGrpSpPr>
        <p:grpSpPr>
          <a:xfrm rot="0">
            <a:off x="987552" y="960120"/>
            <a:ext cx="16312439" cy="1042416"/>
            <a:chOff x="0" y="0"/>
            <a:chExt cx="21749918" cy="1389888"/>
          </a:xfrm>
        </p:grpSpPr>
        <p:sp>
          <p:nvSpPr>
            <p:cNvPr name="Freeform 5" id="5"/>
            <p:cNvSpPr/>
            <p:nvPr/>
          </p:nvSpPr>
          <p:spPr>
            <a:xfrm flipH="false" flipV="false" rot="0">
              <a:off x="0" y="0"/>
              <a:ext cx="21749917" cy="1389888"/>
            </a:xfrm>
            <a:custGeom>
              <a:avLst/>
              <a:gdLst/>
              <a:ahLst/>
              <a:cxnLst/>
              <a:rect r="r" b="b" t="t" l="l"/>
              <a:pathLst>
                <a:path h="1389888" w="21749917">
                  <a:moveTo>
                    <a:pt x="0" y="0"/>
                  </a:moveTo>
                  <a:lnTo>
                    <a:pt x="21749917" y="0"/>
                  </a:lnTo>
                  <a:lnTo>
                    <a:pt x="21749917" y="1389888"/>
                  </a:lnTo>
                  <a:lnTo>
                    <a:pt x="0" y="1389888"/>
                  </a:lnTo>
                  <a:close/>
                </a:path>
              </a:pathLst>
            </a:custGeom>
            <a:blipFill>
              <a:blip r:embed="rId3">
                <a:alphaModFix amt="0"/>
              </a:blip>
              <a:stretch>
                <a:fillRect l="0" t="-254915" r="0" b="-254915"/>
              </a:stretch>
            </a:blipFill>
          </p:spPr>
        </p:sp>
        <p:sp>
          <p:nvSpPr>
            <p:cNvPr name="TextBox 6" id="6"/>
            <p:cNvSpPr txBox="true"/>
            <p:nvPr/>
          </p:nvSpPr>
          <p:spPr>
            <a:xfrm>
              <a:off x="0" y="-28575"/>
              <a:ext cx="21749918" cy="1418463"/>
            </a:xfrm>
            <a:prstGeom prst="rect">
              <a:avLst/>
            </a:prstGeom>
          </p:spPr>
          <p:txBody>
            <a:bodyPr anchor="ctr" rtlCol="false" tIns="0" lIns="0" bIns="0" rIns="0"/>
            <a:lstStyle/>
            <a:p>
              <a:pPr algn="l">
                <a:lnSpc>
                  <a:spcPts val="5400"/>
                </a:lnSpc>
              </a:pPr>
              <a:r>
                <a:rPr lang="en-US" sz="4500" b="true">
                  <a:solidFill>
                    <a:srgbClr val="FFFFFF"/>
                  </a:solidFill>
                  <a:latin typeface="Arial Bold"/>
                  <a:ea typeface="Arial Bold"/>
                  <a:cs typeface="Arial Bold"/>
                  <a:sym typeface="Arial Bold"/>
                </a:rPr>
                <a:t>The dashboard, live</a:t>
              </a:r>
            </a:p>
          </p:txBody>
        </p:sp>
      </p:grpSp>
      <p:grpSp>
        <p:nvGrpSpPr>
          <p:cNvPr name="Group 7" id="7"/>
          <p:cNvGrpSpPr/>
          <p:nvPr/>
        </p:nvGrpSpPr>
        <p:grpSpPr>
          <a:xfrm rot="0">
            <a:off x="987552" y="2948940"/>
            <a:ext cx="7680960" cy="480060"/>
            <a:chOff x="0" y="0"/>
            <a:chExt cx="10241280" cy="640080"/>
          </a:xfrm>
        </p:grpSpPr>
        <p:sp>
          <p:nvSpPr>
            <p:cNvPr name="Freeform 8" id="8"/>
            <p:cNvSpPr/>
            <p:nvPr/>
          </p:nvSpPr>
          <p:spPr>
            <a:xfrm flipH="false" flipV="false" rot="0">
              <a:off x="0" y="0"/>
              <a:ext cx="10241280" cy="640080"/>
            </a:xfrm>
            <a:custGeom>
              <a:avLst/>
              <a:gdLst/>
              <a:ahLst/>
              <a:cxnLst/>
              <a:rect r="r" b="b" t="t" l="l"/>
              <a:pathLst>
                <a:path h="640080" w="10241280">
                  <a:moveTo>
                    <a:pt x="0" y="0"/>
                  </a:moveTo>
                  <a:lnTo>
                    <a:pt x="10241280" y="0"/>
                  </a:lnTo>
                  <a:lnTo>
                    <a:pt x="10241280" y="640080"/>
                  </a:lnTo>
                  <a:lnTo>
                    <a:pt x="0" y="640080"/>
                  </a:lnTo>
                  <a:close/>
                </a:path>
              </a:pathLst>
            </a:custGeom>
            <a:blipFill>
              <a:blip r:embed="rId3">
                <a:alphaModFix amt="0"/>
              </a:blip>
              <a:stretch>
                <a:fillRect l="0" t="-261760" r="0" b="-261760"/>
              </a:stretch>
            </a:blipFill>
          </p:spPr>
        </p:sp>
        <p:sp>
          <p:nvSpPr>
            <p:cNvPr name="TextBox 9" id="9"/>
            <p:cNvSpPr txBox="true"/>
            <p:nvPr/>
          </p:nvSpPr>
          <p:spPr>
            <a:xfrm>
              <a:off x="0" y="-19050"/>
              <a:ext cx="10241280" cy="659130"/>
            </a:xfrm>
            <a:prstGeom prst="rect">
              <a:avLst/>
            </a:prstGeom>
          </p:spPr>
          <p:txBody>
            <a:bodyPr anchor="ctr" rtlCol="false" tIns="0" lIns="0" bIns="0" rIns="0"/>
            <a:lstStyle/>
            <a:p>
              <a:pPr algn="l">
                <a:lnSpc>
                  <a:spcPts val="2700"/>
                </a:lnSpc>
              </a:pPr>
              <a:r>
                <a:rPr lang="en-US" sz="2250" b="true">
                  <a:solidFill>
                    <a:srgbClr val="A100FF"/>
                  </a:solidFill>
                  <a:latin typeface="Arial Bold"/>
                  <a:ea typeface="Arial Bold"/>
                  <a:cs typeface="Arial Bold"/>
                  <a:sym typeface="Arial Bold"/>
                </a:rPr>
                <a:t>Demo path</a:t>
              </a:r>
            </a:p>
          </p:txBody>
        </p:sp>
      </p:grpSp>
      <p:grpSp>
        <p:nvGrpSpPr>
          <p:cNvPr name="Group 10" id="10"/>
          <p:cNvGrpSpPr/>
          <p:nvPr/>
        </p:nvGrpSpPr>
        <p:grpSpPr>
          <a:xfrm rot="0">
            <a:off x="987552" y="3566160"/>
            <a:ext cx="576072" cy="576072"/>
            <a:chOff x="0" y="0"/>
            <a:chExt cx="768096" cy="768096"/>
          </a:xfrm>
        </p:grpSpPr>
        <p:sp>
          <p:nvSpPr>
            <p:cNvPr name="Freeform 11" id="1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100FF"/>
            </a:solidFill>
          </p:spPr>
        </p:sp>
      </p:grpSp>
      <p:grpSp>
        <p:nvGrpSpPr>
          <p:cNvPr name="Group 12" id="12"/>
          <p:cNvGrpSpPr/>
          <p:nvPr/>
        </p:nvGrpSpPr>
        <p:grpSpPr>
          <a:xfrm rot="0">
            <a:off x="987552" y="3566160"/>
            <a:ext cx="576072" cy="576072"/>
            <a:chOff x="0" y="0"/>
            <a:chExt cx="768096" cy="768096"/>
          </a:xfrm>
        </p:grpSpPr>
        <p:sp>
          <p:nvSpPr>
            <p:cNvPr name="Freeform 13" id="13"/>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14" id="14"/>
            <p:cNvSpPr txBox="true"/>
            <p:nvPr/>
          </p:nvSpPr>
          <p:spPr>
            <a:xfrm>
              <a:off x="0" y="-19050"/>
              <a:ext cx="768096" cy="787146"/>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1</a:t>
              </a:r>
            </a:p>
          </p:txBody>
        </p:sp>
      </p:grpSp>
      <p:grpSp>
        <p:nvGrpSpPr>
          <p:cNvPr name="Group 15" id="15"/>
          <p:cNvGrpSpPr/>
          <p:nvPr/>
        </p:nvGrpSpPr>
        <p:grpSpPr>
          <a:xfrm rot="0">
            <a:off x="1837944" y="3593592"/>
            <a:ext cx="7132320" cy="685800"/>
            <a:chOff x="0" y="0"/>
            <a:chExt cx="9509760" cy="914400"/>
          </a:xfrm>
        </p:grpSpPr>
        <p:sp>
          <p:nvSpPr>
            <p:cNvPr name="Freeform 16" id="16"/>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17" id="17"/>
            <p:cNvSpPr txBox="true"/>
            <p:nvPr/>
          </p:nvSpPr>
          <p:spPr>
            <a:xfrm>
              <a:off x="0" y="-28575"/>
              <a:ext cx="9509760" cy="942975"/>
            </a:xfrm>
            <a:prstGeom prst="rect">
              <a:avLst/>
            </a:prstGeom>
          </p:spPr>
          <p:txBody>
            <a:bodyPr anchor="ctr" rtlCol="false" tIns="0" lIns="0" bIns="0" rIns="0"/>
            <a:lstStyle/>
            <a:p>
              <a:pPr algn="l">
                <a:lnSpc>
                  <a:spcPts val="2250"/>
                </a:lnSpc>
              </a:pPr>
              <a:r>
                <a:rPr lang="en-US" sz="1875">
                  <a:solidFill>
                    <a:srgbClr val="000000"/>
                  </a:solidFill>
                  <a:latin typeface="Arial"/>
                  <a:ea typeface="Arial"/>
                  <a:cs typeface="Arial"/>
                  <a:sym typeface="Arial"/>
                </a:rPr>
                <a:t>Land on the overview - KPI cards against the 49.0% benchmark</a:t>
              </a:r>
            </a:p>
          </p:txBody>
        </p:sp>
      </p:grpSp>
      <p:grpSp>
        <p:nvGrpSpPr>
          <p:cNvPr name="Group 18" id="18"/>
          <p:cNvGrpSpPr/>
          <p:nvPr/>
        </p:nvGrpSpPr>
        <p:grpSpPr>
          <a:xfrm rot="0">
            <a:off x="987552" y="4553712"/>
            <a:ext cx="576072" cy="576072"/>
            <a:chOff x="0" y="0"/>
            <a:chExt cx="768096" cy="768096"/>
          </a:xfrm>
        </p:grpSpPr>
        <p:sp>
          <p:nvSpPr>
            <p:cNvPr name="Freeform 19" id="1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100FF"/>
            </a:solidFill>
          </p:spPr>
        </p:sp>
      </p:grpSp>
      <p:grpSp>
        <p:nvGrpSpPr>
          <p:cNvPr name="Group 20" id="20"/>
          <p:cNvGrpSpPr/>
          <p:nvPr/>
        </p:nvGrpSpPr>
        <p:grpSpPr>
          <a:xfrm rot="0">
            <a:off x="987552" y="4553712"/>
            <a:ext cx="576072" cy="576072"/>
            <a:chOff x="0" y="0"/>
            <a:chExt cx="768096" cy="768096"/>
          </a:xfrm>
        </p:grpSpPr>
        <p:sp>
          <p:nvSpPr>
            <p:cNvPr name="Freeform 21" id="21"/>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22" id="22"/>
            <p:cNvSpPr txBox="true"/>
            <p:nvPr/>
          </p:nvSpPr>
          <p:spPr>
            <a:xfrm>
              <a:off x="0" y="-19050"/>
              <a:ext cx="768096" cy="787146"/>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2</a:t>
              </a:r>
            </a:p>
          </p:txBody>
        </p:sp>
      </p:grpSp>
      <p:grpSp>
        <p:nvGrpSpPr>
          <p:cNvPr name="Group 23" id="23"/>
          <p:cNvGrpSpPr/>
          <p:nvPr/>
        </p:nvGrpSpPr>
        <p:grpSpPr>
          <a:xfrm rot="0">
            <a:off x="1837944" y="4581144"/>
            <a:ext cx="7132320" cy="685800"/>
            <a:chOff x="0" y="0"/>
            <a:chExt cx="9509760" cy="914400"/>
          </a:xfrm>
        </p:grpSpPr>
        <p:sp>
          <p:nvSpPr>
            <p:cNvPr name="Freeform 24" id="24"/>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25" id="25"/>
            <p:cNvSpPr txBox="true"/>
            <p:nvPr/>
          </p:nvSpPr>
          <p:spPr>
            <a:xfrm>
              <a:off x="0" y="-28575"/>
              <a:ext cx="9509760" cy="942975"/>
            </a:xfrm>
            <a:prstGeom prst="rect">
              <a:avLst/>
            </a:prstGeom>
          </p:spPr>
          <p:txBody>
            <a:bodyPr anchor="ctr" rtlCol="false" tIns="0" lIns="0" bIns="0" rIns="0"/>
            <a:lstStyle/>
            <a:p>
              <a:pPr algn="l">
                <a:lnSpc>
                  <a:spcPts val="2250"/>
                </a:lnSpc>
              </a:pPr>
              <a:r>
                <a:rPr lang="en-US" sz="1875">
                  <a:solidFill>
                    <a:srgbClr val="000000"/>
                  </a:solidFill>
                  <a:latin typeface="Arial"/>
                  <a:ea typeface="Arial"/>
                  <a:cs typeface="Arial"/>
                  <a:sym typeface="Arial"/>
                </a:rPr>
                <a:t>Filter to engagement_tier = Low, and watch completion fall to 39.7%</a:t>
              </a:r>
            </a:p>
          </p:txBody>
        </p:sp>
      </p:grpSp>
      <p:grpSp>
        <p:nvGrpSpPr>
          <p:cNvPr name="Group 26" id="26"/>
          <p:cNvGrpSpPr/>
          <p:nvPr/>
        </p:nvGrpSpPr>
        <p:grpSpPr>
          <a:xfrm rot="0">
            <a:off x="987552" y="5541264"/>
            <a:ext cx="576072" cy="576072"/>
            <a:chOff x="0" y="0"/>
            <a:chExt cx="768096" cy="768096"/>
          </a:xfrm>
        </p:grpSpPr>
        <p:sp>
          <p:nvSpPr>
            <p:cNvPr name="Freeform 27" id="2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100FF"/>
            </a:solidFill>
          </p:spPr>
        </p:sp>
      </p:grpSp>
      <p:grpSp>
        <p:nvGrpSpPr>
          <p:cNvPr name="Group 28" id="28"/>
          <p:cNvGrpSpPr/>
          <p:nvPr/>
        </p:nvGrpSpPr>
        <p:grpSpPr>
          <a:xfrm rot="0">
            <a:off x="987552" y="5541264"/>
            <a:ext cx="576072" cy="576072"/>
            <a:chOff x="0" y="0"/>
            <a:chExt cx="768096" cy="768096"/>
          </a:xfrm>
        </p:grpSpPr>
        <p:sp>
          <p:nvSpPr>
            <p:cNvPr name="Freeform 29" id="29"/>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30" id="30"/>
            <p:cNvSpPr txBox="true"/>
            <p:nvPr/>
          </p:nvSpPr>
          <p:spPr>
            <a:xfrm>
              <a:off x="0" y="-19050"/>
              <a:ext cx="768096" cy="787146"/>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3</a:t>
              </a:r>
            </a:p>
          </p:txBody>
        </p:sp>
      </p:grpSp>
      <p:grpSp>
        <p:nvGrpSpPr>
          <p:cNvPr name="Group 31" id="31"/>
          <p:cNvGrpSpPr/>
          <p:nvPr/>
        </p:nvGrpSpPr>
        <p:grpSpPr>
          <a:xfrm rot="0">
            <a:off x="1837944" y="5568696"/>
            <a:ext cx="7132320" cy="685800"/>
            <a:chOff x="0" y="0"/>
            <a:chExt cx="9509760" cy="914400"/>
          </a:xfrm>
        </p:grpSpPr>
        <p:sp>
          <p:nvSpPr>
            <p:cNvPr name="Freeform 32" id="32"/>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33" id="33"/>
            <p:cNvSpPr txBox="true"/>
            <p:nvPr/>
          </p:nvSpPr>
          <p:spPr>
            <a:xfrm>
              <a:off x="0" y="-28575"/>
              <a:ext cx="9509760" cy="942975"/>
            </a:xfrm>
            <a:prstGeom prst="rect">
              <a:avLst/>
            </a:prstGeom>
          </p:spPr>
          <p:txBody>
            <a:bodyPr anchor="ctr" rtlCol="false" tIns="0" lIns="0" bIns="0" rIns="0"/>
            <a:lstStyle/>
            <a:p>
              <a:pPr algn="l">
                <a:lnSpc>
                  <a:spcPts val="2250"/>
                </a:lnSpc>
              </a:pPr>
              <a:r>
                <a:rPr lang="en-US" sz="1875">
                  <a:solidFill>
                    <a:srgbClr val="000000"/>
                  </a:solidFill>
                  <a:latin typeface="Arial"/>
                  <a:ea typeface="Arial"/>
                  <a:cs typeface="Arial"/>
                  <a:sym typeface="Arial"/>
                </a:rPr>
                <a:t>Add Payment_Mode = Free, and watch it fall further</a:t>
              </a:r>
            </a:p>
          </p:txBody>
        </p:sp>
      </p:grpSp>
      <p:grpSp>
        <p:nvGrpSpPr>
          <p:cNvPr name="Group 34" id="34"/>
          <p:cNvGrpSpPr/>
          <p:nvPr/>
        </p:nvGrpSpPr>
        <p:grpSpPr>
          <a:xfrm rot="0">
            <a:off x="987552" y="6528816"/>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100FF"/>
            </a:solidFill>
          </p:spPr>
        </p:sp>
      </p:grpSp>
      <p:grpSp>
        <p:nvGrpSpPr>
          <p:cNvPr name="Group 36" id="36"/>
          <p:cNvGrpSpPr/>
          <p:nvPr/>
        </p:nvGrpSpPr>
        <p:grpSpPr>
          <a:xfrm rot="0">
            <a:off x="987552" y="6528816"/>
            <a:ext cx="576072" cy="576072"/>
            <a:chOff x="0" y="0"/>
            <a:chExt cx="768096" cy="768096"/>
          </a:xfrm>
        </p:grpSpPr>
        <p:sp>
          <p:nvSpPr>
            <p:cNvPr name="Freeform 37" id="37"/>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38" id="38"/>
            <p:cNvSpPr txBox="true"/>
            <p:nvPr/>
          </p:nvSpPr>
          <p:spPr>
            <a:xfrm>
              <a:off x="0" y="-19050"/>
              <a:ext cx="768096" cy="787146"/>
            </a:xfrm>
            <a:prstGeom prst="rect">
              <a:avLst/>
            </a:prstGeom>
          </p:spPr>
          <p:txBody>
            <a:bodyPr anchor="ctr" rtlCol="false" tIns="0" lIns="0" bIns="0" rIns="0"/>
            <a:lstStyle/>
            <a:p>
              <a:pPr algn="ctr">
                <a:lnSpc>
                  <a:spcPts val="2160"/>
                </a:lnSpc>
              </a:pPr>
              <a:r>
                <a:rPr lang="en-US" sz="1800" b="true">
                  <a:solidFill>
                    <a:srgbClr val="FFFFFF"/>
                  </a:solidFill>
                  <a:latin typeface="Arial Bold"/>
                  <a:ea typeface="Arial Bold"/>
                  <a:cs typeface="Arial Bold"/>
                  <a:sym typeface="Arial Bold"/>
                </a:rPr>
                <a:t>4</a:t>
              </a:r>
            </a:p>
          </p:txBody>
        </p:sp>
      </p:grpSp>
      <p:grpSp>
        <p:nvGrpSpPr>
          <p:cNvPr name="Group 39" id="39"/>
          <p:cNvGrpSpPr/>
          <p:nvPr/>
        </p:nvGrpSpPr>
        <p:grpSpPr>
          <a:xfrm rot="0">
            <a:off x="1837944" y="6556248"/>
            <a:ext cx="7132320" cy="685800"/>
            <a:chOff x="0" y="0"/>
            <a:chExt cx="9509760" cy="914400"/>
          </a:xfrm>
        </p:grpSpPr>
        <p:sp>
          <p:nvSpPr>
            <p:cNvPr name="Freeform 40" id="40"/>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41" id="41"/>
            <p:cNvSpPr txBox="true"/>
            <p:nvPr/>
          </p:nvSpPr>
          <p:spPr>
            <a:xfrm>
              <a:off x="0" y="-28575"/>
              <a:ext cx="9509760" cy="942975"/>
            </a:xfrm>
            <a:prstGeom prst="rect">
              <a:avLst/>
            </a:prstGeom>
          </p:spPr>
          <p:txBody>
            <a:bodyPr anchor="ctr" rtlCol="false" tIns="0" lIns="0" bIns="0" rIns="0"/>
            <a:lstStyle/>
            <a:p>
              <a:pPr algn="l">
                <a:lnSpc>
                  <a:spcPts val="2250"/>
                </a:lnSpc>
              </a:pPr>
              <a:r>
                <a:rPr lang="en-US" sz="1875">
                  <a:solidFill>
                    <a:srgbClr val="000000"/>
                  </a:solidFill>
                  <a:latin typeface="Arial"/>
                  <a:ea typeface="Arial"/>
                  <a:cs typeface="Arial"/>
                  <a:sym typeface="Arial"/>
                </a:rPr>
                <a:t>Stop. That is the at-risk segment, identified in two clicks</a:t>
              </a:r>
            </a:p>
          </p:txBody>
        </p:sp>
      </p:grpSp>
      <p:grpSp>
        <p:nvGrpSpPr>
          <p:cNvPr name="Group 42" id="42"/>
          <p:cNvGrpSpPr/>
          <p:nvPr/>
        </p:nvGrpSpPr>
        <p:grpSpPr>
          <a:xfrm rot="0">
            <a:off x="891540" y="7687818"/>
            <a:ext cx="7680960" cy="438912"/>
            <a:chOff x="0" y="0"/>
            <a:chExt cx="10241280" cy="585216"/>
          </a:xfrm>
        </p:grpSpPr>
        <p:sp>
          <p:nvSpPr>
            <p:cNvPr name="Freeform 43" id="43"/>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44" id="44"/>
            <p:cNvSpPr txBox="true"/>
            <p:nvPr/>
          </p:nvSpPr>
          <p:spPr>
            <a:xfrm>
              <a:off x="0" y="-19050"/>
              <a:ext cx="10241280" cy="604266"/>
            </a:xfrm>
            <a:prstGeom prst="rect">
              <a:avLst/>
            </a:prstGeom>
          </p:spPr>
          <p:txBody>
            <a:bodyPr anchor="ctr" rtlCol="false" tIns="0" lIns="0" bIns="0" rIns="0"/>
            <a:lstStyle/>
            <a:p>
              <a:pPr algn="l">
                <a:lnSpc>
                  <a:spcPts val="2340"/>
                </a:lnSpc>
              </a:pPr>
              <a:r>
                <a:rPr lang="en-US" sz="1950" b="true">
                  <a:solidFill>
                    <a:srgbClr val="A100FF"/>
                  </a:solidFill>
                  <a:latin typeface="Arial Bold"/>
                  <a:ea typeface="Arial Bold"/>
                  <a:cs typeface="Arial Bold"/>
                  <a:sym typeface="Arial Bold"/>
                </a:rPr>
                <a:t>Repository</a:t>
              </a:r>
            </a:p>
          </p:txBody>
        </p:sp>
      </p:grpSp>
      <p:grpSp>
        <p:nvGrpSpPr>
          <p:cNvPr name="Group 45" id="45"/>
          <p:cNvGrpSpPr/>
          <p:nvPr/>
        </p:nvGrpSpPr>
        <p:grpSpPr>
          <a:xfrm rot="0">
            <a:off x="891540" y="8140446"/>
            <a:ext cx="7680960" cy="396437"/>
            <a:chOff x="0" y="0"/>
            <a:chExt cx="11338560" cy="585216"/>
          </a:xfrm>
        </p:grpSpPr>
        <p:sp>
          <p:nvSpPr>
            <p:cNvPr name="Freeform 46" id="46"/>
            <p:cNvSpPr/>
            <p:nvPr/>
          </p:nvSpPr>
          <p:spPr>
            <a:xfrm flipH="false" flipV="false" rot="0">
              <a:off x="0" y="0"/>
              <a:ext cx="11338560" cy="585216"/>
            </a:xfrm>
            <a:custGeom>
              <a:avLst/>
              <a:gdLst/>
              <a:ahLst/>
              <a:cxnLst/>
              <a:rect r="r" b="b" t="t" l="l"/>
              <a:pathLst>
                <a:path h="585216" w="11338560">
                  <a:moveTo>
                    <a:pt x="0" y="0"/>
                  </a:moveTo>
                  <a:lnTo>
                    <a:pt x="11338560" y="0"/>
                  </a:lnTo>
                  <a:lnTo>
                    <a:pt x="11338560" y="585216"/>
                  </a:lnTo>
                  <a:lnTo>
                    <a:pt x="0" y="585216"/>
                  </a:lnTo>
                  <a:close/>
                </a:path>
              </a:pathLst>
            </a:custGeom>
            <a:blipFill>
              <a:blip r:embed="rId3">
                <a:alphaModFix amt="0"/>
              </a:blip>
              <a:stretch>
                <a:fillRect l="0" t="-327522" r="0" b="-327522"/>
              </a:stretch>
            </a:blipFill>
          </p:spPr>
        </p:sp>
        <p:sp>
          <p:nvSpPr>
            <p:cNvPr name="TextBox 47" id="47"/>
            <p:cNvSpPr txBox="true"/>
            <p:nvPr/>
          </p:nvSpPr>
          <p:spPr>
            <a:xfrm>
              <a:off x="0" y="-28575"/>
              <a:ext cx="11338560" cy="613791"/>
            </a:xfrm>
            <a:prstGeom prst="rect">
              <a:avLst/>
            </a:prstGeom>
          </p:spPr>
          <p:txBody>
            <a:bodyPr anchor="ctr" rtlCol="false" tIns="0" lIns="0" bIns="0" rIns="0"/>
            <a:lstStyle/>
            <a:p>
              <a:pPr algn="l">
                <a:lnSpc>
                  <a:spcPts val="2250"/>
                </a:lnSpc>
              </a:pPr>
              <a:r>
                <a:rPr lang="en-US" sz="1875" u="sng">
                  <a:solidFill>
                    <a:srgbClr val="000000"/>
                  </a:solidFill>
                  <a:latin typeface="Arial"/>
                  <a:ea typeface="Arial"/>
                  <a:cs typeface="Arial"/>
                  <a:sym typeface="Arial"/>
                  <a:hlinkClick r:id="rId4" tooltip="https://github.com/Purnima-Vats/Group6_Capstone_Project"/>
                </a:rPr>
                <a:t>github.com/Purnima-Vats/Group6_Capstone_Project</a:t>
              </a:r>
            </a:p>
          </p:txBody>
        </p:sp>
      </p:grpSp>
      <p:grpSp>
        <p:nvGrpSpPr>
          <p:cNvPr name="Group 48" id="48"/>
          <p:cNvGrpSpPr/>
          <p:nvPr/>
        </p:nvGrpSpPr>
        <p:grpSpPr>
          <a:xfrm rot="0">
            <a:off x="891540" y="8579358"/>
            <a:ext cx="8778240" cy="438912"/>
            <a:chOff x="0" y="0"/>
            <a:chExt cx="11704320" cy="585216"/>
          </a:xfrm>
        </p:grpSpPr>
        <p:sp>
          <p:nvSpPr>
            <p:cNvPr name="Freeform 49" id="49"/>
            <p:cNvSpPr/>
            <p:nvPr/>
          </p:nvSpPr>
          <p:spPr>
            <a:xfrm flipH="false" flipV="false" rot="0">
              <a:off x="0" y="0"/>
              <a:ext cx="11704320" cy="585216"/>
            </a:xfrm>
            <a:custGeom>
              <a:avLst/>
              <a:gdLst/>
              <a:ahLst/>
              <a:cxnLst/>
              <a:rect r="r" b="b" t="t" l="l"/>
              <a:pathLst>
                <a:path h="585216" w="11704320">
                  <a:moveTo>
                    <a:pt x="0" y="0"/>
                  </a:moveTo>
                  <a:lnTo>
                    <a:pt x="11704320" y="0"/>
                  </a:lnTo>
                  <a:lnTo>
                    <a:pt x="11704320" y="585216"/>
                  </a:lnTo>
                  <a:lnTo>
                    <a:pt x="0" y="585216"/>
                  </a:lnTo>
                  <a:close/>
                </a:path>
              </a:pathLst>
            </a:custGeom>
            <a:blipFill>
              <a:blip r:embed="rId3">
                <a:alphaModFix amt="0"/>
              </a:blip>
              <a:stretch>
                <a:fillRect l="0" t="-339700" r="0" b="-339700"/>
              </a:stretch>
            </a:blipFill>
          </p:spPr>
        </p:sp>
        <p:sp>
          <p:nvSpPr>
            <p:cNvPr name="TextBox 50" id="50"/>
            <p:cNvSpPr txBox="true"/>
            <p:nvPr/>
          </p:nvSpPr>
          <p:spPr>
            <a:xfrm>
              <a:off x="0" y="-19050"/>
              <a:ext cx="11704320" cy="604266"/>
            </a:xfrm>
            <a:prstGeom prst="rect">
              <a:avLst/>
            </a:prstGeom>
          </p:spPr>
          <p:txBody>
            <a:bodyPr anchor="ctr" rtlCol="false" tIns="0" lIns="0" bIns="0" rIns="0"/>
            <a:lstStyle/>
            <a:p>
              <a:pPr algn="l">
                <a:lnSpc>
                  <a:spcPts val="1980"/>
                </a:lnSpc>
              </a:pPr>
              <a:r>
                <a:rPr lang="en-US" sz="1650">
                  <a:solidFill>
                    <a:srgbClr val="585858"/>
                  </a:solidFill>
                  <a:latin typeface="Arial"/>
                  <a:ea typeface="Arial"/>
                  <a:cs typeface="Arial"/>
                  <a:sym typeface="Arial"/>
                </a:rPr>
                <a:t>Three notebooks  ·  quality report  ·  cleaned dataset  ·  Streamlit application</a:t>
              </a:r>
            </a:p>
          </p:txBody>
        </p:sp>
      </p:grpSp>
      <p:grpSp>
        <p:nvGrpSpPr>
          <p:cNvPr name="Group 51" id="51"/>
          <p:cNvGrpSpPr/>
          <p:nvPr/>
        </p:nvGrpSpPr>
        <p:grpSpPr>
          <a:xfrm rot="0">
            <a:off x="9669780" y="8106156"/>
            <a:ext cx="7680960" cy="822960"/>
            <a:chOff x="0" y="0"/>
            <a:chExt cx="10241280" cy="1097280"/>
          </a:xfrm>
        </p:grpSpPr>
        <p:sp>
          <p:nvSpPr>
            <p:cNvPr name="Freeform 52" id="52"/>
            <p:cNvSpPr/>
            <p:nvPr/>
          </p:nvSpPr>
          <p:spPr>
            <a:xfrm flipH="false" flipV="false" rot="0">
              <a:off x="0" y="0"/>
              <a:ext cx="10241280" cy="1097280"/>
            </a:xfrm>
            <a:custGeom>
              <a:avLst/>
              <a:gdLst/>
              <a:ahLst/>
              <a:cxnLst/>
              <a:rect r="r" b="b" t="t" l="l"/>
              <a:pathLst>
                <a:path h="1097280" w="10241280">
                  <a:moveTo>
                    <a:pt x="0" y="0"/>
                  </a:moveTo>
                  <a:lnTo>
                    <a:pt x="10241280" y="0"/>
                  </a:lnTo>
                  <a:lnTo>
                    <a:pt x="10241280" y="1097280"/>
                  </a:lnTo>
                  <a:lnTo>
                    <a:pt x="0" y="1097280"/>
                  </a:lnTo>
                  <a:close/>
                </a:path>
              </a:pathLst>
            </a:custGeom>
            <a:blipFill>
              <a:blip r:embed="rId3">
                <a:alphaModFix amt="0"/>
              </a:blip>
              <a:stretch>
                <a:fillRect l="0" t="-131860" r="0" b="-131860"/>
              </a:stretch>
            </a:blipFill>
          </p:spPr>
        </p:sp>
        <p:sp>
          <p:nvSpPr>
            <p:cNvPr name="TextBox 53" id="53"/>
            <p:cNvSpPr txBox="true"/>
            <p:nvPr/>
          </p:nvSpPr>
          <p:spPr>
            <a:xfrm>
              <a:off x="0" y="-19050"/>
              <a:ext cx="10241280" cy="1116330"/>
            </a:xfrm>
            <a:prstGeom prst="rect">
              <a:avLst/>
            </a:prstGeom>
          </p:spPr>
          <p:txBody>
            <a:bodyPr anchor="ctr" rtlCol="false" tIns="0" lIns="0" bIns="0" rIns="0"/>
            <a:lstStyle/>
            <a:p>
              <a:pPr algn="l">
                <a:lnSpc>
                  <a:spcPts val="2070"/>
                </a:lnSpc>
              </a:pPr>
              <a:r>
                <a:rPr lang="en-US" sz="1725" i="true">
                  <a:solidFill>
                    <a:srgbClr val="585858"/>
                  </a:solidFill>
                  <a:latin typeface="Arial Italics"/>
                  <a:ea typeface="Arial Italics"/>
                  <a:cs typeface="Arial Italics"/>
                  <a:sym typeface="Arial Italics"/>
                </a:rPr>
                <a:t>Every figure in this deck was produced by running that code against the full 100,000 rows.</a:t>
              </a:r>
            </a:p>
          </p:txBody>
        </p:sp>
      </p:grpSp>
      <p:grpSp>
        <p:nvGrpSpPr>
          <p:cNvPr name="Group 54" id="54"/>
          <p:cNvGrpSpPr/>
          <p:nvPr/>
        </p:nvGrpSpPr>
        <p:grpSpPr>
          <a:xfrm rot="0">
            <a:off x="10424160" y="411480"/>
            <a:ext cx="5966460" cy="342900"/>
            <a:chOff x="0" y="0"/>
            <a:chExt cx="7955280" cy="457200"/>
          </a:xfrm>
        </p:grpSpPr>
        <p:sp>
          <p:nvSpPr>
            <p:cNvPr name="Freeform 55" id="55"/>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3">
                <a:alphaModFix amt="0"/>
              </a:blip>
              <a:stretch>
                <a:fillRect l="0" t="-289039" r="0" b="-289039"/>
              </a:stretch>
            </a:blipFill>
          </p:spPr>
        </p:sp>
        <p:sp>
          <p:nvSpPr>
            <p:cNvPr name="TextBox 56" id="56"/>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57" id="57"/>
          <p:cNvGrpSpPr/>
          <p:nvPr/>
        </p:nvGrpSpPr>
        <p:grpSpPr>
          <a:xfrm rot="0">
            <a:off x="16486632" y="411480"/>
            <a:ext cx="205740" cy="342900"/>
            <a:chOff x="0" y="0"/>
            <a:chExt cx="274320" cy="457200"/>
          </a:xfrm>
        </p:grpSpPr>
        <p:sp>
          <p:nvSpPr>
            <p:cNvPr name="Freeform 58" id="58"/>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3">
                <a:alphaModFix amt="0"/>
              </a:blip>
              <a:stretch>
                <a:fillRect l="-163839" t="0" r="-163839" b="0"/>
              </a:stretch>
            </a:blipFill>
          </p:spPr>
        </p:sp>
        <p:sp>
          <p:nvSpPr>
            <p:cNvPr name="TextBox 59" id="59"/>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60" id="60"/>
          <p:cNvGrpSpPr/>
          <p:nvPr/>
        </p:nvGrpSpPr>
        <p:grpSpPr>
          <a:xfrm rot="0">
            <a:off x="16664940" y="411480"/>
            <a:ext cx="685800" cy="342900"/>
            <a:chOff x="0" y="0"/>
            <a:chExt cx="914400" cy="457200"/>
          </a:xfrm>
        </p:grpSpPr>
        <p:sp>
          <p:nvSpPr>
            <p:cNvPr name="Freeform 61" id="61"/>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3">
                <a:alphaModFix amt="0"/>
              </a:blip>
              <a:stretch>
                <a:fillRect l="-14151" t="0" r="-14151" b="0"/>
              </a:stretch>
            </a:blipFill>
          </p:spPr>
        </p:sp>
        <p:sp>
          <p:nvSpPr>
            <p:cNvPr name="TextBox 62" id="62"/>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16</a:t>
              </a:r>
            </a:p>
          </p:txBody>
        </p:sp>
      </p:grpSp>
      <p:grpSp>
        <p:nvGrpSpPr>
          <p:cNvPr name="Group 63" id="63"/>
          <p:cNvGrpSpPr/>
          <p:nvPr/>
        </p:nvGrpSpPr>
        <p:grpSpPr>
          <a:xfrm rot="0">
            <a:off x="987552" y="9601200"/>
            <a:ext cx="8229600" cy="342900"/>
            <a:chOff x="0" y="0"/>
            <a:chExt cx="10972800" cy="457200"/>
          </a:xfrm>
        </p:grpSpPr>
        <p:sp>
          <p:nvSpPr>
            <p:cNvPr name="Freeform 64" id="64"/>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3">
                <a:alphaModFix amt="0"/>
              </a:blip>
              <a:stretch>
                <a:fillRect l="0" t="-417640" r="0" b="-417640"/>
              </a:stretch>
            </a:blipFill>
          </p:spPr>
        </p:sp>
        <p:sp>
          <p:nvSpPr>
            <p:cNvPr name="TextBox 65" id="65"/>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66" id="66"/>
          <p:cNvGrpSpPr/>
          <p:nvPr/>
        </p:nvGrpSpPr>
        <p:grpSpPr>
          <a:xfrm rot="0">
            <a:off x="0" y="9464040"/>
            <a:ext cx="18288000" cy="822960"/>
            <a:chOff x="0" y="0"/>
            <a:chExt cx="24384000" cy="1097280"/>
          </a:xfrm>
        </p:grpSpPr>
        <p:grpSp>
          <p:nvGrpSpPr>
            <p:cNvPr name="Group 67" id="67"/>
            <p:cNvGrpSpPr/>
            <p:nvPr/>
          </p:nvGrpSpPr>
          <p:grpSpPr>
            <a:xfrm rot="0">
              <a:off x="0" y="0"/>
              <a:ext cx="24384000" cy="1097280"/>
              <a:chOff x="0" y="0"/>
              <a:chExt cx="16256000" cy="731520"/>
            </a:xfrm>
          </p:grpSpPr>
          <p:sp>
            <p:nvSpPr>
              <p:cNvPr name="Freeform 68" id="68">
                <a:hlinkClick r:id="rId5" tooltip="https://canva.link/j1m0vdglw23sasg"/>
              </p:cNvPr>
              <p:cNvSpPr/>
              <p:nvPr/>
            </p:nvSpPr>
            <p:spPr>
              <a:xfrm flipH="false" flipV="false" rot="0">
                <a:off x="0" y="0"/>
                <a:ext cx="16256000" cy="731520"/>
              </a:xfrm>
              <a:custGeom>
                <a:avLst/>
                <a:gdLst/>
                <a:ahLst/>
                <a:cxnLst/>
                <a:rect r="r" b="b" t="t" l="l"/>
                <a:pathLst>
                  <a:path h="731520" w="16256000">
                    <a:moveTo>
                      <a:pt x="0" y="0"/>
                    </a:moveTo>
                    <a:lnTo>
                      <a:pt x="16256000" y="0"/>
                    </a:lnTo>
                    <a:lnTo>
                      <a:pt x="16256000" y="731520"/>
                    </a:lnTo>
                    <a:lnTo>
                      <a:pt x="0" y="731520"/>
                    </a:lnTo>
                    <a:lnTo>
                      <a:pt x="0" y="0"/>
                    </a:lnTo>
                    <a:close/>
                  </a:path>
                </a:pathLst>
              </a:custGeom>
              <a:blipFill>
                <a:blip r:embed="rId6"/>
                <a:stretch>
                  <a:fillRect l="0" t="0" r="-45" b="-609"/>
                </a:stretch>
              </a:blipFill>
            </p:spPr>
          </p:sp>
        </p:grpSp>
        <p:grpSp>
          <p:nvGrpSpPr>
            <p:cNvPr name="Group 69" id="69"/>
            <p:cNvGrpSpPr/>
            <p:nvPr/>
          </p:nvGrpSpPr>
          <p:grpSpPr>
            <a:xfrm rot="0">
              <a:off x="1316736" y="182880"/>
              <a:ext cx="10972800" cy="457200"/>
              <a:chOff x="0" y="0"/>
              <a:chExt cx="10972800" cy="457200"/>
            </a:xfrm>
          </p:grpSpPr>
          <p:sp>
            <p:nvSpPr>
              <p:cNvPr name="Freeform 70" id="70">
                <a:hlinkClick r:id="rId7" tooltip="https://canva.link/j1m0vdglw23sasg"/>
              </p:cNvPr>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3">
                  <a:alphaModFix amt="0"/>
                </a:blip>
                <a:stretch>
                  <a:fillRect l="0" t="-417640" r="0" b="-417640"/>
                </a:stretch>
              </a:blipFill>
            </p:spPr>
          </p:sp>
          <p:sp>
            <p:nvSpPr>
              <p:cNvPr name="TextBox 71" id="71"/>
              <p:cNvSpPr txBox="true"/>
              <p:nvPr/>
            </p:nvSpPr>
            <p:spPr>
              <a:xfrm>
                <a:off x="0" y="-19050"/>
                <a:ext cx="10972800" cy="476250"/>
              </a:xfrm>
              <a:prstGeom prst="rect">
                <a:avLst/>
              </a:prstGeom>
            </p:spPr>
            <p:txBody>
              <a:bodyPr anchor="ctr" rtlCol="false" tIns="0" lIns="0" bIns="0" rIns="0"/>
              <a:lstStyle/>
              <a:p>
                <a:pPr algn="l">
                  <a:lnSpc>
                    <a:spcPts val="1620"/>
                  </a:lnSpc>
                </a:pPr>
                <a:r>
                  <a:rPr lang="en-US" sz="1350" u="sng">
                    <a:solidFill>
                      <a:srgbClr val="E3E3E3"/>
                    </a:solidFill>
                    <a:latin typeface="Arial"/>
                    <a:ea typeface="Arial"/>
                    <a:cs typeface="Arial"/>
                    <a:sym typeface="Arial"/>
                    <a:hlinkClick r:id="rId8" tooltip="https://canva.link/j1m0vdglw23sasg"/>
                  </a:rPr>
                  <a:t>Group 6  |  Data Analytics Capstone</a:t>
                </a:r>
              </a:p>
            </p:txBody>
          </p:sp>
        </p:grpSp>
        <p:sp>
          <p:nvSpPr>
            <p:cNvPr name="Freeform 72" id="72">
              <a:hlinkClick r:id="rId11" tooltip="https://canva.link/j1m0vdglw23sasg"/>
            </p:cNvPr>
            <p:cNvSpPr/>
            <p:nvPr/>
          </p:nvSpPr>
          <p:spPr>
            <a:xfrm flipH="false" flipV="false" rot="0">
              <a:off x="22759700" y="272967"/>
              <a:ext cx="505400" cy="551345"/>
            </a:xfrm>
            <a:custGeom>
              <a:avLst/>
              <a:gdLst/>
              <a:ahLst/>
              <a:cxnLst/>
              <a:rect r="r" b="b" t="t" l="l"/>
              <a:pathLst>
                <a:path h="551345" w="505400">
                  <a:moveTo>
                    <a:pt x="0" y="0"/>
                  </a:moveTo>
                  <a:lnTo>
                    <a:pt x="505400" y="0"/>
                  </a:lnTo>
                  <a:lnTo>
                    <a:pt x="505400" y="551346"/>
                  </a:lnTo>
                  <a:lnTo>
                    <a:pt x="0" y="5513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73" id="73"/>
          <p:cNvSpPr/>
          <p:nvPr/>
        </p:nvSpPr>
        <p:spPr>
          <a:xfrm flipH="false" flipV="false" rot="0">
            <a:off x="9669780" y="2331720"/>
            <a:ext cx="7240713" cy="5795010"/>
          </a:xfrm>
          <a:custGeom>
            <a:avLst/>
            <a:gdLst/>
            <a:ahLst/>
            <a:cxnLst/>
            <a:rect r="r" b="b" t="t" l="l"/>
            <a:pathLst>
              <a:path h="5795010" w="7240713">
                <a:moveTo>
                  <a:pt x="0" y="0"/>
                </a:moveTo>
                <a:lnTo>
                  <a:pt x="7240713" y="0"/>
                </a:lnTo>
                <a:lnTo>
                  <a:pt x="7240713" y="5795010"/>
                </a:lnTo>
                <a:lnTo>
                  <a:pt x="0" y="5795010"/>
                </a:lnTo>
                <a:lnTo>
                  <a:pt x="0" y="0"/>
                </a:lnTo>
                <a:close/>
              </a:path>
            </a:pathLst>
          </a:custGeom>
          <a:blipFill>
            <a:blip r:embed="rId12"/>
            <a:stretch>
              <a:fillRect l="0" t="-1853" r="0" b="-1853"/>
            </a:stretch>
          </a:blipFill>
        </p:spPr>
      </p:sp>
      <p:sp>
        <p:nvSpPr>
          <p:cNvPr name="Freeform 74" id="74">
            <a:hlinkClick r:id="rId14" tooltip="https://student-course-completion-dashboard.streamlit.app"/>
          </p:cNvPr>
          <p:cNvSpPr/>
          <p:nvPr/>
        </p:nvSpPr>
        <p:spPr>
          <a:xfrm flipH="false" flipV="false" rot="0">
            <a:off x="9931299" y="2516839"/>
            <a:ext cx="6667742" cy="3756707"/>
          </a:xfrm>
          <a:custGeom>
            <a:avLst/>
            <a:gdLst/>
            <a:ahLst/>
            <a:cxnLst/>
            <a:rect r="r" b="b" t="t" l="l"/>
            <a:pathLst>
              <a:path h="3756707" w="6667742">
                <a:moveTo>
                  <a:pt x="0" y="0"/>
                </a:moveTo>
                <a:lnTo>
                  <a:pt x="6667742" y="0"/>
                </a:lnTo>
                <a:lnTo>
                  <a:pt x="6667742" y="3756707"/>
                </a:lnTo>
                <a:lnTo>
                  <a:pt x="0" y="3756707"/>
                </a:lnTo>
                <a:lnTo>
                  <a:pt x="0" y="0"/>
                </a:lnTo>
                <a:close/>
              </a:path>
            </a:pathLst>
          </a:custGeom>
          <a:blipFill>
            <a:blip r:embed="rId13"/>
            <a:stretch>
              <a:fillRect l="0" t="-297" r="-1548" b="-160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7552" y="850392"/>
            <a:ext cx="16312439" cy="987552"/>
            <a:chOff x="0" y="0"/>
            <a:chExt cx="21749918" cy="1316736"/>
          </a:xfrm>
        </p:grpSpPr>
        <p:sp>
          <p:nvSpPr>
            <p:cNvPr name="Freeform 3" id="3"/>
            <p:cNvSpPr/>
            <p:nvPr/>
          </p:nvSpPr>
          <p:spPr>
            <a:xfrm flipH="false" flipV="false" rot="0">
              <a:off x="0" y="0"/>
              <a:ext cx="21749917" cy="1316736"/>
            </a:xfrm>
            <a:custGeom>
              <a:avLst/>
              <a:gdLst/>
              <a:ahLst/>
              <a:cxnLst/>
              <a:rect r="r" b="b" t="t" l="l"/>
              <a:pathLst>
                <a:path h="1316736" w="21749917">
                  <a:moveTo>
                    <a:pt x="0" y="0"/>
                  </a:moveTo>
                  <a:lnTo>
                    <a:pt x="21749917" y="0"/>
                  </a:lnTo>
                  <a:lnTo>
                    <a:pt x="21749917" y="1316736"/>
                  </a:lnTo>
                  <a:lnTo>
                    <a:pt x="0" y="1316736"/>
                  </a:lnTo>
                  <a:close/>
                </a:path>
              </a:pathLst>
            </a:custGeom>
            <a:blipFill>
              <a:blip r:embed="rId2">
                <a:alphaModFix amt="0"/>
              </a:blip>
              <a:stretch>
                <a:fillRect l="0" t="-271854" r="0" b="-271854"/>
              </a:stretch>
            </a:blipFill>
          </p:spPr>
        </p:sp>
        <p:sp>
          <p:nvSpPr>
            <p:cNvPr name="TextBox 4" id="4"/>
            <p:cNvSpPr txBox="true"/>
            <p:nvPr/>
          </p:nvSpPr>
          <p:spPr>
            <a:xfrm>
              <a:off x="0" y="-19050"/>
              <a:ext cx="21749918" cy="1335786"/>
            </a:xfrm>
            <a:prstGeom prst="rect">
              <a:avLst/>
            </a:prstGeom>
          </p:spPr>
          <p:txBody>
            <a:bodyPr anchor="ctr" rtlCol="false" tIns="0" lIns="0" bIns="0" rIns="0"/>
            <a:lstStyle/>
            <a:p>
              <a:pPr algn="l">
                <a:lnSpc>
                  <a:spcPts val="4860"/>
                </a:lnSpc>
              </a:pPr>
              <a:r>
                <a:rPr lang="en-US" sz="4050" b="true">
                  <a:solidFill>
                    <a:srgbClr val="A100FF"/>
                  </a:solidFill>
                  <a:latin typeface="Arial Bold"/>
                  <a:ea typeface="Arial Bold"/>
                  <a:cs typeface="Arial Bold"/>
                  <a:sym typeface="Arial Bold"/>
                </a:rPr>
                <a:t>Engagement is the only lever we can actually pull</a:t>
              </a:r>
            </a:p>
          </p:txBody>
        </p:sp>
      </p:grpSp>
      <p:grpSp>
        <p:nvGrpSpPr>
          <p:cNvPr name="Group 5" id="5"/>
          <p:cNvGrpSpPr/>
          <p:nvPr/>
        </p:nvGrpSpPr>
        <p:grpSpPr>
          <a:xfrm rot="0">
            <a:off x="987552" y="1865376"/>
            <a:ext cx="16312439" cy="576072"/>
            <a:chOff x="0" y="0"/>
            <a:chExt cx="21749918" cy="768096"/>
          </a:xfrm>
        </p:grpSpPr>
        <p:sp>
          <p:nvSpPr>
            <p:cNvPr name="Freeform 6" id="6"/>
            <p:cNvSpPr/>
            <p:nvPr/>
          </p:nvSpPr>
          <p:spPr>
            <a:xfrm flipH="false" flipV="false" rot="0">
              <a:off x="0" y="0"/>
              <a:ext cx="21749917" cy="768096"/>
            </a:xfrm>
            <a:custGeom>
              <a:avLst/>
              <a:gdLst/>
              <a:ahLst/>
              <a:cxnLst/>
              <a:rect r="r" b="b" t="t" l="l"/>
              <a:pathLst>
                <a:path h="768096" w="21749917">
                  <a:moveTo>
                    <a:pt x="0" y="0"/>
                  </a:moveTo>
                  <a:lnTo>
                    <a:pt x="21749917" y="0"/>
                  </a:lnTo>
                  <a:lnTo>
                    <a:pt x="21749917" y="768096"/>
                  </a:lnTo>
                  <a:lnTo>
                    <a:pt x="0" y="768096"/>
                  </a:lnTo>
                  <a:close/>
                </a:path>
              </a:pathLst>
            </a:custGeom>
            <a:blipFill>
              <a:blip r:embed="rId2">
                <a:alphaModFix amt="0"/>
              </a:blip>
              <a:stretch>
                <a:fillRect l="0" t="-501751" r="0" b="-501751"/>
              </a:stretch>
            </a:blipFill>
          </p:spPr>
        </p:sp>
        <p:sp>
          <p:nvSpPr>
            <p:cNvPr name="TextBox 7" id="7"/>
            <p:cNvSpPr txBox="true"/>
            <p:nvPr/>
          </p:nvSpPr>
          <p:spPr>
            <a:xfrm>
              <a:off x="0" y="-19050"/>
              <a:ext cx="21749918" cy="787146"/>
            </a:xfrm>
            <a:prstGeom prst="rect">
              <a:avLst/>
            </a:prstGeom>
          </p:spPr>
          <p:txBody>
            <a:bodyPr anchor="ctr" rtlCol="false" tIns="0" lIns="0" bIns="0" rIns="0"/>
            <a:lstStyle/>
            <a:p>
              <a:pPr algn="l">
                <a:lnSpc>
                  <a:spcPts val="2610"/>
                </a:lnSpc>
              </a:pPr>
              <a:r>
                <a:rPr lang="en-US" sz="2175">
                  <a:solidFill>
                    <a:srgbClr val="000000"/>
                  </a:solidFill>
                  <a:latin typeface="Arial"/>
                  <a:ea typeface="Arial"/>
                  <a:cs typeface="Arial"/>
                  <a:sym typeface="Arial"/>
                </a:rPr>
                <a:t>Drop-off is behavioural, and behaviour is the one thing the platform can observe early and change.</a:t>
              </a:r>
            </a:p>
          </p:txBody>
        </p:sp>
      </p:grpSp>
      <p:grpSp>
        <p:nvGrpSpPr>
          <p:cNvPr name="Group 8" id="8"/>
          <p:cNvGrpSpPr/>
          <p:nvPr/>
        </p:nvGrpSpPr>
        <p:grpSpPr>
          <a:xfrm rot="0">
            <a:off x="987552" y="3291840"/>
            <a:ext cx="5102352" cy="3291840"/>
            <a:chOff x="0" y="0"/>
            <a:chExt cx="6803136" cy="4389120"/>
          </a:xfrm>
        </p:grpSpPr>
        <p:sp>
          <p:nvSpPr>
            <p:cNvPr name="Freeform 9" id="9"/>
            <p:cNvSpPr/>
            <p:nvPr/>
          </p:nvSpPr>
          <p:spPr>
            <a:xfrm flipH="false" flipV="false" rot="0">
              <a:off x="0" y="0"/>
              <a:ext cx="6803136" cy="4389120"/>
            </a:xfrm>
            <a:custGeom>
              <a:avLst/>
              <a:gdLst/>
              <a:ahLst/>
              <a:cxnLst/>
              <a:rect r="r" b="b" t="t" l="l"/>
              <a:pathLst>
                <a:path h="4389120" w="6803136">
                  <a:moveTo>
                    <a:pt x="0" y="0"/>
                  </a:moveTo>
                  <a:lnTo>
                    <a:pt x="6803136" y="0"/>
                  </a:lnTo>
                  <a:lnTo>
                    <a:pt x="6803136" y="4389120"/>
                  </a:lnTo>
                  <a:lnTo>
                    <a:pt x="0" y="4389120"/>
                  </a:lnTo>
                  <a:close/>
                </a:path>
              </a:pathLst>
            </a:custGeom>
            <a:solidFill>
              <a:srgbClr val="F1F1F1"/>
            </a:solidFill>
          </p:spPr>
        </p:sp>
      </p:grpSp>
      <p:grpSp>
        <p:nvGrpSpPr>
          <p:cNvPr name="Group 10" id="10"/>
          <p:cNvGrpSpPr/>
          <p:nvPr/>
        </p:nvGrpSpPr>
        <p:grpSpPr>
          <a:xfrm rot="0">
            <a:off x="987552" y="3291840"/>
            <a:ext cx="5102352" cy="754380"/>
            <a:chOff x="0" y="0"/>
            <a:chExt cx="6803136" cy="1005840"/>
          </a:xfrm>
        </p:grpSpPr>
        <p:sp>
          <p:nvSpPr>
            <p:cNvPr name="Freeform 11" id="11"/>
            <p:cNvSpPr/>
            <p:nvPr/>
          </p:nvSpPr>
          <p:spPr>
            <a:xfrm flipH="false" flipV="false" rot="0">
              <a:off x="0" y="0"/>
              <a:ext cx="6803136" cy="1005840"/>
            </a:xfrm>
            <a:custGeom>
              <a:avLst/>
              <a:gdLst/>
              <a:ahLst/>
              <a:cxnLst/>
              <a:rect r="r" b="b" t="t" l="l"/>
              <a:pathLst>
                <a:path h="1005840" w="6803136">
                  <a:moveTo>
                    <a:pt x="0" y="0"/>
                  </a:moveTo>
                  <a:lnTo>
                    <a:pt x="6803136" y="0"/>
                  </a:lnTo>
                  <a:lnTo>
                    <a:pt x="6803136" y="1005840"/>
                  </a:lnTo>
                  <a:lnTo>
                    <a:pt x="0" y="1005840"/>
                  </a:lnTo>
                  <a:close/>
                </a:path>
              </a:pathLst>
            </a:custGeom>
            <a:solidFill>
              <a:srgbClr val="A100FF"/>
            </a:solidFill>
          </p:spPr>
        </p:sp>
      </p:grpSp>
      <p:grpSp>
        <p:nvGrpSpPr>
          <p:cNvPr name="Group 12" id="12"/>
          <p:cNvGrpSpPr/>
          <p:nvPr/>
        </p:nvGrpSpPr>
        <p:grpSpPr>
          <a:xfrm rot="0">
            <a:off x="1344168" y="3291840"/>
            <a:ext cx="4389120" cy="754380"/>
            <a:chOff x="0" y="0"/>
            <a:chExt cx="5852160" cy="1005840"/>
          </a:xfrm>
        </p:grpSpPr>
        <p:sp>
          <p:nvSpPr>
            <p:cNvPr name="Freeform 13" id="13"/>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2">
                <a:alphaModFix amt="0"/>
              </a:blip>
              <a:stretch>
                <a:fillRect l="0" t="-63367" r="0" b="-63367"/>
              </a:stretch>
            </a:blipFill>
          </p:spPr>
        </p:sp>
        <p:sp>
          <p:nvSpPr>
            <p:cNvPr name="TextBox 14" id="14"/>
            <p:cNvSpPr txBox="true"/>
            <p:nvPr/>
          </p:nvSpPr>
          <p:spPr>
            <a:xfrm>
              <a:off x="0" y="-19050"/>
              <a:ext cx="5852160" cy="1024890"/>
            </a:xfrm>
            <a:prstGeom prst="rect">
              <a:avLst/>
            </a:prstGeom>
          </p:spPr>
          <p:txBody>
            <a:bodyPr anchor="ctr" rtlCol="false" tIns="0" lIns="0" bIns="0" rIns="0"/>
            <a:lstStyle/>
            <a:p>
              <a:pPr algn="l">
                <a:lnSpc>
                  <a:spcPts val="2340"/>
                </a:lnSpc>
              </a:pPr>
              <a:r>
                <a:rPr lang="en-US" b="true" sz="1950" spc="300">
                  <a:solidFill>
                    <a:srgbClr val="FFFFFF"/>
                  </a:solidFill>
                  <a:latin typeface="Arial Bold"/>
                  <a:ea typeface="Arial Bold"/>
                  <a:cs typeface="Arial Bold"/>
                  <a:sym typeface="Arial Bold"/>
                </a:rPr>
                <a:t>NOW</a:t>
              </a:r>
            </a:p>
          </p:txBody>
        </p:sp>
      </p:grpSp>
      <p:grpSp>
        <p:nvGrpSpPr>
          <p:cNvPr name="Group 15" id="15"/>
          <p:cNvGrpSpPr/>
          <p:nvPr/>
        </p:nvGrpSpPr>
        <p:grpSpPr>
          <a:xfrm rot="0">
            <a:off x="985266" y="4817795"/>
            <a:ext cx="5102352" cy="1560145"/>
            <a:chOff x="0" y="0"/>
            <a:chExt cx="1343829" cy="410902"/>
          </a:xfrm>
        </p:grpSpPr>
        <p:sp>
          <p:nvSpPr>
            <p:cNvPr name="Freeform 16" id="16"/>
            <p:cNvSpPr/>
            <p:nvPr/>
          </p:nvSpPr>
          <p:spPr>
            <a:xfrm flipH="false" flipV="false" rot="0">
              <a:off x="0" y="0"/>
              <a:ext cx="1343829" cy="410902"/>
            </a:xfrm>
            <a:custGeom>
              <a:avLst/>
              <a:gdLst/>
              <a:ahLst/>
              <a:cxnLst/>
              <a:rect r="r" b="b" t="t" l="l"/>
              <a:pathLst>
                <a:path h="410902" w="1343829">
                  <a:moveTo>
                    <a:pt x="0" y="0"/>
                  </a:moveTo>
                  <a:lnTo>
                    <a:pt x="1343829" y="0"/>
                  </a:lnTo>
                  <a:lnTo>
                    <a:pt x="1343829" y="410902"/>
                  </a:lnTo>
                  <a:lnTo>
                    <a:pt x="0" y="410902"/>
                  </a:lnTo>
                  <a:close/>
                </a:path>
              </a:pathLst>
            </a:custGeom>
            <a:solidFill>
              <a:srgbClr val="A200FF">
                <a:alpha val="2745"/>
              </a:srgbClr>
            </a:solidFill>
          </p:spPr>
        </p:sp>
        <p:sp>
          <p:nvSpPr>
            <p:cNvPr name="TextBox 17" id="17"/>
            <p:cNvSpPr txBox="true"/>
            <p:nvPr/>
          </p:nvSpPr>
          <p:spPr>
            <a:xfrm>
              <a:off x="0" y="-19050"/>
              <a:ext cx="1343829" cy="429952"/>
            </a:xfrm>
            <a:prstGeom prst="rect">
              <a:avLst/>
            </a:prstGeom>
          </p:spPr>
          <p:txBody>
            <a:bodyPr anchor="ctr" rtlCol="false" tIns="50800" lIns="50800" bIns="50800" rIns="50800"/>
            <a:lstStyle/>
            <a:p>
              <a:pPr algn="ctr">
                <a:lnSpc>
                  <a:spcPts val="1800"/>
                </a:lnSpc>
              </a:pPr>
            </a:p>
          </p:txBody>
        </p:sp>
      </p:grpSp>
      <p:grpSp>
        <p:nvGrpSpPr>
          <p:cNvPr name="Group 18" id="18"/>
          <p:cNvGrpSpPr/>
          <p:nvPr/>
        </p:nvGrpSpPr>
        <p:grpSpPr>
          <a:xfrm rot="0">
            <a:off x="1403223" y="5117792"/>
            <a:ext cx="4389120" cy="960151"/>
            <a:chOff x="0" y="0"/>
            <a:chExt cx="5852160" cy="1280201"/>
          </a:xfrm>
        </p:grpSpPr>
        <p:sp>
          <p:nvSpPr>
            <p:cNvPr name="Freeform 19" id="19"/>
            <p:cNvSpPr/>
            <p:nvPr/>
          </p:nvSpPr>
          <p:spPr>
            <a:xfrm flipH="false" flipV="false" rot="0">
              <a:off x="0" y="0"/>
              <a:ext cx="5852160" cy="1280201"/>
            </a:xfrm>
            <a:custGeom>
              <a:avLst/>
              <a:gdLst/>
              <a:ahLst/>
              <a:cxnLst/>
              <a:rect r="r" b="b" t="t" l="l"/>
              <a:pathLst>
                <a:path h="1280201" w="5852160">
                  <a:moveTo>
                    <a:pt x="0" y="0"/>
                  </a:moveTo>
                  <a:lnTo>
                    <a:pt x="5852160" y="0"/>
                  </a:lnTo>
                  <a:lnTo>
                    <a:pt x="5852160" y="1280201"/>
                  </a:lnTo>
                  <a:lnTo>
                    <a:pt x="0" y="1280201"/>
                  </a:lnTo>
                  <a:close/>
                </a:path>
              </a:pathLst>
            </a:custGeom>
            <a:blipFill>
              <a:blip r:embed="rId2">
                <a:alphaModFix amt="0"/>
              </a:blip>
              <a:stretch>
                <a:fillRect l="-10142" t="0" r="-10142" b="-114278"/>
              </a:stretch>
            </a:blipFill>
          </p:spPr>
        </p:sp>
        <p:sp>
          <p:nvSpPr>
            <p:cNvPr name="TextBox 20" id="20"/>
            <p:cNvSpPr txBox="true"/>
            <p:nvPr/>
          </p:nvSpPr>
          <p:spPr>
            <a:xfrm>
              <a:off x="0" y="-28575"/>
              <a:ext cx="5852160" cy="1308776"/>
            </a:xfrm>
            <a:prstGeom prst="rect">
              <a:avLst/>
            </a:prstGeom>
          </p:spPr>
          <p:txBody>
            <a:bodyPr anchor="ctr" rtlCol="false" tIns="0" lIns="0" bIns="0" rIns="0"/>
            <a:lstStyle/>
            <a:p>
              <a:pPr algn="ctr">
                <a:lnSpc>
                  <a:spcPts val="2250"/>
                </a:lnSpc>
              </a:pPr>
              <a:r>
                <a:rPr lang="en-US" sz="1875">
                  <a:solidFill>
                    <a:srgbClr val="000000"/>
                  </a:solidFill>
                  <a:latin typeface="Arial"/>
                  <a:ea typeface="Arial"/>
                  <a:cs typeface="Arial"/>
                  <a:sym typeface="Arial"/>
                </a:rPr>
                <a:t>Ship the engagement-based early-warning flag and retire progress percentage as the at-risk signal</a:t>
              </a:r>
            </a:p>
          </p:txBody>
        </p:sp>
      </p:grpSp>
      <p:grpSp>
        <p:nvGrpSpPr>
          <p:cNvPr name="Group 21" id="21"/>
          <p:cNvGrpSpPr/>
          <p:nvPr/>
        </p:nvGrpSpPr>
        <p:grpSpPr>
          <a:xfrm rot="0">
            <a:off x="6144768" y="4594860"/>
            <a:ext cx="411480" cy="685800"/>
            <a:chOff x="0" y="0"/>
            <a:chExt cx="548640" cy="914400"/>
          </a:xfrm>
        </p:grpSpPr>
        <p:sp>
          <p:nvSpPr>
            <p:cNvPr name="Freeform 22" id="22"/>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2">
                <a:alphaModFix amt="0"/>
              </a:blip>
              <a:stretch>
                <a:fillRect l="-163839" t="0" r="-163839" b="0"/>
              </a:stretch>
            </a:blipFill>
          </p:spPr>
        </p:sp>
        <p:sp>
          <p:nvSpPr>
            <p:cNvPr name="TextBox 23" id="23"/>
            <p:cNvSpPr txBox="true"/>
            <p:nvPr/>
          </p:nvSpPr>
          <p:spPr>
            <a:xfrm>
              <a:off x="0" y="-19050"/>
              <a:ext cx="548640" cy="933450"/>
            </a:xfrm>
            <a:prstGeom prst="rect">
              <a:avLst/>
            </a:prstGeom>
          </p:spPr>
          <p:txBody>
            <a:bodyPr anchor="ctr" rtlCol="false" tIns="0" lIns="0" bIns="0" rIns="0"/>
            <a:lstStyle/>
            <a:p>
              <a:pPr algn="ctr">
                <a:lnSpc>
                  <a:spcPts val="3600"/>
                </a:lnSpc>
              </a:pPr>
              <a:r>
                <a:rPr lang="en-US" sz="3000" b="true">
                  <a:solidFill>
                    <a:srgbClr val="A100FF"/>
                  </a:solidFill>
                  <a:latin typeface="Arial Bold"/>
                  <a:ea typeface="Arial Bold"/>
                  <a:cs typeface="Arial Bold"/>
                  <a:sym typeface="Arial Bold"/>
                </a:rPr>
                <a:t>&gt;</a:t>
              </a:r>
            </a:p>
          </p:txBody>
        </p:sp>
      </p:grpSp>
      <p:grpSp>
        <p:nvGrpSpPr>
          <p:cNvPr name="Group 24" id="24"/>
          <p:cNvGrpSpPr/>
          <p:nvPr/>
        </p:nvGrpSpPr>
        <p:grpSpPr>
          <a:xfrm rot="0">
            <a:off x="6556248" y="3291840"/>
            <a:ext cx="5102352" cy="3291840"/>
            <a:chOff x="0" y="0"/>
            <a:chExt cx="6803136" cy="4389120"/>
          </a:xfrm>
        </p:grpSpPr>
        <p:sp>
          <p:nvSpPr>
            <p:cNvPr name="Freeform 25" id="25"/>
            <p:cNvSpPr/>
            <p:nvPr/>
          </p:nvSpPr>
          <p:spPr>
            <a:xfrm flipH="false" flipV="false" rot="0">
              <a:off x="0" y="0"/>
              <a:ext cx="6803136" cy="4389120"/>
            </a:xfrm>
            <a:custGeom>
              <a:avLst/>
              <a:gdLst/>
              <a:ahLst/>
              <a:cxnLst/>
              <a:rect r="r" b="b" t="t" l="l"/>
              <a:pathLst>
                <a:path h="4389120" w="6803136">
                  <a:moveTo>
                    <a:pt x="0" y="0"/>
                  </a:moveTo>
                  <a:lnTo>
                    <a:pt x="6803136" y="0"/>
                  </a:lnTo>
                  <a:lnTo>
                    <a:pt x="6803136" y="4389120"/>
                  </a:lnTo>
                  <a:lnTo>
                    <a:pt x="0" y="4389120"/>
                  </a:lnTo>
                  <a:close/>
                </a:path>
              </a:pathLst>
            </a:custGeom>
            <a:solidFill>
              <a:srgbClr val="F1F1F1"/>
            </a:solidFill>
          </p:spPr>
        </p:sp>
      </p:grpSp>
      <p:grpSp>
        <p:nvGrpSpPr>
          <p:cNvPr name="Group 26" id="26"/>
          <p:cNvGrpSpPr/>
          <p:nvPr/>
        </p:nvGrpSpPr>
        <p:grpSpPr>
          <a:xfrm rot="0">
            <a:off x="6556248" y="3291840"/>
            <a:ext cx="5102352" cy="754380"/>
            <a:chOff x="0" y="0"/>
            <a:chExt cx="6803136" cy="1005840"/>
          </a:xfrm>
        </p:grpSpPr>
        <p:sp>
          <p:nvSpPr>
            <p:cNvPr name="Freeform 27" id="27"/>
            <p:cNvSpPr/>
            <p:nvPr/>
          </p:nvSpPr>
          <p:spPr>
            <a:xfrm flipH="false" flipV="false" rot="0">
              <a:off x="0" y="0"/>
              <a:ext cx="6803136" cy="1005840"/>
            </a:xfrm>
            <a:custGeom>
              <a:avLst/>
              <a:gdLst/>
              <a:ahLst/>
              <a:cxnLst/>
              <a:rect r="r" b="b" t="t" l="l"/>
              <a:pathLst>
                <a:path h="1005840" w="6803136">
                  <a:moveTo>
                    <a:pt x="0" y="0"/>
                  </a:moveTo>
                  <a:lnTo>
                    <a:pt x="6803136" y="0"/>
                  </a:lnTo>
                  <a:lnTo>
                    <a:pt x="6803136" y="1005840"/>
                  </a:lnTo>
                  <a:lnTo>
                    <a:pt x="0" y="1005840"/>
                  </a:lnTo>
                  <a:close/>
                </a:path>
              </a:pathLst>
            </a:custGeom>
            <a:solidFill>
              <a:srgbClr val="7500C0"/>
            </a:solidFill>
          </p:spPr>
        </p:sp>
      </p:grpSp>
      <p:grpSp>
        <p:nvGrpSpPr>
          <p:cNvPr name="Group 28" id="28"/>
          <p:cNvGrpSpPr/>
          <p:nvPr/>
        </p:nvGrpSpPr>
        <p:grpSpPr>
          <a:xfrm rot="0">
            <a:off x="6912864" y="3291840"/>
            <a:ext cx="4389120" cy="754380"/>
            <a:chOff x="0" y="0"/>
            <a:chExt cx="5852160" cy="1005840"/>
          </a:xfrm>
        </p:grpSpPr>
        <p:sp>
          <p:nvSpPr>
            <p:cNvPr name="Freeform 29" id="29"/>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2">
                <a:alphaModFix amt="0"/>
              </a:blip>
              <a:stretch>
                <a:fillRect l="0" t="-63367" r="0" b="-63367"/>
              </a:stretch>
            </a:blipFill>
          </p:spPr>
        </p:sp>
        <p:sp>
          <p:nvSpPr>
            <p:cNvPr name="TextBox 30" id="30"/>
            <p:cNvSpPr txBox="true"/>
            <p:nvPr/>
          </p:nvSpPr>
          <p:spPr>
            <a:xfrm>
              <a:off x="0" y="-19050"/>
              <a:ext cx="5852160" cy="1024890"/>
            </a:xfrm>
            <a:prstGeom prst="rect">
              <a:avLst/>
            </a:prstGeom>
          </p:spPr>
          <p:txBody>
            <a:bodyPr anchor="ctr" rtlCol="false" tIns="0" lIns="0" bIns="0" rIns="0"/>
            <a:lstStyle/>
            <a:p>
              <a:pPr algn="l">
                <a:lnSpc>
                  <a:spcPts val="2340"/>
                </a:lnSpc>
              </a:pPr>
              <a:r>
                <a:rPr lang="en-US" b="true" sz="1950" spc="300">
                  <a:solidFill>
                    <a:srgbClr val="FFFFFF"/>
                  </a:solidFill>
                  <a:latin typeface="Arial Bold"/>
                  <a:ea typeface="Arial Bold"/>
                  <a:cs typeface="Arial Bold"/>
                  <a:sym typeface="Arial Bold"/>
                </a:rPr>
                <a:t>NEXT</a:t>
              </a:r>
            </a:p>
          </p:txBody>
        </p:sp>
      </p:grpSp>
      <p:grpSp>
        <p:nvGrpSpPr>
          <p:cNvPr name="Group 31" id="31"/>
          <p:cNvGrpSpPr/>
          <p:nvPr/>
        </p:nvGrpSpPr>
        <p:grpSpPr>
          <a:xfrm rot="0">
            <a:off x="6908673" y="5083517"/>
            <a:ext cx="4389120" cy="1028700"/>
            <a:chOff x="0" y="0"/>
            <a:chExt cx="5852160" cy="1371600"/>
          </a:xfrm>
        </p:grpSpPr>
        <p:sp>
          <p:nvSpPr>
            <p:cNvPr name="Freeform 32" id="32"/>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2">
                <a:alphaModFix amt="0"/>
              </a:blip>
              <a:stretch>
                <a:fillRect l="-10142" t="0" r="-10142" b="-100000"/>
              </a:stretch>
            </a:blipFill>
          </p:spPr>
        </p:sp>
        <p:sp>
          <p:nvSpPr>
            <p:cNvPr name="TextBox 33" id="33"/>
            <p:cNvSpPr txBox="true"/>
            <p:nvPr/>
          </p:nvSpPr>
          <p:spPr>
            <a:xfrm>
              <a:off x="0" y="-28575"/>
              <a:ext cx="5852160" cy="1400175"/>
            </a:xfrm>
            <a:prstGeom prst="rect">
              <a:avLst/>
            </a:prstGeom>
          </p:spPr>
          <p:txBody>
            <a:bodyPr anchor="ctr" rtlCol="false" tIns="0" lIns="0" bIns="0" rIns="0"/>
            <a:lstStyle/>
            <a:p>
              <a:pPr algn="ctr">
                <a:lnSpc>
                  <a:spcPts val="2250"/>
                </a:lnSpc>
              </a:pPr>
              <a:r>
                <a:rPr lang="en-US" sz="1875">
                  <a:solidFill>
                    <a:srgbClr val="000000"/>
                  </a:solidFill>
                  <a:latin typeface="Arial"/>
                  <a:ea typeface="Arial"/>
                  <a:cs typeface="Arial"/>
                  <a:sym typeface="Arial"/>
                </a:rPr>
                <a:t>Instrument time-stamped activity so first-two-week scoring can be validated properly</a:t>
              </a:r>
            </a:p>
          </p:txBody>
        </p:sp>
      </p:grpSp>
      <p:grpSp>
        <p:nvGrpSpPr>
          <p:cNvPr name="Group 34" id="34"/>
          <p:cNvGrpSpPr/>
          <p:nvPr/>
        </p:nvGrpSpPr>
        <p:grpSpPr>
          <a:xfrm rot="0">
            <a:off x="11713464" y="4594860"/>
            <a:ext cx="411480" cy="685800"/>
            <a:chOff x="0" y="0"/>
            <a:chExt cx="548640" cy="914400"/>
          </a:xfrm>
        </p:grpSpPr>
        <p:sp>
          <p:nvSpPr>
            <p:cNvPr name="Freeform 35" id="35"/>
            <p:cNvSpPr/>
            <p:nvPr/>
          </p:nvSpPr>
          <p:spPr>
            <a:xfrm flipH="false" flipV="false" rot="0">
              <a:off x="0" y="0"/>
              <a:ext cx="548640" cy="914400"/>
            </a:xfrm>
            <a:custGeom>
              <a:avLst/>
              <a:gdLst/>
              <a:ahLst/>
              <a:cxnLst/>
              <a:rect r="r" b="b" t="t" l="l"/>
              <a:pathLst>
                <a:path h="914400" w="548640">
                  <a:moveTo>
                    <a:pt x="0" y="0"/>
                  </a:moveTo>
                  <a:lnTo>
                    <a:pt x="548640" y="0"/>
                  </a:lnTo>
                  <a:lnTo>
                    <a:pt x="548640" y="914400"/>
                  </a:lnTo>
                  <a:lnTo>
                    <a:pt x="0" y="914400"/>
                  </a:lnTo>
                  <a:close/>
                </a:path>
              </a:pathLst>
            </a:custGeom>
            <a:blipFill>
              <a:blip r:embed="rId2">
                <a:alphaModFix amt="0"/>
              </a:blip>
              <a:stretch>
                <a:fillRect l="-163839" t="0" r="-163839" b="0"/>
              </a:stretch>
            </a:blipFill>
          </p:spPr>
        </p:sp>
        <p:sp>
          <p:nvSpPr>
            <p:cNvPr name="TextBox 36" id="36"/>
            <p:cNvSpPr txBox="true"/>
            <p:nvPr/>
          </p:nvSpPr>
          <p:spPr>
            <a:xfrm>
              <a:off x="0" y="-19050"/>
              <a:ext cx="548640" cy="933450"/>
            </a:xfrm>
            <a:prstGeom prst="rect">
              <a:avLst/>
            </a:prstGeom>
          </p:spPr>
          <p:txBody>
            <a:bodyPr anchor="ctr" rtlCol="false" tIns="0" lIns="0" bIns="0" rIns="0"/>
            <a:lstStyle/>
            <a:p>
              <a:pPr algn="ctr">
                <a:lnSpc>
                  <a:spcPts val="3600"/>
                </a:lnSpc>
              </a:pPr>
              <a:r>
                <a:rPr lang="en-US" sz="3000" b="true">
                  <a:solidFill>
                    <a:srgbClr val="A100FF"/>
                  </a:solidFill>
                  <a:latin typeface="Arial Bold"/>
                  <a:ea typeface="Arial Bold"/>
                  <a:cs typeface="Arial Bold"/>
                  <a:sym typeface="Arial Bold"/>
                </a:rPr>
                <a:t>&gt;</a:t>
              </a:r>
            </a:p>
          </p:txBody>
        </p:sp>
      </p:grpSp>
      <p:grpSp>
        <p:nvGrpSpPr>
          <p:cNvPr name="Group 37" id="37"/>
          <p:cNvGrpSpPr/>
          <p:nvPr/>
        </p:nvGrpSpPr>
        <p:grpSpPr>
          <a:xfrm rot="0">
            <a:off x="12124944" y="3291840"/>
            <a:ext cx="5102352" cy="3291840"/>
            <a:chOff x="0" y="0"/>
            <a:chExt cx="6803136" cy="4389120"/>
          </a:xfrm>
        </p:grpSpPr>
        <p:sp>
          <p:nvSpPr>
            <p:cNvPr name="Freeform 38" id="38"/>
            <p:cNvSpPr/>
            <p:nvPr/>
          </p:nvSpPr>
          <p:spPr>
            <a:xfrm flipH="false" flipV="false" rot="0">
              <a:off x="0" y="0"/>
              <a:ext cx="6803136" cy="4389120"/>
            </a:xfrm>
            <a:custGeom>
              <a:avLst/>
              <a:gdLst/>
              <a:ahLst/>
              <a:cxnLst/>
              <a:rect r="r" b="b" t="t" l="l"/>
              <a:pathLst>
                <a:path h="4389120" w="6803136">
                  <a:moveTo>
                    <a:pt x="0" y="0"/>
                  </a:moveTo>
                  <a:lnTo>
                    <a:pt x="6803136" y="0"/>
                  </a:lnTo>
                  <a:lnTo>
                    <a:pt x="6803136" y="4389120"/>
                  </a:lnTo>
                  <a:lnTo>
                    <a:pt x="0" y="4389120"/>
                  </a:lnTo>
                  <a:close/>
                </a:path>
              </a:pathLst>
            </a:custGeom>
            <a:solidFill>
              <a:srgbClr val="F1F1F1"/>
            </a:solidFill>
          </p:spPr>
        </p:sp>
      </p:grpSp>
      <p:grpSp>
        <p:nvGrpSpPr>
          <p:cNvPr name="Group 39" id="39"/>
          <p:cNvGrpSpPr/>
          <p:nvPr/>
        </p:nvGrpSpPr>
        <p:grpSpPr>
          <a:xfrm rot="0">
            <a:off x="12124944" y="3291840"/>
            <a:ext cx="5102352" cy="754380"/>
            <a:chOff x="0" y="0"/>
            <a:chExt cx="6803136" cy="1005840"/>
          </a:xfrm>
        </p:grpSpPr>
        <p:sp>
          <p:nvSpPr>
            <p:cNvPr name="Freeform 40" id="40"/>
            <p:cNvSpPr/>
            <p:nvPr/>
          </p:nvSpPr>
          <p:spPr>
            <a:xfrm flipH="false" flipV="false" rot="0">
              <a:off x="0" y="0"/>
              <a:ext cx="6803136" cy="1005840"/>
            </a:xfrm>
            <a:custGeom>
              <a:avLst/>
              <a:gdLst/>
              <a:ahLst/>
              <a:cxnLst/>
              <a:rect r="r" b="b" t="t" l="l"/>
              <a:pathLst>
                <a:path h="1005840" w="6803136">
                  <a:moveTo>
                    <a:pt x="0" y="0"/>
                  </a:moveTo>
                  <a:lnTo>
                    <a:pt x="6803136" y="0"/>
                  </a:lnTo>
                  <a:lnTo>
                    <a:pt x="6803136" y="1005840"/>
                  </a:lnTo>
                  <a:lnTo>
                    <a:pt x="0" y="1005840"/>
                  </a:lnTo>
                  <a:close/>
                </a:path>
              </a:pathLst>
            </a:custGeom>
            <a:solidFill>
              <a:srgbClr val="460073"/>
            </a:solidFill>
          </p:spPr>
        </p:sp>
      </p:grpSp>
      <p:grpSp>
        <p:nvGrpSpPr>
          <p:cNvPr name="Group 41" id="41"/>
          <p:cNvGrpSpPr/>
          <p:nvPr/>
        </p:nvGrpSpPr>
        <p:grpSpPr>
          <a:xfrm rot="0">
            <a:off x="12481560" y="3291840"/>
            <a:ext cx="4389120" cy="754380"/>
            <a:chOff x="0" y="0"/>
            <a:chExt cx="5852160" cy="1005840"/>
          </a:xfrm>
        </p:grpSpPr>
        <p:sp>
          <p:nvSpPr>
            <p:cNvPr name="Freeform 42" id="42"/>
            <p:cNvSpPr/>
            <p:nvPr/>
          </p:nvSpPr>
          <p:spPr>
            <a:xfrm flipH="false" flipV="false" rot="0">
              <a:off x="0" y="0"/>
              <a:ext cx="5852160" cy="1005840"/>
            </a:xfrm>
            <a:custGeom>
              <a:avLst/>
              <a:gdLst/>
              <a:ahLst/>
              <a:cxnLst/>
              <a:rect r="r" b="b" t="t" l="l"/>
              <a:pathLst>
                <a:path h="1005840" w="5852160">
                  <a:moveTo>
                    <a:pt x="0" y="0"/>
                  </a:moveTo>
                  <a:lnTo>
                    <a:pt x="5852160" y="0"/>
                  </a:lnTo>
                  <a:lnTo>
                    <a:pt x="5852160" y="1005840"/>
                  </a:lnTo>
                  <a:lnTo>
                    <a:pt x="0" y="1005840"/>
                  </a:lnTo>
                  <a:close/>
                </a:path>
              </a:pathLst>
            </a:custGeom>
            <a:blipFill>
              <a:blip r:embed="rId2">
                <a:alphaModFix amt="0"/>
              </a:blip>
              <a:stretch>
                <a:fillRect l="0" t="-63367" r="0" b="-63367"/>
              </a:stretch>
            </a:blipFill>
          </p:spPr>
        </p:sp>
        <p:sp>
          <p:nvSpPr>
            <p:cNvPr name="TextBox 43" id="43"/>
            <p:cNvSpPr txBox="true"/>
            <p:nvPr/>
          </p:nvSpPr>
          <p:spPr>
            <a:xfrm>
              <a:off x="0" y="-19050"/>
              <a:ext cx="5852160" cy="1024890"/>
            </a:xfrm>
            <a:prstGeom prst="rect">
              <a:avLst/>
            </a:prstGeom>
          </p:spPr>
          <p:txBody>
            <a:bodyPr anchor="ctr" rtlCol="false" tIns="0" lIns="0" bIns="0" rIns="0"/>
            <a:lstStyle/>
            <a:p>
              <a:pPr algn="l">
                <a:lnSpc>
                  <a:spcPts val="2340"/>
                </a:lnSpc>
              </a:pPr>
              <a:r>
                <a:rPr lang="en-US" b="true" sz="1950" spc="300">
                  <a:solidFill>
                    <a:srgbClr val="FFFFFF"/>
                  </a:solidFill>
                  <a:latin typeface="Arial Bold"/>
                  <a:ea typeface="Arial Bold"/>
                  <a:cs typeface="Arial Bold"/>
                  <a:sym typeface="Arial Bold"/>
                </a:rPr>
                <a:t>THEN</a:t>
              </a:r>
            </a:p>
          </p:txBody>
        </p:sp>
      </p:grpSp>
      <p:grpSp>
        <p:nvGrpSpPr>
          <p:cNvPr name="Group 44" id="44"/>
          <p:cNvGrpSpPr/>
          <p:nvPr/>
        </p:nvGrpSpPr>
        <p:grpSpPr>
          <a:xfrm rot="0">
            <a:off x="12481560" y="5083517"/>
            <a:ext cx="4389120" cy="960151"/>
            <a:chOff x="0" y="0"/>
            <a:chExt cx="5852160" cy="1280201"/>
          </a:xfrm>
        </p:grpSpPr>
        <p:sp>
          <p:nvSpPr>
            <p:cNvPr name="Freeform 45" id="45"/>
            <p:cNvSpPr/>
            <p:nvPr/>
          </p:nvSpPr>
          <p:spPr>
            <a:xfrm flipH="false" flipV="false" rot="0">
              <a:off x="0" y="0"/>
              <a:ext cx="5852160" cy="1280201"/>
            </a:xfrm>
            <a:custGeom>
              <a:avLst/>
              <a:gdLst/>
              <a:ahLst/>
              <a:cxnLst/>
              <a:rect r="r" b="b" t="t" l="l"/>
              <a:pathLst>
                <a:path h="1280201" w="5852160">
                  <a:moveTo>
                    <a:pt x="0" y="0"/>
                  </a:moveTo>
                  <a:lnTo>
                    <a:pt x="5852160" y="0"/>
                  </a:lnTo>
                  <a:lnTo>
                    <a:pt x="5852160" y="1280201"/>
                  </a:lnTo>
                  <a:lnTo>
                    <a:pt x="0" y="1280201"/>
                  </a:lnTo>
                  <a:close/>
                </a:path>
              </a:pathLst>
            </a:custGeom>
            <a:blipFill>
              <a:blip r:embed="rId2">
                <a:alphaModFix amt="0"/>
              </a:blip>
              <a:stretch>
                <a:fillRect l="-10142" t="0" r="-10142" b="-114278"/>
              </a:stretch>
            </a:blipFill>
          </p:spPr>
        </p:sp>
        <p:sp>
          <p:nvSpPr>
            <p:cNvPr name="TextBox 46" id="46"/>
            <p:cNvSpPr txBox="true"/>
            <p:nvPr/>
          </p:nvSpPr>
          <p:spPr>
            <a:xfrm>
              <a:off x="0" y="-28575"/>
              <a:ext cx="5852160" cy="1308776"/>
            </a:xfrm>
            <a:prstGeom prst="rect">
              <a:avLst/>
            </a:prstGeom>
          </p:spPr>
          <p:txBody>
            <a:bodyPr anchor="ctr" rtlCol="false" tIns="0" lIns="0" bIns="0" rIns="0"/>
            <a:lstStyle/>
            <a:p>
              <a:pPr algn="ctr">
                <a:lnSpc>
                  <a:spcPts val="2250"/>
                </a:lnSpc>
              </a:pPr>
              <a:r>
                <a:rPr lang="en-US" sz="1875">
                  <a:solidFill>
                    <a:srgbClr val="000000"/>
                  </a:solidFill>
                  <a:latin typeface="Arial"/>
                  <a:ea typeface="Arial"/>
                  <a:cs typeface="Arial"/>
                  <a:sym typeface="Arial"/>
                </a:rPr>
                <a:t>Run a controlled intervention test on the Low tier to move from correlation to measured causal impact</a:t>
              </a:r>
            </a:p>
          </p:txBody>
        </p:sp>
      </p:grpSp>
      <p:grpSp>
        <p:nvGrpSpPr>
          <p:cNvPr name="Group 47" id="47"/>
          <p:cNvGrpSpPr/>
          <p:nvPr/>
        </p:nvGrpSpPr>
        <p:grpSpPr>
          <a:xfrm rot="0">
            <a:off x="987552" y="7063740"/>
            <a:ext cx="16322040" cy="1851660"/>
            <a:chOff x="0" y="0"/>
            <a:chExt cx="21762720" cy="2468880"/>
          </a:xfrm>
        </p:grpSpPr>
        <p:sp>
          <p:nvSpPr>
            <p:cNvPr name="Freeform 48" id="48"/>
            <p:cNvSpPr/>
            <p:nvPr/>
          </p:nvSpPr>
          <p:spPr>
            <a:xfrm flipH="false" flipV="false" rot="0">
              <a:off x="0" y="0"/>
              <a:ext cx="21762720" cy="2468880"/>
            </a:xfrm>
            <a:custGeom>
              <a:avLst/>
              <a:gdLst/>
              <a:ahLst/>
              <a:cxnLst/>
              <a:rect r="r" b="b" t="t" l="l"/>
              <a:pathLst>
                <a:path h="2468880" w="21762720">
                  <a:moveTo>
                    <a:pt x="0" y="0"/>
                  </a:moveTo>
                  <a:lnTo>
                    <a:pt x="21762720" y="0"/>
                  </a:lnTo>
                  <a:lnTo>
                    <a:pt x="21762720" y="2468880"/>
                  </a:lnTo>
                  <a:lnTo>
                    <a:pt x="0" y="2468880"/>
                  </a:lnTo>
                  <a:close/>
                </a:path>
              </a:pathLst>
            </a:custGeom>
            <a:solidFill>
              <a:srgbClr val="460073"/>
            </a:solidFill>
          </p:spPr>
        </p:sp>
      </p:grpSp>
      <p:grpSp>
        <p:nvGrpSpPr>
          <p:cNvPr name="Group 49" id="49"/>
          <p:cNvGrpSpPr/>
          <p:nvPr/>
        </p:nvGrpSpPr>
        <p:grpSpPr>
          <a:xfrm rot="0">
            <a:off x="1467612" y="7063740"/>
            <a:ext cx="15361920" cy="1851660"/>
            <a:chOff x="0" y="0"/>
            <a:chExt cx="20482560" cy="2468880"/>
          </a:xfrm>
        </p:grpSpPr>
        <p:sp>
          <p:nvSpPr>
            <p:cNvPr name="Freeform 50" id="50"/>
            <p:cNvSpPr/>
            <p:nvPr/>
          </p:nvSpPr>
          <p:spPr>
            <a:xfrm flipH="false" flipV="false" rot="0">
              <a:off x="0" y="0"/>
              <a:ext cx="20482561" cy="2468880"/>
            </a:xfrm>
            <a:custGeom>
              <a:avLst/>
              <a:gdLst/>
              <a:ahLst/>
              <a:cxnLst/>
              <a:rect r="r" b="b" t="t" l="l"/>
              <a:pathLst>
                <a:path h="2468880" w="20482561">
                  <a:moveTo>
                    <a:pt x="0" y="0"/>
                  </a:moveTo>
                  <a:lnTo>
                    <a:pt x="20482561" y="0"/>
                  </a:lnTo>
                  <a:lnTo>
                    <a:pt x="20482561" y="2468880"/>
                  </a:lnTo>
                  <a:lnTo>
                    <a:pt x="0" y="2468880"/>
                  </a:lnTo>
                  <a:close/>
                </a:path>
              </a:pathLst>
            </a:custGeom>
            <a:blipFill>
              <a:blip r:embed="rId2">
                <a:alphaModFix amt="0"/>
              </a:blip>
              <a:stretch>
                <a:fillRect l="0" t="-111653" r="0" b="-111653"/>
              </a:stretch>
            </a:blipFill>
          </p:spPr>
        </p:sp>
        <p:sp>
          <p:nvSpPr>
            <p:cNvPr name="TextBox 51" id="51"/>
            <p:cNvSpPr txBox="true"/>
            <p:nvPr/>
          </p:nvSpPr>
          <p:spPr>
            <a:xfrm>
              <a:off x="0" y="-19050"/>
              <a:ext cx="20482560" cy="2487930"/>
            </a:xfrm>
            <a:prstGeom prst="rect">
              <a:avLst/>
            </a:prstGeom>
          </p:spPr>
          <p:txBody>
            <a:bodyPr anchor="ctr" rtlCol="false" tIns="0" lIns="0" bIns="0" rIns="0"/>
            <a:lstStyle/>
            <a:p>
              <a:pPr algn="l">
                <a:lnSpc>
                  <a:spcPts val="2700"/>
                </a:lnSpc>
              </a:pPr>
              <a:r>
                <a:rPr lang="en-US" sz="2250">
                  <a:solidFill>
                    <a:srgbClr val="FFFFFF"/>
                  </a:solidFill>
                  <a:latin typeface="Arial"/>
                  <a:ea typeface="Arial"/>
                  <a:cs typeface="Arial"/>
                  <a:sym typeface="Arial"/>
                </a:rPr>
                <a:t>We can tell you where the gap is and what it is worth. We cannot yet tell you it is causal - that needs an experiment, and that is the next thing we would build.</a:t>
              </a:r>
            </a:p>
          </p:txBody>
        </p:sp>
      </p:grpSp>
      <p:grpSp>
        <p:nvGrpSpPr>
          <p:cNvPr name="Group 52" id="52"/>
          <p:cNvGrpSpPr/>
          <p:nvPr/>
        </p:nvGrpSpPr>
        <p:grpSpPr>
          <a:xfrm rot="0">
            <a:off x="10424160" y="411480"/>
            <a:ext cx="5966460" cy="342900"/>
            <a:chOff x="0" y="0"/>
            <a:chExt cx="7955280" cy="457200"/>
          </a:xfrm>
        </p:grpSpPr>
        <p:sp>
          <p:nvSpPr>
            <p:cNvPr name="Freeform 53" id="53"/>
            <p:cNvSpPr/>
            <p:nvPr/>
          </p:nvSpPr>
          <p:spPr>
            <a:xfrm flipH="false" flipV="false" rot="0">
              <a:off x="0" y="0"/>
              <a:ext cx="7955280" cy="457200"/>
            </a:xfrm>
            <a:custGeom>
              <a:avLst/>
              <a:gdLst/>
              <a:ahLst/>
              <a:cxnLst/>
              <a:rect r="r" b="b" t="t" l="l"/>
              <a:pathLst>
                <a:path h="457200" w="7955280">
                  <a:moveTo>
                    <a:pt x="0" y="0"/>
                  </a:moveTo>
                  <a:lnTo>
                    <a:pt x="7955280" y="0"/>
                  </a:lnTo>
                  <a:lnTo>
                    <a:pt x="7955280" y="457200"/>
                  </a:lnTo>
                  <a:lnTo>
                    <a:pt x="0" y="457200"/>
                  </a:lnTo>
                  <a:close/>
                </a:path>
              </a:pathLst>
            </a:custGeom>
            <a:blipFill>
              <a:blip r:embed="rId2">
                <a:alphaModFix amt="0"/>
              </a:blip>
              <a:stretch>
                <a:fillRect l="0" t="-289039" r="0" b="-289039"/>
              </a:stretch>
            </a:blipFill>
          </p:spPr>
        </p:sp>
        <p:sp>
          <p:nvSpPr>
            <p:cNvPr name="TextBox 54" id="54"/>
            <p:cNvSpPr txBox="true"/>
            <p:nvPr/>
          </p:nvSpPr>
          <p:spPr>
            <a:xfrm>
              <a:off x="0" y="-19050"/>
              <a:ext cx="7955280" cy="476250"/>
            </a:xfrm>
            <a:prstGeom prst="rect">
              <a:avLst/>
            </a:prstGeom>
          </p:spPr>
          <p:txBody>
            <a:bodyPr anchor="ctr" rtlCol="false" tIns="0" lIns="0" bIns="0" rIns="0"/>
            <a:lstStyle/>
            <a:p>
              <a:pPr algn="r">
                <a:lnSpc>
                  <a:spcPts val="1800"/>
                </a:lnSpc>
              </a:pPr>
              <a:r>
                <a:rPr lang="en-US" sz="1500">
                  <a:solidFill>
                    <a:srgbClr val="585858"/>
                  </a:solidFill>
                  <a:latin typeface="Arial"/>
                  <a:ea typeface="Arial"/>
                  <a:cs typeface="Arial"/>
                  <a:sym typeface="Arial"/>
                </a:rPr>
                <a:t>Student Course Completion Analysis</a:t>
              </a:r>
            </a:p>
          </p:txBody>
        </p:sp>
      </p:grpSp>
      <p:grpSp>
        <p:nvGrpSpPr>
          <p:cNvPr name="Group 55" id="55"/>
          <p:cNvGrpSpPr/>
          <p:nvPr/>
        </p:nvGrpSpPr>
        <p:grpSpPr>
          <a:xfrm rot="0">
            <a:off x="16486632" y="411480"/>
            <a:ext cx="205740" cy="342900"/>
            <a:chOff x="0" y="0"/>
            <a:chExt cx="274320" cy="457200"/>
          </a:xfrm>
        </p:grpSpPr>
        <p:sp>
          <p:nvSpPr>
            <p:cNvPr name="Freeform 56" id="56"/>
            <p:cNvSpPr/>
            <p:nvPr/>
          </p:nvSpPr>
          <p:spPr>
            <a:xfrm flipH="false" flipV="false" rot="0">
              <a:off x="0" y="0"/>
              <a:ext cx="274320" cy="457200"/>
            </a:xfrm>
            <a:custGeom>
              <a:avLst/>
              <a:gdLst/>
              <a:ahLst/>
              <a:cxnLst/>
              <a:rect r="r" b="b" t="t" l="l"/>
              <a:pathLst>
                <a:path h="457200" w="274320">
                  <a:moveTo>
                    <a:pt x="0" y="0"/>
                  </a:moveTo>
                  <a:lnTo>
                    <a:pt x="274320" y="0"/>
                  </a:lnTo>
                  <a:lnTo>
                    <a:pt x="274320" y="457200"/>
                  </a:lnTo>
                  <a:lnTo>
                    <a:pt x="0" y="457200"/>
                  </a:lnTo>
                  <a:close/>
                </a:path>
              </a:pathLst>
            </a:custGeom>
            <a:blipFill>
              <a:blip r:embed="rId2">
                <a:alphaModFix amt="0"/>
              </a:blip>
              <a:stretch>
                <a:fillRect l="-163839" t="0" r="-163839" b="0"/>
              </a:stretch>
            </a:blipFill>
          </p:spPr>
        </p:sp>
        <p:sp>
          <p:nvSpPr>
            <p:cNvPr name="TextBox 57" id="57"/>
            <p:cNvSpPr txBox="true"/>
            <p:nvPr/>
          </p:nvSpPr>
          <p:spPr>
            <a:xfrm>
              <a:off x="0" y="-19050"/>
              <a:ext cx="274320" cy="476250"/>
            </a:xfrm>
            <a:prstGeom prst="rect">
              <a:avLst/>
            </a:prstGeom>
          </p:spPr>
          <p:txBody>
            <a:bodyPr anchor="ctr" rtlCol="false" tIns="0" lIns="0" bIns="0" rIns="0"/>
            <a:lstStyle/>
            <a:p>
              <a:pPr algn="ctr">
                <a:lnSpc>
                  <a:spcPts val="1800"/>
                </a:lnSpc>
              </a:pPr>
              <a:r>
                <a:rPr lang="en-US" sz="1500">
                  <a:solidFill>
                    <a:srgbClr val="A6A6A6"/>
                  </a:solidFill>
                  <a:latin typeface="Arial"/>
                  <a:ea typeface="Arial"/>
                  <a:cs typeface="Arial"/>
                  <a:sym typeface="Arial"/>
                </a:rPr>
                <a:t>|</a:t>
              </a:r>
            </a:p>
          </p:txBody>
        </p:sp>
      </p:grpSp>
      <p:grpSp>
        <p:nvGrpSpPr>
          <p:cNvPr name="Group 58" id="58"/>
          <p:cNvGrpSpPr/>
          <p:nvPr/>
        </p:nvGrpSpPr>
        <p:grpSpPr>
          <a:xfrm rot="0">
            <a:off x="16664940" y="411480"/>
            <a:ext cx="685800" cy="342900"/>
            <a:chOff x="0" y="0"/>
            <a:chExt cx="914400" cy="457200"/>
          </a:xfrm>
        </p:grpSpPr>
        <p:sp>
          <p:nvSpPr>
            <p:cNvPr name="Freeform 59" id="59"/>
            <p:cNvSpPr/>
            <p:nvPr/>
          </p:nvSpPr>
          <p:spPr>
            <a:xfrm flipH="false" flipV="false" rot="0">
              <a:off x="0" y="0"/>
              <a:ext cx="914400" cy="457200"/>
            </a:xfrm>
            <a:custGeom>
              <a:avLst/>
              <a:gdLst/>
              <a:ahLst/>
              <a:cxnLst/>
              <a:rect r="r" b="b" t="t" l="l"/>
              <a:pathLst>
                <a:path h="457200" w="914400">
                  <a:moveTo>
                    <a:pt x="0" y="0"/>
                  </a:moveTo>
                  <a:lnTo>
                    <a:pt x="914400" y="0"/>
                  </a:lnTo>
                  <a:lnTo>
                    <a:pt x="914400" y="457200"/>
                  </a:lnTo>
                  <a:lnTo>
                    <a:pt x="0" y="457200"/>
                  </a:lnTo>
                  <a:close/>
                </a:path>
              </a:pathLst>
            </a:custGeom>
            <a:blipFill>
              <a:blip r:embed="rId2">
                <a:alphaModFix amt="0"/>
              </a:blip>
              <a:stretch>
                <a:fillRect l="-14151" t="0" r="-14151" b="0"/>
              </a:stretch>
            </a:blipFill>
          </p:spPr>
        </p:sp>
        <p:sp>
          <p:nvSpPr>
            <p:cNvPr name="TextBox 60" id="60"/>
            <p:cNvSpPr txBox="true"/>
            <p:nvPr/>
          </p:nvSpPr>
          <p:spPr>
            <a:xfrm>
              <a:off x="0" y="-19050"/>
              <a:ext cx="914400" cy="476250"/>
            </a:xfrm>
            <a:prstGeom prst="rect">
              <a:avLst/>
            </a:prstGeom>
          </p:spPr>
          <p:txBody>
            <a:bodyPr anchor="ctr" rtlCol="false" tIns="0" lIns="0" bIns="0" rIns="0"/>
            <a:lstStyle/>
            <a:p>
              <a:pPr algn="l">
                <a:lnSpc>
                  <a:spcPts val="1800"/>
                </a:lnSpc>
              </a:pPr>
              <a:r>
                <a:rPr lang="en-US" sz="1500" b="true">
                  <a:solidFill>
                    <a:srgbClr val="000000"/>
                  </a:solidFill>
                  <a:latin typeface="Arial Bold"/>
                  <a:ea typeface="Arial Bold"/>
                  <a:cs typeface="Arial Bold"/>
                  <a:sym typeface="Arial Bold"/>
                </a:rPr>
                <a:t>17</a:t>
              </a:r>
            </a:p>
          </p:txBody>
        </p:sp>
      </p:grpSp>
      <p:grpSp>
        <p:nvGrpSpPr>
          <p:cNvPr name="Group 61" id="61"/>
          <p:cNvGrpSpPr/>
          <p:nvPr/>
        </p:nvGrpSpPr>
        <p:grpSpPr>
          <a:xfrm rot="0">
            <a:off x="15663672" y="9422892"/>
            <a:ext cx="1618488" cy="484175"/>
            <a:chOff x="0" y="0"/>
            <a:chExt cx="2157984" cy="645566"/>
          </a:xfrm>
        </p:grpSpPr>
        <p:sp>
          <p:nvSpPr>
            <p:cNvPr name="Freeform 62" id="62" descr="logo/logo_dark.png"/>
            <p:cNvSpPr/>
            <p:nvPr/>
          </p:nvSpPr>
          <p:spPr>
            <a:xfrm flipH="false" flipV="false" rot="0">
              <a:off x="0" y="0"/>
              <a:ext cx="2157984" cy="645541"/>
            </a:xfrm>
            <a:custGeom>
              <a:avLst/>
              <a:gdLst/>
              <a:ahLst/>
              <a:cxnLst/>
              <a:rect r="r" b="b" t="t" l="l"/>
              <a:pathLst>
                <a:path h="645541" w="2157984">
                  <a:moveTo>
                    <a:pt x="0" y="0"/>
                  </a:moveTo>
                  <a:lnTo>
                    <a:pt x="2157984" y="0"/>
                  </a:lnTo>
                  <a:lnTo>
                    <a:pt x="2157984" y="645541"/>
                  </a:lnTo>
                  <a:lnTo>
                    <a:pt x="0" y="645541"/>
                  </a:lnTo>
                  <a:lnTo>
                    <a:pt x="0" y="0"/>
                  </a:lnTo>
                  <a:close/>
                </a:path>
              </a:pathLst>
            </a:custGeom>
            <a:blipFill>
              <a:blip r:embed="rId3"/>
              <a:stretch>
                <a:fillRect l="0" t="-49" r="0" b="-51"/>
              </a:stretch>
            </a:blipFill>
          </p:spPr>
        </p:sp>
      </p:grpSp>
      <p:grpSp>
        <p:nvGrpSpPr>
          <p:cNvPr name="Group 63" id="63"/>
          <p:cNvGrpSpPr/>
          <p:nvPr/>
        </p:nvGrpSpPr>
        <p:grpSpPr>
          <a:xfrm rot="0">
            <a:off x="987552" y="9601200"/>
            <a:ext cx="8229600" cy="342900"/>
            <a:chOff x="0" y="0"/>
            <a:chExt cx="10972800" cy="457200"/>
          </a:xfrm>
        </p:grpSpPr>
        <p:sp>
          <p:nvSpPr>
            <p:cNvPr name="Freeform 64" id="64"/>
            <p:cNvSpPr/>
            <p:nvPr/>
          </p:nvSpPr>
          <p:spPr>
            <a:xfrm flipH="false" flipV="false" rot="0">
              <a:off x="0" y="0"/>
              <a:ext cx="10972800" cy="457200"/>
            </a:xfrm>
            <a:custGeom>
              <a:avLst/>
              <a:gdLst/>
              <a:ahLst/>
              <a:cxnLst/>
              <a:rect r="r" b="b" t="t" l="l"/>
              <a:pathLst>
                <a:path h="457200" w="10972800">
                  <a:moveTo>
                    <a:pt x="0" y="0"/>
                  </a:moveTo>
                  <a:lnTo>
                    <a:pt x="10972800" y="0"/>
                  </a:lnTo>
                  <a:lnTo>
                    <a:pt x="10972800" y="457200"/>
                  </a:lnTo>
                  <a:lnTo>
                    <a:pt x="0" y="457200"/>
                  </a:lnTo>
                  <a:close/>
                </a:path>
              </a:pathLst>
            </a:custGeom>
            <a:blipFill>
              <a:blip r:embed="rId2">
                <a:alphaModFix amt="0"/>
              </a:blip>
              <a:stretch>
                <a:fillRect l="0" t="-417640" r="0" b="-417640"/>
              </a:stretch>
            </a:blipFill>
          </p:spPr>
        </p:sp>
        <p:sp>
          <p:nvSpPr>
            <p:cNvPr name="TextBox 65" id="65"/>
            <p:cNvSpPr txBox="true"/>
            <p:nvPr/>
          </p:nvSpPr>
          <p:spPr>
            <a:xfrm>
              <a:off x="0" y="-19050"/>
              <a:ext cx="10972800" cy="476250"/>
            </a:xfrm>
            <a:prstGeom prst="rect">
              <a:avLst/>
            </a:prstGeom>
          </p:spPr>
          <p:txBody>
            <a:bodyPr anchor="ctr" rtlCol="false" tIns="0" lIns="0" bIns="0" rIns="0"/>
            <a:lstStyle/>
            <a:p>
              <a:pPr algn="l">
                <a:lnSpc>
                  <a:spcPts val="1620"/>
                </a:lnSpc>
              </a:pPr>
              <a:r>
                <a:rPr lang="en-US" sz="1350">
                  <a:solidFill>
                    <a:srgbClr val="A6A6A6"/>
                  </a:solidFill>
                  <a:latin typeface="Arial"/>
                  <a:ea typeface="Arial"/>
                  <a:cs typeface="Arial"/>
                  <a:sym typeface="Arial"/>
                </a:rPr>
                <a:t>Group 6  |  Data Analytics Capstone</a:t>
              </a:r>
            </a:p>
          </p:txBody>
        </p:sp>
      </p:grpSp>
      <p:grpSp>
        <p:nvGrpSpPr>
          <p:cNvPr name="Group 66" id="66"/>
          <p:cNvGrpSpPr/>
          <p:nvPr/>
        </p:nvGrpSpPr>
        <p:grpSpPr>
          <a:xfrm rot="0">
            <a:off x="6556248" y="4774907"/>
            <a:ext cx="5102352" cy="1560145"/>
            <a:chOff x="0" y="0"/>
            <a:chExt cx="1343829" cy="410902"/>
          </a:xfrm>
        </p:grpSpPr>
        <p:sp>
          <p:nvSpPr>
            <p:cNvPr name="Freeform 67" id="67"/>
            <p:cNvSpPr/>
            <p:nvPr/>
          </p:nvSpPr>
          <p:spPr>
            <a:xfrm flipH="false" flipV="false" rot="0">
              <a:off x="0" y="0"/>
              <a:ext cx="1343829" cy="410902"/>
            </a:xfrm>
            <a:custGeom>
              <a:avLst/>
              <a:gdLst/>
              <a:ahLst/>
              <a:cxnLst/>
              <a:rect r="r" b="b" t="t" l="l"/>
              <a:pathLst>
                <a:path h="410902" w="1343829">
                  <a:moveTo>
                    <a:pt x="0" y="0"/>
                  </a:moveTo>
                  <a:lnTo>
                    <a:pt x="1343829" y="0"/>
                  </a:lnTo>
                  <a:lnTo>
                    <a:pt x="1343829" y="410902"/>
                  </a:lnTo>
                  <a:lnTo>
                    <a:pt x="0" y="410902"/>
                  </a:lnTo>
                  <a:close/>
                </a:path>
              </a:pathLst>
            </a:custGeom>
            <a:solidFill>
              <a:srgbClr val="7500C0">
                <a:alpha val="9412"/>
              </a:srgbClr>
            </a:solidFill>
          </p:spPr>
        </p:sp>
        <p:sp>
          <p:nvSpPr>
            <p:cNvPr name="TextBox 68" id="68"/>
            <p:cNvSpPr txBox="true"/>
            <p:nvPr/>
          </p:nvSpPr>
          <p:spPr>
            <a:xfrm>
              <a:off x="0" y="-19050"/>
              <a:ext cx="1343829" cy="429952"/>
            </a:xfrm>
            <a:prstGeom prst="rect">
              <a:avLst/>
            </a:prstGeom>
          </p:spPr>
          <p:txBody>
            <a:bodyPr anchor="ctr" rtlCol="false" tIns="50800" lIns="50800" bIns="50800" rIns="50800"/>
            <a:lstStyle/>
            <a:p>
              <a:pPr algn="ctr">
                <a:lnSpc>
                  <a:spcPts val="1800"/>
                </a:lnSpc>
              </a:pPr>
            </a:p>
          </p:txBody>
        </p:sp>
      </p:grpSp>
      <p:grpSp>
        <p:nvGrpSpPr>
          <p:cNvPr name="Group 69" id="69"/>
          <p:cNvGrpSpPr/>
          <p:nvPr/>
        </p:nvGrpSpPr>
        <p:grpSpPr>
          <a:xfrm rot="0">
            <a:off x="12124944" y="4774907"/>
            <a:ext cx="5047488" cy="1560145"/>
            <a:chOff x="0" y="0"/>
            <a:chExt cx="1329380" cy="410902"/>
          </a:xfrm>
        </p:grpSpPr>
        <p:sp>
          <p:nvSpPr>
            <p:cNvPr name="Freeform 70" id="70"/>
            <p:cNvSpPr/>
            <p:nvPr/>
          </p:nvSpPr>
          <p:spPr>
            <a:xfrm flipH="false" flipV="false" rot="0">
              <a:off x="0" y="0"/>
              <a:ext cx="1329380" cy="410902"/>
            </a:xfrm>
            <a:custGeom>
              <a:avLst/>
              <a:gdLst/>
              <a:ahLst/>
              <a:cxnLst/>
              <a:rect r="r" b="b" t="t" l="l"/>
              <a:pathLst>
                <a:path h="410902" w="1329380">
                  <a:moveTo>
                    <a:pt x="0" y="0"/>
                  </a:moveTo>
                  <a:lnTo>
                    <a:pt x="1329380" y="0"/>
                  </a:lnTo>
                  <a:lnTo>
                    <a:pt x="1329380" y="410902"/>
                  </a:lnTo>
                  <a:lnTo>
                    <a:pt x="0" y="410902"/>
                  </a:lnTo>
                  <a:close/>
                </a:path>
              </a:pathLst>
            </a:custGeom>
            <a:solidFill>
              <a:srgbClr val="460073">
                <a:alpha val="16863"/>
              </a:srgbClr>
            </a:solidFill>
          </p:spPr>
        </p:sp>
        <p:sp>
          <p:nvSpPr>
            <p:cNvPr name="TextBox 71" id="71"/>
            <p:cNvSpPr txBox="true"/>
            <p:nvPr/>
          </p:nvSpPr>
          <p:spPr>
            <a:xfrm>
              <a:off x="0" y="-19050"/>
              <a:ext cx="1329380" cy="429952"/>
            </a:xfrm>
            <a:prstGeom prst="rect">
              <a:avLst/>
            </a:prstGeom>
          </p:spPr>
          <p:txBody>
            <a:bodyPr anchor="ctr" rtlCol="false" tIns="50800" lIns="50800" bIns="50800" rIns="50800"/>
            <a:lstStyle/>
            <a:p>
              <a:pPr algn="ctr">
                <a:lnSpc>
                  <a:spcPts val="1800"/>
                </a:lnSpc>
              </a:pPr>
            </a:p>
          </p:txBody>
        </p:sp>
      </p:gr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4"/>
            <a:ext cx="18282642" cy="10283128"/>
            <a:chOff x="0" y="0"/>
            <a:chExt cx="16251238" cy="9140558"/>
          </a:xfrm>
        </p:grpSpPr>
        <p:sp>
          <p:nvSpPr>
            <p:cNvPr name="Freeform 4" id="4"/>
            <p:cNvSpPr/>
            <p:nvPr/>
          </p:nvSpPr>
          <p:spPr>
            <a:xfrm flipH="false" flipV="false" rot="0">
              <a:off x="0" y="0"/>
              <a:ext cx="16251174" cy="9140571"/>
            </a:xfrm>
            <a:custGeom>
              <a:avLst/>
              <a:gdLst/>
              <a:ahLst/>
              <a:cxnLst/>
              <a:rect r="r" b="b" t="t" l="l"/>
              <a:pathLst>
                <a:path h="9140571" w="16251174">
                  <a:moveTo>
                    <a:pt x="0" y="0"/>
                  </a:moveTo>
                  <a:lnTo>
                    <a:pt x="16251174" y="0"/>
                  </a:lnTo>
                  <a:lnTo>
                    <a:pt x="16251174" y="9140571"/>
                  </a:lnTo>
                  <a:lnTo>
                    <a:pt x="0" y="9140571"/>
                  </a:lnTo>
                  <a:lnTo>
                    <a:pt x="0" y="0"/>
                  </a:lnTo>
                  <a:close/>
                </a:path>
              </a:pathLst>
            </a:custGeom>
            <a:blipFill>
              <a:blip r:embed="rId3"/>
              <a:stretch>
                <a:fillRect l="0" t="0" r="0" b="0"/>
              </a:stretch>
            </a:blipFill>
          </p:spPr>
        </p:sp>
      </p:grpSp>
      <p:grpSp>
        <p:nvGrpSpPr>
          <p:cNvPr name="Group 5" id="5"/>
          <p:cNvGrpSpPr/>
          <p:nvPr/>
        </p:nvGrpSpPr>
        <p:grpSpPr>
          <a:xfrm rot="0">
            <a:off x="-14883" y="-3858"/>
            <a:ext cx="18288000" cy="10287000"/>
            <a:chOff x="0" y="0"/>
            <a:chExt cx="16256000" cy="9144000"/>
          </a:xfrm>
        </p:grpSpPr>
        <p:sp>
          <p:nvSpPr>
            <p:cNvPr name="Freeform 6" id="6"/>
            <p:cNvSpPr/>
            <p:nvPr/>
          </p:nvSpPr>
          <p:spPr>
            <a:xfrm flipH="false" flipV="false" rot="0">
              <a:off x="0" y="0"/>
              <a:ext cx="16256000" cy="9144000"/>
            </a:xfrm>
            <a:custGeom>
              <a:avLst/>
              <a:gdLst/>
              <a:ahLst/>
              <a:cxnLst/>
              <a:rect r="r" b="b" t="t" l="l"/>
              <a:pathLst>
                <a:path h="9144000" w="16256000">
                  <a:moveTo>
                    <a:pt x="0" y="0"/>
                  </a:moveTo>
                  <a:lnTo>
                    <a:pt x="16256000" y="0"/>
                  </a:lnTo>
                  <a:lnTo>
                    <a:pt x="16256000" y="9144000"/>
                  </a:lnTo>
                  <a:lnTo>
                    <a:pt x="0" y="9144000"/>
                  </a:lnTo>
                  <a:lnTo>
                    <a:pt x="0" y="0"/>
                  </a:lnTo>
                  <a:close/>
                </a:path>
              </a:pathLst>
            </a:custGeom>
            <a:blipFill>
              <a:blip r:embed="rId4">
                <a:alphaModFix amt="50000"/>
              </a:blip>
              <a:stretch>
                <a:fillRect l="0" t="0" r="0" b="0"/>
              </a:stretch>
            </a:blipFill>
          </p:spPr>
        </p:sp>
      </p:grpSp>
      <p:grpSp>
        <p:nvGrpSpPr>
          <p:cNvPr name="Group 7" id="7"/>
          <p:cNvGrpSpPr/>
          <p:nvPr/>
        </p:nvGrpSpPr>
        <p:grpSpPr>
          <a:xfrm rot="0">
            <a:off x="987552" y="2952545"/>
            <a:ext cx="10972800" cy="1712800"/>
            <a:chOff x="0" y="0"/>
            <a:chExt cx="14630400" cy="2283734"/>
          </a:xfrm>
        </p:grpSpPr>
        <p:sp>
          <p:nvSpPr>
            <p:cNvPr name="Freeform 8" id="8"/>
            <p:cNvSpPr/>
            <p:nvPr/>
          </p:nvSpPr>
          <p:spPr>
            <a:xfrm flipH="false" flipV="false" rot="0">
              <a:off x="0" y="0"/>
              <a:ext cx="14630400" cy="2283733"/>
            </a:xfrm>
            <a:custGeom>
              <a:avLst/>
              <a:gdLst/>
              <a:ahLst/>
              <a:cxnLst/>
              <a:rect r="r" b="b" t="t" l="l"/>
              <a:pathLst>
                <a:path h="2283733" w="14630400">
                  <a:moveTo>
                    <a:pt x="0" y="0"/>
                  </a:moveTo>
                  <a:lnTo>
                    <a:pt x="14630400" y="0"/>
                  </a:lnTo>
                  <a:lnTo>
                    <a:pt x="14630400" y="2283733"/>
                  </a:lnTo>
                  <a:lnTo>
                    <a:pt x="0" y="2283733"/>
                  </a:lnTo>
                  <a:close/>
                </a:path>
              </a:pathLst>
            </a:custGeom>
            <a:blipFill>
              <a:blip r:embed="rId5">
                <a:alphaModFix amt="0"/>
              </a:blip>
              <a:stretch>
                <a:fillRect l="0" t="-80784" r="0" b="-68871"/>
              </a:stretch>
            </a:blipFill>
          </p:spPr>
        </p:sp>
        <p:sp>
          <p:nvSpPr>
            <p:cNvPr name="TextBox 9" id="9"/>
            <p:cNvSpPr txBox="true"/>
            <p:nvPr/>
          </p:nvSpPr>
          <p:spPr>
            <a:xfrm>
              <a:off x="0" y="-28575"/>
              <a:ext cx="14630400" cy="2312309"/>
            </a:xfrm>
            <a:prstGeom prst="rect">
              <a:avLst/>
            </a:prstGeom>
          </p:spPr>
          <p:txBody>
            <a:bodyPr anchor="ctr" rtlCol="false" tIns="0" lIns="0" bIns="0" rIns="0"/>
            <a:lstStyle/>
            <a:p>
              <a:pPr algn="l">
                <a:lnSpc>
                  <a:spcPts val="9959"/>
                </a:lnSpc>
              </a:pPr>
              <a:r>
                <a:rPr lang="en-US" sz="8299" b="true">
                  <a:solidFill>
                    <a:srgbClr val="FFFFFF"/>
                  </a:solidFill>
                  <a:latin typeface="Arial Bold"/>
                  <a:ea typeface="Arial Bold"/>
                  <a:cs typeface="Arial Bold"/>
                  <a:sym typeface="Arial Bold"/>
                </a:rPr>
                <a:t>Thank you</a:t>
              </a:r>
            </a:p>
          </p:txBody>
        </p:sp>
      </p:grpSp>
      <p:grpSp>
        <p:nvGrpSpPr>
          <p:cNvPr name="Group 10" id="10"/>
          <p:cNvGrpSpPr/>
          <p:nvPr/>
        </p:nvGrpSpPr>
        <p:grpSpPr>
          <a:xfrm rot="0">
            <a:off x="987552" y="6576354"/>
            <a:ext cx="10972800" cy="2681946"/>
            <a:chOff x="0" y="0"/>
            <a:chExt cx="14630400" cy="3575928"/>
          </a:xfrm>
        </p:grpSpPr>
        <p:sp>
          <p:nvSpPr>
            <p:cNvPr name="Freeform 11" id="11"/>
            <p:cNvSpPr/>
            <p:nvPr/>
          </p:nvSpPr>
          <p:spPr>
            <a:xfrm flipH="false" flipV="false" rot="0">
              <a:off x="0" y="0"/>
              <a:ext cx="14630400" cy="3575927"/>
            </a:xfrm>
            <a:custGeom>
              <a:avLst/>
              <a:gdLst/>
              <a:ahLst/>
              <a:cxnLst/>
              <a:rect r="r" b="b" t="t" l="l"/>
              <a:pathLst>
                <a:path h="3575927" w="14630400">
                  <a:moveTo>
                    <a:pt x="0" y="0"/>
                  </a:moveTo>
                  <a:lnTo>
                    <a:pt x="14630400" y="0"/>
                  </a:lnTo>
                  <a:lnTo>
                    <a:pt x="14630400" y="3575927"/>
                  </a:lnTo>
                  <a:lnTo>
                    <a:pt x="0" y="3575927"/>
                  </a:lnTo>
                  <a:close/>
                </a:path>
              </a:pathLst>
            </a:custGeom>
            <a:blipFill>
              <a:blip r:embed="rId5">
                <a:alphaModFix amt="0"/>
              </a:blip>
              <a:stretch>
                <a:fillRect l="0" t="-70770" r="0" b="11329"/>
              </a:stretch>
            </a:blipFill>
          </p:spPr>
        </p:sp>
        <p:sp>
          <p:nvSpPr>
            <p:cNvPr name="TextBox 12" id="12"/>
            <p:cNvSpPr txBox="true"/>
            <p:nvPr/>
          </p:nvSpPr>
          <p:spPr>
            <a:xfrm>
              <a:off x="0" y="-47625"/>
              <a:ext cx="14630400" cy="3623553"/>
            </a:xfrm>
            <a:prstGeom prst="rect">
              <a:avLst/>
            </a:prstGeom>
          </p:spPr>
          <p:txBody>
            <a:bodyPr anchor="ctr" rtlCol="false" tIns="0" lIns="0" bIns="0" rIns="0"/>
            <a:lstStyle/>
            <a:p>
              <a:pPr algn="just">
                <a:lnSpc>
                  <a:spcPts val="2947"/>
                </a:lnSpc>
              </a:pPr>
              <a:r>
                <a:rPr lang="en-US" sz="2199">
                  <a:solidFill>
                    <a:srgbClr val="FFFFFF"/>
                  </a:solidFill>
                  <a:latin typeface="Arial"/>
                  <a:ea typeface="Arial"/>
                  <a:cs typeface="Arial"/>
                  <a:sym typeface="Arial"/>
                </a:rPr>
                <a:t>Group 6   </a:t>
              </a:r>
              <a:r>
                <a:rPr lang="en-US" sz="2199" b="true">
                  <a:solidFill>
                    <a:srgbClr val="FFFFFF"/>
                  </a:solidFill>
                  <a:latin typeface="Arial Bold"/>
                  <a:ea typeface="Arial Bold"/>
                  <a:cs typeface="Arial Bold"/>
                  <a:sym typeface="Arial Bold"/>
                </a:rPr>
                <a:t>&gt; </a:t>
              </a:r>
            </a:p>
            <a:p>
              <a:pPr algn="just">
                <a:lnSpc>
                  <a:spcPts val="2947"/>
                </a:lnSpc>
              </a:pPr>
            </a:p>
            <a:p>
              <a:pPr algn="just" marL="474979" indent="-237490" lvl="1">
                <a:lnSpc>
                  <a:spcPts val="2947"/>
                </a:lnSpc>
                <a:buAutoNum type="arabicPeriod" startAt="1"/>
              </a:pPr>
              <a:r>
                <a:rPr lang="en-US" sz="2199">
                  <a:solidFill>
                    <a:srgbClr val="FFFFFF"/>
                  </a:solidFill>
                  <a:latin typeface="Arial"/>
                  <a:ea typeface="Arial"/>
                  <a:cs typeface="Arial"/>
                  <a:sym typeface="Arial"/>
                </a:rPr>
                <a:t> Kumar Abhishek</a:t>
              </a:r>
            </a:p>
            <a:p>
              <a:pPr algn="just" marL="474979" indent="-237490" lvl="1">
                <a:lnSpc>
                  <a:spcPts val="2947"/>
                </a:lnSpc>
                <a:buAutoNum type="arabicPeriod" startAt="1"/>
              </a:pPr>
              <a:r>
                <a:rPr lang="en-US" sz="2199">
                  <a:solidFill>
                    <a:srgbClr val="FFFFFF"/>
                  </a:solidFill>
                  <a:latin typeface="Arial"/>
                  <a:ea typeface="Arial"/>
                  <a:cs typeface="Arial"/>
                  <a:sym typeface="Arial"/>
                </a:rPr>
                <a:t> Mohan Krishna</a:t>
              </a:r>
            </a:p>
            <a:p>
              <a:pPr algn="just" marL="474979" indent="-237490" lvl="1">
                <a:lnSpc>
                  <a:spcPts val="2947"/>
                </a:lnSpc>
                <a:buAutoNum type="arabicPeriod" startAt="1"/>
              </a:pPr>
              <a:r>
                <a:rPr lang="en-US" sz="2199">
                  <a:solidFill>
                    <a:srgbClr val="FFFFFF"/>
                  </a:solidFill>
                  <a:latin typeface="Arial"/>
                  <a:ea typeface="Arial"/>
                  <a:cs typeface="Arial"/>
                  <a:sym typeface="Arial"/>
                </a:rPr>
                <a:t> Nancy</a:t>
              </a:r>
            </a:p>
            <a:p>
              <a:pPr algn="just" marL="474979" indent="-237490" lvl="1">
                <a:lnSpc>
                  <a:spcPts val="2947"/>
                </a:lnSpc>
                <a:buAutoNum type="arabicPeriod" startAt="1"/>
              </a:pPr>
              <a:r>
                <a:rPr lang="en-US" sz="2199">
                  <a:solidFill>
                    <a:srgbClr val="FFFFFF"/>
                  </a:solidFill>
                  <a:latin typeface="Arial"/>
                  <a:ea typeface="Arial"/>
                  <a:cs typeface="Arial"/>
                  <a:sym typeface="Arial"/>
                </a:rPr>
                <a:t> Purnima</a:t>
              </a:r>
            </a:p>
            <a:p>
              <a:pPr algn="just" marL="474979" indent="-237490" lvl="1">
                <a:lnSpc>
                  <a:spcPts val="2947"/>
                </a:lnSpc>
                <a:buAutoNum type="arabicPeriod" startAt="1"/>
              </a:pPr>
              <a:r>
                <a:rPr lang="en-US" sz="2199">
                  <a:solidFill>
                    <a:srgbClr val="FFFFFF"/>
                  </a:solidFill>
                  <a:latin typeface="Arial"/>
                  <a:ea typeface="Arial"/>
                  <a:cs typeface="Arial"/>
                  <a:sym typeface="Arial"/>
                </a:rPr>
                <a:t> Shivam</a:t>
              </a:r>
            </a:p>
          </p:txBody>
        </p:sp>
      </p:grpSp>
      <p:grpSp>
        <p:nvGrpSpPr>
          <p:cNvPr name="Group 13" id="13"/>
          <p:cNvGrpSpPr/>
          <p:nvPr/>
        </p:nvGrpSpPr>
        <p:grpSpPr>
          <a:xfrm rot="0">
            <a:off x="987552" y="8092440"/>
            <a:ext cx="10972800" cy="480060"/>
            <a:chOff x="0" y="0"/>
            <a:chExt cx="14630400" cy="640080"/>
          </a:xfrm>
        </p:grpSpPr>
        <p:sp>
          <p:nvSpPr>
            <p:cNvPr name="Freeform 14" id="14"/>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5">
                <a:alphaModFix amt="0"/>
              </a:blip>
              <a:stretch>
                <a:fillRect l="0" t="-395372" r="0" b="-395372"/>
              </a:stretch>
            </a:blipFill>
          </p:spPr>
        </p:sp>
        <p:sp>
          <p:nvSpPr>
            <p:cNvPr name="TextBox 15" id="15"/>
            <p:cNvSpPr txBox="true"/>
            <p:nvPr/>
          </p:nvSpPr>
          <p:spPr>
            <a:xfrm>
              <a:off x="0" y="-28575"/>
              <a:ext cx="14630400" cy="668655"/>
            </a:xfrm>
            <a:prstGeom prst="rect">
              <a:avLst/>
            </a:prstGeom>
          </p:spPr>
          <p:txBody>
            <a:bodyPr anchor="ctr" rtlCol="false" tIns="0" lIns="0" bIns="0" rIns="0"/>
            <a:lstStyle/>
            <a:p>
              <a:pPr algn="l">
                <a:lnSpc>
                  <a:spcPts val="2250"/>
                </a:lnSpc>
              </a:pPr>
            </a:p>
          </p:txBody>
        </p:sp>
      </p:grpSp>
      <p:sp>
        <p:nvSpPr>
          <p:cNvPr name="Freeform 16" id="16" descr="QR code image"/>
          <p:cNvSpPr/>
          <p:nvPr/>
        </p:nvSpPr>
        <p:spPr>
          <a:xfrm flipH="false" flipV="false" rot="0">
            <a:off x="13659820" y="6001720"/>
            <a:ext cx="3599480" cy="3599480"/>
          </a:xfrm>
          <a:custGeom>
            <a:avLst/>
            <a:gdLst/>
            <a:ahLst/>
            <a:cxnLst/>
            <a:rect r="r" b="b" t="t" l="l"/>
            <a:pathLst>
              <a:path h="3599480" w="3599480">
                <a:moveTo>
                  <a:pt x="0" y="0"/>
                </a:moveTo>
                <a:lnTo>
                  <a:pt x="3599480" y="0"/>
                </a:lnTo>
                <a:lnTo>
                  <a:pt x="3599480" y="3599480"/>
                </a:lnTo>
                <a:lnTo>
                  <a:pt x="0" y="3599480"/>
                </a:lnTo>
                <a:lnTo>
                  <a:pt x="0" y="0"/>
                </a:lnTo>
                <a:close/>
              </a:path>
            </a:pathLst>
          </a:custGeom>
          <a:blipFill>
            <a:blip r:embed="rId6">
              <a:alphaModFix amt="78000"/>
              <a:extLst>
                <a:ext uri="{96DAC541-7B7A-43D3-8B79-37D633B846F1}">
                  <asvg:svgBlip xmlns:asvg="http://schemas.microsoft.com/office/drawing/2016/SVG/main" r:embed="rId7"/>
                </a:ext>
              </a:extLst>
            </a:blip>
            <a:stretch>
              <a:fillRect l="0" t="0" r="0" b="0"/>
            </a:stretch>
          </a:blipFill>
        </p:spPr>
      </p:sp>
      <p:sp>
        <p:nvSpPr>
          <p:cNvPr name="Freeform 17" id="17">
            <a:hlinkClick r:id="rId10" tooltip="https://github.com/Purnima-Vats/Group6_Capstone_Project"/>
            <a:extLst>
              <a:ext uri="{C183D7F6-B498-43B3-948B-1728B52AA6E4}">
                <adec:decorative xmlns:adec="http://schemas.microsoft.com/office/drawing/2017/decorative" val="1"/>
              </a:ext>
            </a:extLst>
          </p:cNvPr>
          <p:cNvSpPr/>
          <p:nvPr/>
        </p:nvSpPr>
        <p:spPr>
          <a:xfrm flipH="false" flipV="false" rot="0">
            <a:off x="13927621" y="6269521"/>
            <a:ext cx="3063878" cy="3063878"/>
          </a:xfrm>
          <a:custGeom>
            <a:avLst/>
            <a:gdLst/>
            <a:ahLst/>
            <a:cxnLst/>
            <a:rect r="r" b="b" t="t" l="l"/>
            <a:pathLst>
              <a:path h="3063878" w="3063878">
                <a:moveTo>
                  <a:pt x="0" y="0"/>
                </a:moveTo>
                <a:lnTo>
                  <a:pt x="3063878" y="0"/>
                </a:lnTo>
                <a:lnTo>
                  <a:pt x="3063878" y="3063878"/>
                </a:lnTo>
                <a:lnTo>
                  <a:pt x="0" y="30638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028700" y="713587"/>
            <a:ext cx="2031304" cy="630226"/>
          </a:xfrm>
          <a:custGeom>
            <a:avLst/>
            <a:gdLst/>
            <a:ahLst/>
            <a:cxnLst/>
            <a:rect r="r" b="b" t="t" l="l"/>
            <a:pathLst>
              <a:path h="630226" w="2031304">
                <a:moveTo>
                  <a:pt x="0" y="0"/>
                </a:moveTo>
                <a:lnTo>
                  <a:pt x="2031304" y="0"/>
                </a:lnTo>
                <a:lnTo>
                  <a:pt x="2031304" y="630226"/>
                </a:lnTo>
                <a:lnTo>
                  <a:pt x="0" y="6302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DAHRvZfQCWo</dc:identifier>
  <dcterms:modified xsi:type="dcterms:W3CDTF">2011-08-01T06:04:30Z</dcterms:modified>
  <cp:revision>1</cp:revision>
  <dc:title>Excluded</dc:title>
</cp:coreProperties>
</file>